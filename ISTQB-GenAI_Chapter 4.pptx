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3" r:id="rId3"/>
    <p:sldId id="259" r:id="rId4"/>
    <p:sldId id="320" r:id="rId5"/>
    <p:sldId id="322" r:id="rId6"/>
    <p:sldId id="323" r:id="rId7"/>
    <p:sldId id="354" r:id="rId8"/>
    <p:sldId id="324" r:id="rId9"/>
    <p:sldId id="355" r:id="rId10"/>
    <p:sldId id="356" r:id="rId11"/>
    <p:sldId id="325" r:id="rId12"/>
    <p:sldId id="327" r:id="rId13"/>
    <p:sldId id="329" r:id="rId14"/>
    <p:sldId id="357" r:id="rId15"/>
    <p:sldId id="328" r:id="rId16"/>
    <p:sldId id="330" r:id="rId17"/>
    <p:sldId id="331" r:id="rId18"/>
    <p:sldId id="333" r:id="rId19"/>
    <p:sldId id="358" r:id="rId20"/>
    <p:sldId id="334" r:id="rId21"/>
    <p:sldId id="335" r:id="rId22"/>
    <p:sldId id="359" r:id="rId23"/>
    <p:sldId id="336" r:id="rId24"/>
    <p:sldId id="337" r:id="rId25"/>
    <p:sldId id="338" r:id="rId26"/>
    <p:sldId id="339" r:id="rId27"/>
    <p:sldId id="347" r:id="rId28"/>
    <p:sldId id="346" r:id="rId29"/>
    <p:sldId id="345" r:id="rId30"/>
    <p:sldId id="344" r:id="rId31"/>
    <p:sldId id="343" r:id="rId32"/>
    <p:sldId id="350" r:id="rId33"/>
    <p:sldId id="340" r:id="rId34"/>
    <p:sldId id="341" r:id="rId35"/>
    <p:sldId id="353" r:id="rId36"/>
    <p:sldId id="349" r:id="rId37"/>
    <p:sldId id="351" r:id="rId38"/>
    <p:sldId id="319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780" autoAdjust="0"/>
  </p:normalViewPr>
  <p:slideViewPr>
    <p:cSldViewPr snapToGrid="0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902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190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684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540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35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2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755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369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125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989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49833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843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15151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3748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9564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023E9-9803-4103-9CE0-56CF15ED222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132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023E9-9803-4103-9CE0-56CF15ED2229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92F0981-D60D-4D59-9230-E6EE4984A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317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06D84-A124-4690-FCC2-C156C497A1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21734" y="2183523"/>
            <a:ext cx="10001761" cy="2688021"/>
          </a:xfrm>
        </p:spPr>
        <p:txBody>
          <a:bodyPr/>
          <a:lstStyle/>
          <a:p>
            <a:r>
              <a:rPr lang="en-US" sz="4000" b="1" dirty="0"/>
              <a:t>ISTQB® Certified Tester – Testing with Generative AI (CT-GenAI)</a:t>
            </a:r>
            <a:br>
              <a:rPr lang="en-US" sz="4000" b="1" dirty="0"/>
            </a:br>
            <a:r>
              <a:rPr lang="en-US" sz="4000" b="1" dirty="0"/>
              <a:t>Chapter 4 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323851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608F5-4B07-D77A-593B-328944137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142BD1-2ED7-543B-2C27-43985B5DC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361EB9-A879-589D-327D-EDDD3A7DE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 fontScale="77500" lnSpcReduction="20000"/>
          </a:bodyPr>
          <a:lstStyle/>
          <a:p>
            <a:endParaRPr lang="en-I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4.1 Architectural Approaches for LLM-Powered Test Infrastructur</a:t>
            </a:r>
            <a:r>
              <a:rPr lang="en-US" b="1" dirty="0"/>
              <a:t>e</a:t>
            </a:r>
            <a:endParaRPr lang="en-US" dirty="0"/>
          </a:p>
          <a:p>
            <a:r>
              <a:rPr lang="en-US" b="1" dirty="0"/>
              <a:t>GenAI-4.1.1 (K2)</a:t>
            </a:r>
            <a:r>
              <a:rPr lang="en-US" dirty="0"/>
              <a:t> Explain key architectural components and concepts of LLM-powered test infrastructure</a:t>
            </a:r>
          </a:p>
          <a:p>
            <a:r>
              <a:rPr lang="en-US" b="1" dirty="0"/>
              <a:t>GenAI-4.1.2 (K2)</a:t>
            </a:r>
            <a:r>
              <a:rPr lang="en-US" dirty="0"/>
              <a:t> Summarize Retrieval-Augmented Generation</a:t>
            </a:r>
          </a:p>
          <a:p>
            <a:r>
              <a:rPr lang="en-US" b="1" dirty="0"/>
              <a:t>HO-4.1.2 (H1)</a:t>
            </a:r>
            <a:r>
              <a:rPr lang="en-US" dirty="0"/>
              <a:t> Experiment with Retrieval-Augmented Generation for a given test task</a:t>
            </a:r>
          </a:p>
          <a:p>
            <a:r>
              <a:rPr lang="en-US" b="1" dirty="0"/>
              <a:t>GenAI-4.1.3 (K2)</a:t>
            </a:r>
            <a:r>
              <a:rPr lang="en-US" dirty="0"/>
              <a:t> Explain the role and application of LLM-powered agents in automating test processes</a:t>
            </a:r>
          </a:p>
          <a:p>
            <a:r>
              <a:rPr lang="en-US" b="1" dirty="0"/>
              <a:t>HO-4.1.3 (H0)</a:t>
            </a:r>
            <a:r>
              <a:rPr lang="en-US" dirty="0"/>
              <a:t> Observe how an LLM-powered agent assists in automating a repetitive test task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4.2 Fine-Tuning and </a:t>
            </a:r>
            <a:r>
              <a:rPr lang="en-US" b="1" dirty="0" err="1">
                <a:solidFill>
                  <a:srgbClr val="FF0000"/>
                </a:solidFill>
              </a:rPr>
              <a:t>LLMOps</a:t>
            </a:r>
            <a:r>
              <a:rPr lang="en-US" b="1" dirty="0"/>
              <a:t>: Operationalizing Generative AI for Software Testing</a:t>
            </a:r>
            <a:endParaRPr lang="en-US" dirty="0"/>
          </a:p>
          <a:p>
            <a:r>
              <a:rPr lang="en-US" b="1" dirty="0"/>
              <a:t>GenAI-4.2.1 (K2)</a:t>
            </a:r>
            <a:r>
              <a:rPr lang="en-US" dirty="0"/>
              <a:t> Explain the fine-tuning of language models for specific test tasks</a:t>
            </a:r>
          </a:p>
          <a:p>
            <a:r>
              <a:rPr lang="en-US" b="1" dirty="0"/>
              <a:t>HO-4.2.1 (H0)</a:t>
            </a:r>
            <a:r>
              <a:rPr lang="en-US" dirty="0"/>
              <a:t> Observe an example of a fine-tuning process for a given test task and language model</a:t>
            </a:r>
          </a:p>
          <a:p>
            <a:r>
              <a:rPr lang="en-US" b="1" dirty="0"/>
              <a:t>GenAI-4.2.2 (K2)</a:t>
            </a:r>
            <a:r>
              <a:rPr lang="en-US" dirty="0"/>
              <a:t> Explain </a:t>
            </a:r>
            <a:r>
              <a:rPr lang="en-US" dirty="0" err="1"/>
              <a:t>LLMOps</a:t>
            </a:r>
            <a:r>
              <a:rPr lang="en-US" dirty="0"/>
              <a:t> and its role in deploying and managing LLMs for test tasks.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4867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191E7-8F81-2944-E48E-B0C91CA82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5E47AC-13DB-F0A5-1EE7-B2BF708B0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E8726D-43CC-194E-973E-DD2CC9F1B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0000"/>
                </a:solidFill>
              </a:rPr>
              <a:t>4.1 Architectural Approaches for LLM-Powered Test Infrastructure</a:t>
            </a:r>
          </a:p>
          <a:p>
            <a:r>
              <a:rPr lang="en-US" sz="1400" b="1" dirty="0"/>
              <a:t>Core Types</a:t>
            </a:r>
            <a:endParaRPr lang="en-US" sz="1400" dirty="0"/>
          </a:p>
          <a:p>
            <a:pPr lvl="1"/>
            <a:r>
              <a:rPr lang="en-US" sz="1400" b="1" dirty="0"/>
              <a:t>AI Chatbots</a:t>
            </a:r>
            <a:r>
              <a:rPr lang="en-US" sz="1400" dirty="0"/>
              <a:t> – Support testers through interactive guidance and automated responses</a:t>
            </a:r>
          </a:p>
          <a:p>
            <a:pPr lvl="1"/>
            <a:r>
              <a:rPr lang="en-US" sz="1400" b="1" dirty="0"/>
              <a:t>LLM-Powered Test Tools</a:t>
            </a:r>
            <a:r>
              <a:rPr lang="en-US" sz="1400" dirty="0"/>
              <a:t> – Assist in generating, executing, and analyzing test cases</a:t>
            </a:r>
          </a:p>
          <a:p>
            <a:r>
              <a:rPr lang="en-US" sz="1400" b="1" dirty="0"/>
              <a:t>Extended Architectures</a:t>
            </a:r>
            <a:endParaRPr lang="en-US" sz="1400" dirty="0"/>
          </a:p>
          <a:p>
            <a:pPr lvl="1"/>
            <a:r>
              <a:rPr lang="en-US" sz="1400" b="1" dirty="0"/>
              <a:t>Basic LLM Infrastructure</a:t>
            </a:r>
            <a:r>
              <a:rPr lang="en-US" sz="1400" dirty="0"/>
              <a:t> – Foundation for integrating large language models into testing workflows</a:t>
            </a:r>
          </a:p>
          <a:p>
            <a:pPr lvl="1"/>
            <a:r>
              <a:rPr lang="en-US" sz="1400" b="1" dirty="0"/>
              <a:t>Retrieval Augmented Generation (RAG)</a:t>
            </a:r>
            <a:r>
              <a:rPr lang="en-US" sz="1400" dirty="0"/>
              <a:t> – Enhances accuracy by combining LLM outputs with domain-specific knowledge sources</a:t>
            </a:r>
          </a:p>
          <a:p>
            <a:pPr lvl="1"/>
            <a:r>
              <a:rPr lang="en-US" sz="1400" b="1" dirty="0"/>
              <a:t>LLM-Powered Agent Architectures</a:t>
            </a:r>
            <a:r>
              <a:rPr lang="en-US" sz="1400" dirty="0"/>
              <a:t> – Enable autonomous, multi-step test activities with reasoning and task orchestration.</a:t>
            </a:r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42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AFCD0-4640-4E15-A08E-57EEB0D59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C35886-0BB6-2A5C-EDB6-AA4D4C51A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1F162E-35B2-9372-E1D3-51B80403C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</a:rPr>
              <a:t>4.1.1 Key Architectural Components and Concepts of LLM-Powered Test Infrastructure</a:t>
            </a:r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b="1" dirty="0"/>
              <a:t>GenAI-4.1.1 (K2)</a:t>
            </a:r>
            <a:r>
              <a:rPr lang="en-US" sz="1400" dirty="0"/>
              <a:t> Explain key architectural components and concepts of LLM-powered test infrastructure.</a:t>
            </a:r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380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44A7F-7FC8-7313-696D-571B4A7DB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3959E9-EB5D-9490-14CA-5538B3F6B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8D903C-A0B0-5554-D901-A4B6D124B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F5D9BA-480F-1493-ABFC-FA6ABD9AD073}"/>
              </a:ext>
            </a:extLst>
          </p:cNvPr>
          <p:cNvSpPr txBox="1"/>
          <p:nvPr/>
        </p:nvSpPr>
        <p:spPr>
          <a:xfrm>
            <a:off x="606390" y="1257930"/>
            <a:ext cx="882139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600" b="1" dirty="0"/>
          </a:p>
          <a:p>
            <a:r>
              <a:rPr lang="en-US" sz="1600" b="1" dirty="0">
                <a:solidFill>
                  <a:srgbClr val="FF0000"/>
                </a:solidFill>
              </a:rPr>
              <a:t>4.1.1 Key Architectural Components and Concepts of LLM-Powered Test Infrastructure</a:t>
            </a:r>
            <a:endParaRPr lang="en-US" sz="1600" dirty="0">
              <a:solidFill>
                <a:srgbClr val="FF0000"/>
              </a:solidFill>
            </a:endParaRP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>
                <a:solidFill>
                  <a:srgbClr val="FF0000"/>
                </a:solidFill>
              </a:rPr>
              <a:t>Introduction to LLM-Powered Test Infrastructure</a:t>
            </a:r>
          </a:p>
          <a:p>
            <a:pPr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 system that integrates Large Language Models (LLMs) into the testing lifecycle to enhance automation, reasoning, and decision-making.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Unlike traditional AI Chatbots which are focused on conversational flow and generic interaction. LLM-Powered Test Tools are built to process test queries, analyze complex requirements, and evaluate software outputs.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Key Capabilities of LLM-Powered Test Tools: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Requirement analysis and refinement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Dynamic generation of </a:t>
            </a:r>
            <a:r>
              <a:rPr lang="en-US" sz="1600" dirty="0" err="1"/>
              <a:t>testware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Intelligent evaluation of test execution results.</a:t>
            </a:r>
          </a:p>
        </p:txBody>
      </p:sp>
    </p:spTree>
    <p:extLst>
      <p:ext uri="{BB962C8B-B14F-4D97-AF65-F5344CB8AC3E}">
        <p14:creationId xmlns:p14="http://schemas.microsoft.com/office/powerpoint/2010/main" val="1117801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D0F4D-0706-4668-C7E5-1BB4E7E9C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8FBEDF-067E-364A-B5F0-65BBDA2AA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EC3063-94DD-1AFB-3D75-92A72902F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364E82-8FC8-618D-F77C-ABA2A96F4020}"/>
              </a:ext>
            </a:extLst>
          </p:cNvPr>
          <p:cNvSpPr txBox="1"/>
          <p:nvPr/>
        </p:nvSpPr>
        <p:spPr>
          <a:xfrm>
            <a:off x="606390" y="1270000"/>
            <a:ext cx="837207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600" b="1" dirty="0"/>
          </a:p>
          <a:p>
            <a:r>
              <a:rPr lang="en-US" sz="1600" b="1" dirty="0">
                <a:solidFill>
                  <a:srgbClr val="FF0000"/>
                </a:solidFill>
              </a:rPr>
              <a:t>4.1.1 Key Architectural Components and Concepts of LLM-Powered Test Infrastructure</a:t>
            </a:r>
            <a:endParaRPr lang="en-US" sz="1600" dirty="0">
              <a:solidFill>
                <a:srgbClr val="FF0000"/>
              </a:solidFill>
            </a:endParaRP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>
                <a:solidFill>
                  <a:srgbClr val="FF0000"/>
                </a:solidFill>
              </a:rPr>
              <a:t>High-Level Architecture of LLM-Powered Test Infrastructure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dirty="0"/>
              <a:t>To ensure security, efficiency, and accuracy, the architecture of LLM-Powered Test Infrastructure moves beyond a simple request-response model into a structured three-tier system:</a:t>
            </a:r>
          </a:p>
          <a:p>
            <a:pPr>
              <a:buNone/>
            </a:pPr>
            <a:endParaRPr lang="en-US" sz="1600" dirty="0"/>
          </a:p>
          <a:p>
            <a:pPr>
              <a:buFont typeface="+mj-lt"/>
              <a:buAutoNum type="arabicPeriod"/>
            </a:pPr>
            <a:r>
              <a:rPr lang="en-US" sz="1600" b="1" dirty="0">
                <a:solidFill>
                  <a:srgbClr val="FF0000"/>
                </a:solidFill>
              </a:rPr>
              <a:t>Front-End (User Interface)</a:t>
            </a:r>
            <a:endParaRPr lang="en-US" sz="1600" dirty="0">
              <a:solidFill>
                <a:srgbClr val="FF00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1600" dirty="0"/>
              <a:t>UI where testers input commands, requirements, or natural language queries.</a:t>
            </a:r>
          </a:p>
          <a:p>
            <a:pPr marL="742950" lvl="1" indent="-285750">
              <a:buFont typeface="+mj-lt"/>
              <a:buAutoNum type="arabicPeriod"/>
            </a:pPr>
            <a:endParaRPr lang="en-US" sz="1600" dirty="0"/>
          </a:p>
          <a:p>
            <a:pPr>
              <a:buFont typeface="+mj-lt"/>
              <a:buAutoNum type="arabicPeriod"/>
            </a:pPr>
            <a:r>
              <a:rPr lang="en-US" sz="1600" b="1" dirty="0">
                <a:solidFill>
                  <a:srgbClr val="FF0000"/>
                </a:solidFill>
              </a:rPr>
              <a:t>Back-End (Processing Hub)</a:t>
            </a:r>
            <a:endParaRPr lang="en-US" sz="1600" dirty="0">
              <a:solidFill>
                <a:srgbClr val="FF00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1600" dirty="0"/>
              <a:t>The "engine room" that handles authentication, data retrieval, and prompt orchestration.</a:t>
            </a:r>
          </a:p>
          <a:p>
            <a:pPr marL="742950" lvl="1" indent="-285750">
              <a:buFont typeface="+mj-lt"/>
              <a:buAutoNum type="arabicPeriod"/>
            </a:pPr>
            <a:endParaRPr lang="en-US" sz="1600" dirty="0"/>
          </a:p>
          <a:p>
            <a:pPr>
              <a:buFont typeface="+mj-lt"/>
              <a:buAutoNum type="arabicPeriod"/>
            </a:pPr>
            <a:r>
              <a:rPr lang="en-US" sz="1600" b="1" dirty="0">
                <a:solidFill>
                  <a:srgbClr val="FF0000"/>
                </a:solidFill>
              </a:rPr>
              <a:t>The LLM Layer</a:t>
            </a:r>
            <a:endParaRPr lang="en-US" sz="1600" dirty="0">
              <a:solidFill>
                <a:srgbClr val="FF0000"/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1600" dirty="0"/>
              <a:t>The intelligence core which is either a third-party service (API-based) or a secure, custom in-house model.</a:t>
            </a:r>
          </a:p>
        </p:txBody>
      </p:sp>
    </p:spTree>
    <p:extLst>
      <p:ext uri="{BB962C8B-B14F-4D97-AF65-F5344CB8AC3E}">
        <p14:creationId xmlns:p14="http://schemas.microsoft.com/office/powerpoint/2010/main" val="3510865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BA250-89D7-2B9C-69A7-7E110C41B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DECD03-E063-82E6-BBAD-4F309904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83288A-3A20-7491-6291-BB159617D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6" name="AutoShape 4" descr="Generated image: LLM-powered test automation architecture">
            <a:extLst>
              <a:ext uri="{FF2B5EF4-FFF2-40B4-BE49-F238E27FC236}">
                <a16:creationId xmlns:a16="http://schemas.microsoft.com/office/drawing/2014/main" id="{AF0BFCC3-9F6A-7626-7AC7-F6670F45B9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FC3CC8-AF48-9C20-2E63-108ED46E2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717" y="1503026"/>
            <a:ext cx="7059902" cy="470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154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69598-8D9F-B9FA-F3A9-12EC1F25E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089714-9A59-AC64-0996-A4CE49055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260466"/>
            <a:ext cx="8596668" cy="653934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DB2889-42B5-9738-9727-65575958A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7A762E-ABD6-86EA-2385-0833ADC9FB9A}"/>
              </a:ext>
            </a:extLst>
          </p:cNvPr>
          <p:cNvSpPr txBox="1"/>
          <p:nvPr/>
        </p:nvSpPr>
        <p:spPr>
          <a:xfrm>
            <a:off x="606390" y="822262"/>
            <a:ext cx="8738557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4.1.1 Key Architectural Components and Concepts of LLM-Powered Test Infrastructure</a:t>
            </a:r>
            <a:endParaRPr lang="en-US" sz="1400" b="1" dirty="0"/>
          </a:p>
          <a:p>
            <a:pPr>
              <a:buNone/>
            </a:pPr>
            <a:endParaRPr lang="en-US" sz="14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Evolution of LLM Powered Test Infra</a:t>
            </a:r>
          </a:p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en-US" sz="1400" dirty="0"/>
              <a:t>This LLM-Powered test infrastructure architecture disrupts the traditional client-server model by introducing Intelligent Processing:</a:t>
            </a:r>
          </a:p>
          <a:p>
            <a:pPr>
              <a:buNone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Reasoning vs. Serving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The LLM doesn’t just "serve" data; it interprets and reasons based on specific test products (code, logs, user stories).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r>
              <a:rPr lang="en-US" sz="1400" dirty="0"/>
              <a:t>This means an LLM is not just a data provider, but a thinking system.</a:t>
            </a:r>
          </a:p>
          <a:p>
            <a:endParaRPr lang="en-US" sz="1400" dirty="0">
              <a:solidFill>
                <a:srgbClr val="FF0000"/>
              </a:solidFill>
            </a:endParaRPr>
          </a:p>
          <a:p>
            <a:r>
              <a:rPr lang="en-US" sz="1400" dirty="0">
                <a:solidFill>
                  <a:srgbClr val="FF0000"/>
                </a:solidFill>
              </a:rPr>
              <a:t>Serving (basic systems)</a:t>
            </a:r>
            <a:br>
              <a:rPr lang="en-US" sz="1400" dirty="0"/>
            </a:br>
            <a:r>
              <a:rPr lang="en-US" sz="1400" dirty="0"/>
              <a:t>→ Just returns stored or predefined answers</a:t>
            </a:r>
            <a:br>
              <a:rPr lang="en-US" sz="1400" dirty="0"/>
            </a:br>
            <a:r>
              <a:rPr lang="en-US" sz="1400" dirty="0"/>
              <a:t>→ Like: “Here is the result” </a:t>
            </a:r>
          </a:p>
          <a:p>
            <a:endParaRPr lang="en-US" sz="1400" dirty="0"/>
          </a:p>
          <a:p>
            <a:r>
              <a:rPr lang="en-US" sz="1400" dirty="0">
                <a:solidFill>
                  <a:srgbClr val="FF0000"/>
                </a:solidFill>
              </a:rPr>
              <a:t>Reasoning (LLM)</a:t>
            </a:r>
            <a:br>
              <a:rPr lang="en-US" sz="1400" dirty="0"/>
            </a:br>
            <a:r>
              <a:rPr lang="en-US" sz="1400" dirty="0"/>
              <a:t>→ Understands context and analyzes inputs like: </a:t>
            </a:r>
          </a:p>
          <a:p>
            <a:pPr marL="0" lvl="1"/>
            <a:r>
              <a:rPr lang="en-US" sz="1400" dirty="0"/>
              <a:t>test cases </a:t>
            </a:r>
          </a:p>
          <a:p>
            <a:pPr marL="0" lvl="1"/>
            <a:r>
              <a:rPr lang="en-US" sz="1400" dirty="0"/>
              <a:t>logs </a:t>
            </a:r>
          </a:p>
          <a:p>
            <a:pPr marL="0" lvl="1"/>
            <a:r>
              <a:rPr lang="en-US" sz="1400" dirty="0"/>
              <a:t>code </a:t>
            </a:r>
          </a:p>
          <a:p>
            <a:pPr marL="0" lvl="1"/>
            <a:r>
              <a:rPr lang="en-US" sz="1400" dirty="0"/>
              <a:t>user stories </a:t>
            </a:r>
          </a:p>
          <a:p>
            <a:pPr marL="0" lvl="1"/>
            <a:endParaRPr lang="en-US" sz="1400" dirty="0"/>
          </a:p>
          <a:p>
            <a:r>
              <a:rPr lang="en-US" sz="1400" dirty="0"/>
              <a:t>Then it figures out insights, not just data.</a:t>
            </a:r>
          </a:p>
          <a:p>
            <a:pPr marL="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67676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BC2D6-55FE-A8D9-ED0D-A8215A48F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091695-76FC-1AD1-0084-21E54A771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5A1DA7A-38AE-EC90-FE4E-EAF0C1FC4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852451-18C0-FE48-4E5C-3A3CC78AA283}"/>
              </a:ext>
            </a:extLst>
          </p:cNvPr>
          <p:cNvSpPr txBox="1"/>
          <p:nvPr/>
        </p:nvSpPr>
        <p:spPr>
          <a:xfrm>
            <a:off x="606389" y="1305341"/>
            <a:ext cx="8738557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Rule Based Chat Bots vs. LLM-powered Test Infrastructure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Unlike rule-based chatbots which follow rigid scripts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LLM infrastructure generates test insights dynamically from context, such as requirements, code, or test results.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</a:rPr>
              <a:t>Rule-Based Chatbots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These are simple systems that follow fixed rules.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Work using if–else conditions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Give predefined responses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Cannot understand new or complex situations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Input: “Login test failed”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Output: “Please check your credentials”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doesn’t actually analyze the problem — it just follows a script.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09294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7D5AB-5BEF-7E7F-ECA9-9689C0B69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97F62B-F063-32E9-5912-17A6719DD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CEA5CF-C9FB-42DD-8BE0-EBF7A913F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A0CFF2-CA52-64D2-F03B-E28CB76869D8}"/>
              </a:ext>
            </a:extLst>
          </p:cNvPr>
          <p:cNvSpPr txBox="1"/>
          <p:nvPr/>
        </p:nvSpPr>
        <p:spPr>
          <a:xfrm>
            <a:off x="606389" y="1305341"/>
            <a:ext cx="8738557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Rule Based Chat Bots vs. LLM-powered Test Infrastructure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Unlike rule-based chatbots which follow rigid scripts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LLM infrastructure generates test insights dynamically from context, such as requirements, code, or test results.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0000"/>
                </a:solidFill>
              </a:rPr>
              <a:t>LLM-Powered Test Infrastructure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This uses AI models like ChatGPT to understand, analyze, and generate insights dynamically.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Understands context (logs, code, requirements)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Can reason and explain failures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Generates new test cases and fixes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Adapts to different scenarios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Input: “Login test failed” + logs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Output:</a:t>
            </a:r>
            <a:br>
              <a:rPr lang="en-US" sz="1400" dirty="0"/>
            </a:br>
            <a:r>
              <a:rPr lang="en-US" sz="1400" dirty="0"/>
              <a:t>→ “Failure due to API timeout. Suggest increasing wait time or mocking API response.”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 actually analyzes and explains the root cause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22945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308F1-BBFD-2BFD-1A07-62A27DAD1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0081E7-01A0-55BB-A846-B969C4FE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5ABB4B-8580-9489-E459-A527C4B2A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746477-571C-45E3-3AA7-073DBAA084E7}"/>
              </a:ext>
            </a:extLst>
          </p:cNvPr>
          <p:cNvSpPr txBox="1"/>
          <p:nvPr/>
        </p:nvSpPr>
        <p:spPr>
          <a:xfrm>
            <a:off x="677333" y="1202910"/>
            <a:ext cx="8742563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400" b="1" dirty="0"/>
          </a:p>
          <a:p>
            <a:r>
              <a:rPr lang="en-US" sz="1400" b="1" dirty="0">
                <a:solidFill>
                  <a:srgbClr val="FF0000"/>
                </a:solidFill>
              </a:rPr>
              <a:t>4.1.1 Key Architectural Components and Concepts of LLM-Powered Test Infrastructure</a:t>
            </a:r>
            <a:endParaRPr lang="en-US" sz="1400" dirty="0">
              <a:solidFill>
                <a:srgbClr val="FF0000"/>
              </a:solidFill>
            </a:endParaRP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Data Integration &amp; The Modern Back-End</a:t>
            </a:r>
          </a:p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en-US" sz="1400" dirty="0"/>
              <a:t>The back-end is no longer just a bridge it is a sophisticated integrator of diverse data types:</a:t>
            </a:r>
          </a:p>
          <a:p>
            <a:pPr>
              <a:buNone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Relational Databases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Handles structured data in form of tables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FF0000"/>
                </a:solidFill>
              </a:rPr>
              <a:t>Vector Databases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This is the key to modern AI testing. These store "embeddings" to allow for semantic retrieval, finding relevant test information based on meaning rather than just keywords.</a:t>
            </a:r>
            <a:br>
              <a:rPr lang="en-US" sz="1400" dirty="0"/>
            </a:b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What they store: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“Embeddings” (numerical representations of text)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 Instead of storing just words, they store meaning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r>
              <a:rPr lang="en-US" sz="1400" b="1" dirty="0"/>
              <a:t>Simple explanation:</a:t>
            </a:r>
          </a:p>
          <a:p>
            <a:r>
              <a:rPr lang="en-US" sz="1400" dirty="0"/>
              <a:t>Normal search → finds exact keywords </a:t>
            </a:r>
          </a:p>
          <a:p>
            <a:r>
              <a:rPr lang="en-US" sz="1400" dirty="0"/>
              <a:t>Vector search → finds </a:t>
            </a:r>
            <a:r>
              <a:rPr lang="en-US" sz="1400" b="1" dirty="0"/>
              <a:t>similar meaning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94314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4DE0E-6D7F-C383-F68F-F1D04C0CE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ED1F56-7E09-3747-3388-92D1AB10B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DD8C98-87ED-7B7F-9308-97D204904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0F8AEB-6047-1C8C-37A2-FAF6A02E0649}"/>
              </a:ext>
            </a:extLst>
          </p:cNvPr>
          <p:cNvSpPr txBox="1"/>
          <p:nvPr/>
        </p:nvSpPr>
        <p:spPr>
          <a:xfrm>
            <a:off x="748862" y="1285600"/>
            <a:ext cx="727578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FF0000"/>
                </a:solidFill>
              </a:rPr>
              <a:t>4.1.2 Retrieval-Augmented Generation</a:t>
            </a:r>
          </a:p>
          <a:p>
            <a:pPr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RAG is a framework that enhances LLMs by integrating external data sources into their response generation process which increases the relevance and accuracy of the LLM output.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Standard LLMs are frozen in time (based on their training data). RAG allows the model to "look up" your latest project files before answering.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goal is to increase the relevance and accuracy of AI-generated test artifacts.</a:t>
            </a:r>
          </a:p>
        </p:txBody>
      </p:sp>
    </p:spTree>
    <p:extLst>
      <p:ext uri="{BB962C8B-B14F-4D97-AF65-F5344CB8AC3E}">
        <p14:creationId xmlns:p14="http://schemas.microsoft.com/office/powerpoint/2010/main" val="418384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686CE-7A88-0873-C5D1-2E014C365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66A5E4-A1B0-3E45-09AA-A968B73FC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CD298D-A481-993C-B549-B5E268A9C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71C47-D0F2-B2FB-7F71-DE3773B32C82}"/>
              </a:ext>
            </a:extLst>
          </p:cNvPr>
          <p:cNvSpPr txBox="1"/>
          <p:nvPr/>
        </p:nvSpPr>
        <p:spPr>
          <a:xfrm>
            <a:off x="606390" y="1305341"/>
            <a:ext cx="8805624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</a:rPr>
              <a:t>4.1.2 Retrieval-Augmented Generation</a:t>
            </a:r>
          </a:p>
          <a:p>
            <a:pPr>
              <a:buNone/>
            </a:pPr>
            <a:endParaRPr lang="en-US" sz="1400" b="1" dirty="0"/>
          </a:p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How RAG Processes a Test Query</a:t>
            </a:r>
          </a:p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en-US" sz="1400" dirty="0"/>
              <a:t>When a tester submits a prompt (e.g., "Generate test cases for the login module"), the system follows a two-step execution:</a:t>
            </a:r>
          </a:p>
          <a:p>
            <a:pPr>
              <a:buNone/>
            </a:pPr>
            <a:endParaRPr lang="en-US" sz="1400" dirty="0"/>
          </a:p>
          <a:p>
            <a:pPr>
              <a:buFont typeface="+mj-lt"/>
              <a:buAutoNum type="arabicPeriod"/>
            </a:pPr>
            <a:r>
              <a:rPr lang="en-US" sz="1400" b="1" dirty="0">
                <a:solidFill>
                  <a:srgbClr val="FF0000"/>
                </a:solidFill>
              </a:rPr>
              <a:t>Retrieval Step</a:t>
            </a:r>
          </a:p>
          <a:p>
            <a:pPr>
              <a:buFont typeface="+mj-lt"/>
              <a:buAutoNum type="arabicPeriod"/>
            </a:pPr>
            <a:endParaRPr lang="en-US" sz="1400" dirty="0"/>
          </a:p>
          <a:p>
            <a:pPr marL="742950" lvl="1" indent="-285750">
              <a:buFont typeface="+mj-lt"/>
              <a:buAutoNum type="arabicPeriod"/>
            </a:pPr>
            <a:r>
              <a:rPr lang="en-US" sz="1400" dirty="0"/>
              <a:t>The system encodes the user’s query into a vector.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dirty="0"/>
              <a:t>It searches the vector database for chunks with the highest semantic similarity to the prompt.</a:t>
            </a:r>
          </a:p>
          <a:p>
            <a:pPr marL="742950" lvl="1" indent="-285750">
              <a:buFont typeface="+mj-lt"/>
              <a:buAutoNum type="arabicPeriod"/>
            </a:pPr>
            <a:endParaRPr lang="en-US" sz="1400" dirty="0"/>
          </a:p>
          <a:p>
            <a:pPr>
              <a:buFont typeface="+mj-lt"/>
              <a:buAutoNum type="arabicPeriod"/>
            </a:pPr>
            <a:r>
              <a:rPr lang="en-US" sz="1400" b="1" dirty="0">
                <a:solidFill>
                  <a:srgbClr val="FF0000"/>
                </a:solidFill>
              </a:rPr>
              <a:t>Generation Step</a:t>
            </a:r>
          </a:p>
          <a:p>
            <a:pPr>
              <a:buFont typeface="+mj-lt"/>
              <a:buAutoNum type="arabicPeriod"/>
            </a:pPr>
            <a:endParaRPr lang="en-US" sz="1400" dirty="0"/>
          </a:p>
          <a:p>
            <a:pPr marL="742950" lvl="1" indent="-285750">
              <a:buFont typeface="+mj-lt"/>
              <a:buAutoNum type="arabicPeriod"/>
            </a:pPr>
            <a:r>
              <a:rPr lang="en-US" sz="1400" dirty="0"/>
              <a:t>The retrieved "context chunks" are fed into the LLM along with the original prompt.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400" dirty="0"/>
              <a:t>The LLM synthesizes a response that combines its general linguistic ability with the specific data retrieved.</a:t>
            </a:r>
          </a:p>
        </p:txBody>
      </p:sp>
    </p:spTree>
    <p:extLst>
      <p:ext uri="{BB962C8B-B14F-4D97-AF65-F5344CB8AC3E}">
        <p14:creationId xmlns:p14="http://schemas.microsoft.com/office/powerpoint/2010/main" val="144708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9E678-EEC9-2F1A-7CE1-C9823EF77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7B2F9B-5444-2F15-BF61-AE61D745F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3847E4-688D-AC79-3DFC-5AF119FB8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565" y="1270000"/>
            <a:ext cx="7000837" cy="4593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977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2E0C-E776-8E51-E515-49F4D4270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09B0B0-C5FA-BD7A-B15B-F4B9EA29B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390" y="105113"/>
            <a:ext cx="8596668" cy="412394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E15A48-50EC-291C-61EF-E35453E9E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8CD9C8-D811-DD46-D3CB-8E223972069E}"/>
              </a:ext>
            </a:extLst>
          </p:cNvPr>
          <p:cNvSpPr txBox="1"/>
          <p:nvPr/>
        </p:nvSpPr>
        <p:spPr>
          <a:xfrm>
            <a:off x="668708" y="672860"/>
            <a:ext cx="1114680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FF0000"/>
                </a:solidFill>
              </a:rPr>
              <a:t>4.1.2 Retrieval-Augmented Generation</a:t>
            </a:r>
          </a:p>
          <a:p>
            <a:endParaRPr lang="en-IN" sz="1400" dirty="0"/>
          </a:p>
          <a:p>
            <a:r>
              <a:rPr lang="en-IN" sz="1400" dirty="0">
                <a:solidFill>
                  <a:srgbClr val="FF0000"/>
                </a:solidFill>
              </a:rPr>
              <a:t>Key Steps in RAG Preprocessing Pipeline</a:t>
            </a:r>
          </a:p>
          <a:p>
            <a:endParaRPr lang="en-IN" sz="1400" dirty="0"/>
          </a:p>
          <a:p>
            <a:endParaRPr lang="en-IN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81CECB-146D-F2D1-FBA1-7F8346C4E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007" y="1581266"/>
            <a:ext cx="6780363" cy="504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942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7A53A-6FF6-2430-818A-D38D3A65C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8CE836-10EC-0047-13CF-273554A86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EEB561-4EFE-569F-3C14-9B5BABD37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96D5E7-39E4-90D4-589F-AD18E048F8B9}"/>
              </a:ext>
            </a:extLst>
          </p:cNvPr>
          <p:cNvSpPr txBox="1"/>
          <p:nvPr/>
        </p:nvSpPr>
        <p:spPr>
          <a:xfrm>
            <a:off x="606389" y="1270000"/>
            <a:ext cx="82144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FF0000"/>
                </a:solidFill>
              </a:rPr>
              <a:t>4.1.2 Retrieval-Augmented Generation</a:t>
            </a:r>
          </a:p>
          <a:p>
            <a:endParaRPr lang="en-US" sz="1600" b="1" dirty="0"/>
          </a:p>
          <a:p>
            <a:pPr>
              <a:buNone/>
            </a:pPr>
            <a:r>
              <a:rPr lang="en-US" sz="1600" b="1" dirty="0">
                <a:solidFill>
                  <a:srgbClr val="FF0000"/>
                </a:solidFill>
              </a:rPr>
              <a:t>Relevant Response from RAG</a:t>
            </a:r>
          </a:p>
          <a:p>
            <a:pPr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output generated by the are relevant,  accurate and contextually appropriate.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Response is based on the model's pre-existing training and data pertinent to the prompt.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77052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01D28-45CE-D0A6-D815-F077B4859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5E8CB8-2010-36C0-43F9-51B710A93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7D29301-C3FB-3707-0476-2D81E53FB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6B73F6-DE15-8F0B-8A0B-843FAA511CCE}"/>
              </a:ext>
            </a:extLst>
          </p:cNvPr>
          <p:cNvSpPr txBox="1"/>
          <p:nvPr/>
        </p:nvSpPr>
        <p:spPr>
          <a:xfrm>
            <a:off x="535446" y="1147100"/>
            <a:ext cx="78833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FF0000"/>
                </a:solidFill>
              </a:rPr>
              <a:t>4.1.2 Retrieval-Augmented Generation</a:t>
            </a:r>
            <a:endParaRPr lang="en-US" sz="1600" b="1" dirty="0"/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>
                <a:solidFill>
                  <a:srgbClr val="FF0000"/>
                </a:solidFill>
              </a:rPr>
              <a:t>RAG Applications in the Testing Lifecycle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dirty="0"/>
              <a:t>RAG transforms how we handle internal company data such as databases, documentation, and repositories.</a:t>
            </a:r>
          </a:p>
          <a:p>
            <a:pPr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 </a:t>
            </a:r>
            <a:r>
              <a:rPr lang="en-US" sz="1600" b="1" dirty="0"/>
              <a:t>Test Analysis</a:t>
            </a:r>
            <a:r>
              <a:rPr lang="en-US" sz="1600" dirty="0"/>
              <a:t>, RAG automatically aligns test objectives with the latest updated specifications.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 </a:t>
            </a:r>
            <a:r>
              <a:rPr lang="en-US" sz="1600" b="1" dirty="0"/>
              <a:t>Test Designing</a:t>
            </a:r>
            <a:r>
              <a:rPr lang="en-US" sz="1600" dirty="0"/>
              <a:t>, it ensures generated test cases reflect current business logic found in internal documentation.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RAG can access </a:t>
            </a:r>
            <a:r>
              <a:rPr lang="en-US" sz="1600" b="1" dirty="0"/>
              <a:t>real-time data from repositories</a:t>
            </a:r>
            <a:r>
              <a:rPr lang="en-US" sz="1600" dirty="0"/>
              <a:t> to ensure test tasks never fall behind the latest code commit or requirement change.</a:t>
            </a:r>
          </a:p>
        </p:txBody>
      </p:sp>
    </p:spTree>
    <p:extLst>
      <p:ext uri="{BB962C8B-B14F-4D97-AF65-F5344CB8AC3E}">
        <p14:creationId xmlns:p14="http://schemas.microsoft.com/office/powerpoint/2010/main" val="1875083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B16C0-278A-279D-F976-C9A87CA16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8D3A98-BF86-0C16-6C3A-4853832D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3DDA16-B1CA-39AC-8646-261288955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B67FE5-6D32-0AFC-6A8E-A00836B897F8}"/>
              </a:ext>
            </a:extLst>
          </p:cNvPr>
          <p:cNvSpPr txBox="1"/>
          <p:nvPr/>
        </p:nvSpPr>
        <p:spPr>
          <a:xfrm>
            <a:off x="733097" y="1306416"/>
            <a:ext cx="773298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4.1.3 The Role of LLM-Powered Agents in Automating Test Processes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US" sz="16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1600" b="1" dirty="0">
                <a:solidFill>
                  <a:srgbClr val="FF0000"/>
                </a:solidFill>
              </a:rPr>
              <a:t>Introduction to LLM-Powered Agents</a:t>
            </a:r>
          </a:p>
          <a:p>
            <a:pPr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Specialized GenAI applications powered by LLMs and designed for semi-autonomous or autonomous processing of defined tasks.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Key Capabilities of LLM-Powered Agents: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Natural Language Understanding</a:t>
            </a:r>
            <a:r>
              <a:rPr lang="en-US" sz="1600" dirty="0"/>
              <a:t> (Interprets complex test instructions)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Reasoning</a:t>
            </a:r>
            <a:r>
              <a:rPr lang="en-US" sz="1600" dirty="0"/>
              <a:t> (Breaks down high-level goals into executable steps)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Actionable Intelligence</a:t>
            </a:r>
            <a:r>
              <a:rPr lang="en-US" sz="1600" dirty="0"/>
              <a:t> (Not just generating text, but taking "intelligent actions" within the test ecosystem)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Core Difference:</a:t>
            </a:r>
            <a:r>
              <a:rPr lang="en-US" sz="1600" dirty="0"/>
              <a:t> While a chatbot responds, an LLM agent acts.</a:t>
            </a:r>
          </a:p>
        </p:txBody>
      </p:sp>
    </p:spTree>
    <p:extLst>
      <p:ext uri="{BB962C8B-B14F-4D97-AF65-F5344CB8AC3E}">
        <p14:creationId xmlns:p14="http://schemas.microsoft.com/office/powerpoint/2010/main" val="1371589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57C8B-E72C-7FEF-0865-E1C0C084F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784897-5590-0D38-9E3C-EC8F37037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C9A1F7-023E-5A7E-3F6E-3B73D198A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5E9048-688F-C0A9-D601-8F0C20AC9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186" y="1395961"/>
            <a:ext cx="5601674" cy="479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334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9FFB2-9112-0557-F72C-2C3DBACDA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574229-0F25-9E30-5FC5-04BCEC605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18D848-4429-6594-AF6B-E436E92FD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DDCA9F-D2D8-4627-A0F2-7B94549253FF}"/>
              </a:ext>
            </a:extLst>
          </p:cNvPr>
          <p:cNvSpPr txBox="1"/>
          <p:nvPr/>
        </p:nvSpPr>
        <p:spPr>
          <a:xfrm>
            <a:off x="744413" y="1288878"/>
            <a:ext cx="76468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4.1.3 The Role of LLM-Powered Agents in Automating Test Processes</a:t>
            </a:r>
          </a:p>
          <a:p>
            <a:pPr>
              <a:buNone/>
            </a:pP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9F9581-0222-39D6-36AF-F00F55C58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346" y="1873653"/>
            <a:ext cx="7104003" cy="450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874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2B297-F849-9616-D5E9-EF1652CEC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9B0351-7AAA-7461-FEE8-0F488190D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708" y="260466"/>
            <a:ext cx="8596668" cy="61065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7AADD4-A505-3216-88AC-109D50E95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93385B-03EE-59ED-22C8-DA1F61F01B07}"/>
              </a:ext>
            </a:extLst>
          </p:cNvPr>
          <p:cNvSpPr txBox="1"/>
          <p:nvPr/>
        </p:nvSpPr>
        <p:spPr>
          <a:xfrm>
            <a:off x="461673" y="871121"/>
            <a:ext cx="1092550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4.1.3 The Role of LLM-Powered Agents in Automating Test Processes</a:t>
            </a:r>
            <a:endParaRPr lang="en-IN" sz="1400" dirty="0"/>
          </a:p>
          <a:p>
            <a:endParaRPr lang="en-IN" sz="1400" dirty="0"/>
          </a:p>
          <a:p>
            <a:r>
              <a:rPr lang="en-IN" sz="1400" dirty="0">
                <a:solidFill>
                  <a:srgbClr val="FF0000"/>
                </a:solidFill>
              </a:rPr>
              <a:t>Degree of Autonomy in LLM-Powered Agents</a:t>
            </a:r>
          </a:p>
          <a:p>
            <a:endParaRPr lang="en-IN" sz="1400" dirty="0"/>
          </a:p>
          <a:p>
            <a:r>
              <a:rPr lang="en-IN" sz="1400" dirty="0"/>
              <a:t>LLM-Powered Agents can be categorized based on how much human intervention they require:</a:t>
            </a:r>
          </a:p>
          <a:p>
            <a:endParaRPr lang="en-IN" sz="1400" dirty="0"/>
          </a:p>
          <a:p>
            <a:r>
              <a:rPr lang="en-IN" sz="1400" dirty="0">
                <a:solidFill>
                  <a:srgbClr val="FF0000"/>
                </a:solidFill>
              </a:rPr>
              <a:t>Autonomous Agents</a:t>
            </a:r>
          </a:p>
          <a:p>
            <a:endParaRPr lang="en-IN" sz="1400" dirty="0"/>
          </a:p>
          <a:p>
            <a:r>
              <a:rPr lang="en-IN" sz="1400" dirty="0"/>
              <a:t>Operate independently using predefined rules, reinforcement learning, and adaptive feedback loops. They require minimal human intervention.</a:t>
            </a:r>
          </a:p>
          <a:p>
            <a:endParaRPr lang="en-IN" sz="1400" dirty="0"/>
          </a:p>
          <a:p>
            <a:r>
              <a:rPr lang="en-IN" sz="1400" dirty="0">
                <a:solidFill>
                  <a:srgbClr val="FF0000"/>
                </a:solidFill>
              </a:rPr>
              <a:t>Semi-Autonomous</a:t>
            </a:r>
          </a:p>
          <a:p>
            <a:endParaRPr lang="en-IN" sz="1400" dirty="0"/>
          </a:p>
          <a:p>
            <a:r>
              <a:rPr lang="en-IN" sz="1400" dirty="0"/>
              <a:t>Perform tasks with periodic human oversight. Testers review outputs to ensure the output meets user-defined goals.</a:t>
            </a:r>
          </a:p>
          <a:p>
            <a:endParaRPr lang="en-IN" sz="1400" dirty="0">
              <a:solidFill>
                <a:srgbClr val="FF0000"/>
              </a:solidFill>
            </a:endParaRPr>
          </a:p>
          <a:p>
            <a:r>
              <a:rPr lang="en-IN" sz="1400" dirty="0">
                <a:solidFill>
                  <a:srgbClr val="FF0000"/>
                </a:solidFill>
              </a:rPr>
              <a:t>Multi-Agent Systems</a:t>
            </a:r>
          </a:p>
          <a:p>
            <a:endParaRPr lang="en-IN" sz="1400" dirty="0"/>
          </a:p>
          <a:p>
            <a:r>
              <a:rPr lang="en-IN" sz="1400" dirty="0"/>
              <a:t>Multi-agent architectures involve a collaborative system where several agents, each with specialized roles, communicate and coordinate to solve complex problems more efficiently than a single agent.</a:t>
            </a:r>
          </a:p>
          <a:p>
            <a:endParaRPr lang="en-IN" sz="1400" dirty="0"/>
          </a:p>
          <a:p>
            <a:r>
              <a:rPr lang="en-IN" sz="1400" dirty="0"/>
              <a:t>This coordinated effort among multiple AI agents is known as orchestration.</a:t>
            </a:r>
          </a:p>
        </p:txBody>
      </p:sp>
    </p:spTree>
    <p:extLst>
      <p:ext uri="{BB962C8B-B14F-4D97-AF65-F5344CB8AC3E}">
        <p14:creationId xmlns:p14="http://schemas.microsoft.com/office/powerpoint/2010/main" val="12945032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D89B6-D3BF-1DF5-DA17-30FE977CD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757EC7-9651-F8A9-9082-7B5B9B075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708" y="260466"/>
            <a:ext cx="8596668" cy="61065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014380-59EA-F15F-ACC9-A6CCA025B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693C45-8329-6530-B871-FB7CC968E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249" y="955998"/>
            <a:ext cx="5089585" cy="534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0930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B4B82-4ECF-4198-3004-1ACA8A97B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04803E-FF46-971B-8364-BFEED6AD0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7CA127-712E-F255-D897-C152DA3CA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6CC7E8-A0B1-B608-3481-C5D6AC10502D}"/>
              </a:ext>
            </a:extLst>
          </p:cNvPr>
          <p:cNvSpPr txBox="1"/>
          <p:nvPr/>
        </p:nvSpPr>
        <p:spPr>
          <a:xfrm>
            <a:off x="677333" y="1270000"/>
            <a:ext cx="8372073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4.1.3 The Role of LLM-Powered Agents in Automating Test Processes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>
                <a:solidFill>
                  <a:srgbClr val="FF0000"/>
                </a:solidFill>
              </a:rPr>
              <a:t>Risks in Agent-Driven Testing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dirty="0"/>
              <a:t>Despite the power of LLM-Powered Agents, they inherit the fundamental limitations of the underlying LLM:</a:t>
            </a:r>
          </a:p>
          <a:p>
            <a:pPr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Hallucinations</a:t>
            </a:r>
            <a:r>
              <a:rPr lang="en-US" sz="1600" dirty="0"/>
              <a:t> – Agents may "make up" test results, non-existent UI elements, or false bug reports.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Reasoning Errors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– Logic gaps can lead the agent to follow an incorrect testing path or miss critical edge cases.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Biases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– Pre-existing biases in training data may cause the agent to overlook certain user demographics or use-cases.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Impact</a:t>
            </a:r>
            <a:r>
              <a:rPr lang="en-US" sz="1600" dirty="0"/>
              <a:t> – These errors weaken the reliability of the automated test process and can lead to "False Pass" results.</a:t>
            </a:r>
          </a:p>
        </p:txBody>
      </p:sp>
    </p:spTree>
    <p:extLst>
      <p:ext uri="{BB962C8B-B14F-4D97-AF65-F5344CB8AC3E}">
        <p14:creationId xmlns:p14="http://schemas.microsoft.com/office/powerpoint/2010/main" val="33793354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4DE8E-A3B0-BBD5-AAAA-1B88C9A6A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12BBE4-C51D-6364-9E85-5619D6459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43E70C4-8BD6-FA9E-C1CA-C9FDCE57D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D6D76E-41C8-2775-A8ED-5DCBB9C729BE}"/>
              </a:ext>
            </a:extLst>
          </p:cNvPr>
          <p:cNvSpPr txBox="1"/>
          <p:nvPr/>
        </p:nvSpPr>
        <p:spPr>
          <a:xfrm>
            <a:off x="677334" y="1395961"/>
            <a:ext cx="809617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4.1.3 The Role of LLM-Powered Agents in Automating Test Processes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>
                <a:solidFill>
                  <a:srgbClr val="FF0000"/>
                </a:solidFill>
              </a:rPr>
              <a:t>Risk Mitigation Strategies for LLM-Powered Agents</a:t>
            </a:r>
          </a:p>
          <a:p>
            <a:pPr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Few mitigation strategies for these risks are: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Automated Verification</a:t>
            </a:r>
            <a:r>
              <a:rPr lang="en-US" sz="1600" dirty="0"/>
              <a:t> – Implement secondary "verification procedures" (non-AI scripts or rules) to cross-check the agent's results.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Semi-Autonomous Deployment</a:t>
            </a:r>
            <a:r>
              <a:rPr lang="en-US" sz="1600" dirty="0"/>
              <a:t> – For high-risk or critical test tasks, maintain a "human-in-the-loop" model to validate AI decisions.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Result Grounding</a:t>
            </a:r>
            <a:r>
              <a:rPr lang="en-US" sz="1600" dirty="0"/>
              <a:t> – Using RAG (Retrieval-Augmented Generation) to ensure agents act based on real specifications rather than purely internal weights.</a:t>
            </a:r>
          </a:p>
        </p:txBody>
      </p:sp>
    </p:spTree>
    <p:extLst>
      <p:ext uri="{BB962C8B-B14F-4D97-AF65-F5344CB8AC3E}">
        <p14:creationId xmlns:p14="http://schemas.microsoft.com/office/powerpoint/2010/main" val="7074805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C056B-C290-352B-6B15-7437771F4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39CB9A-0377-1BEB-3365-4F81D7398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069205-5AD2-E6E3-7669-9BC33E9E6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C0F358-EA49-F04C-790C-3A3E3E5C72D0}"/>
              </a:ext>
            </a:extLst>
          </p:cNvPr>
          <p:cNvSpPr txBox="1"/>
          <p:nvPr/>
        </p:nvSpPr>
        <p:spPr>
          <a:xfrm>
            <a:off x="677333" y="1395961"/>
            <a:ext cx="835630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4.2 Fine-Tuning and </a:t>
            </a:r>
            <a:r>
              <a:rPr lang="en-US" sz="1400" b="1" dirty="0" err="1">
                <a:solidFill>
                  <a:srgbClr val="FF0000"/>
                </a:solidFill>
              </a:rPr>
              <a:t>LLMOps</a:t>
            </a:r>
            <a:r>
              <a:rPr lang="en-US" sz="1400" b="1" dirty="0">
                <a:solidFill>
                  <a:srgbClr val="FF0000"/>
                </a:solidFill>
              </a:rPr>
              <a:t>: Operationalizing Generative AI for Software Testing</a:t>
            </a:r>
          </a:p>
          <a:p>
            <a:pPr>
              <a:buNone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GenAI-4.2.1 (K2)</a:t>
            </a:r>
            <a:r>
              <a:rPr lang="en-US" sz="1400" dirty="0"/>
              <a:t> Explain the fine-tuning of language models for specific test tasks.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HO-4.2.1 (H0)</a:t>
            </a:r>
            <a:r>
              <a:rPr lang="en-US" sz="1400" dirty="0"/>
              <a:t> Observe an example of a fine-tuning process for a given test task and language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GenAI-4.2.2 (K2)</a:t>
            </a:r>
            <a:r>
              <a:rPr lang="en-US" sz="1400" dirty="0"/>
              <a:t> Explain </a:t>
            </a:r>
            <a:r>
              <a:rPr lang="en-US" sz="1400" dirty="0" err="1"/>
              <a:t>LLMOps</a:t>
            </a:r>
            <a:r>
              <a:rPr lang="en-US" sz="1400" dirty="0"/>
              <a:t> and its role in deploying and managing LLMs for test tasks.</a:t>
            </a:r>
          </a:p>
        </p:txBody>
      </p:sp>
    </p:spTree>
    <p:extLst>
      <p:ext uri="{BB962C8B-B14F-4D97-AF65-F5344CB8AC3E}">
        <p14:creationId xmlns:p14="http://schemas.microsoft.com/office/powerpoint/2010/main" val="2185397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4F6E2-9F9F-8DD2-1D75-37457FF20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B76835-CB23-D2B0-F7E5-FD9486222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4F4548-5271-A562-539B-4D1409C56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3F64B5-55B8-5C6E-978F-49FEC11400E5}"/>
              </a:ext>
            </a:extLst>
          </p:cNvPr>
          <p:cNvSpPr txBox="1"/>
          <p:nvPr/>
        </p:nvSpPr>
        <p:spPr>
          <a:xfrm>
            <a:off x="677334" y="1395961"/>
            <a:ext cx="824594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4.2 Fine-Tuning and </a:t>
            </a:r>
            <a:r>
              <a:rPr lang="en-US" sz="1400" b="1" dirty="0" err="1">
                <a:solidFill>
                  <a:srgbClr val="FF0000"/>
                </a:solidFill>
              </a:rPr>
              <a:t>LLMOps</a:t>
            </a:r>
            <a:r>
              <a:rPr lang="en-US" sz="1400" b="1" dirty="0">
                <a:solidFill>
                  <a:srgbClr val="FF0000"/>
                </a:solidFill>
              </a:rPr>
              <a:t>: Operationalizing Generative AI for Software Testing</a:t>
            </a:r>
          </a:p>
          <a:p>
            <a:pPr>
              <a:buNone/>
            </a:pPr>
            <a:endParaRPr lang="en-IN" sz="1600" b="1" dirty="0"/>
          </a:p>
          <a:p>
            <a:pPr>
              <a:buNone/>
            </a:pPr>
            <a:r>
              <a:rPr lang="en-IN" sz="1600" dirty="0"/>
              <a:t>Two key practices for operationalizing LLM-powered test infrastructure for testing include:</a:t>
            </a:r>
          </a:p>
          <a:p>
            <a:pPr>
              <a:buNone/>
            </a:pPr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0000"/>
                </a:solidFill>
              </a:rPr>
              <a:t>Fine-tuning LLMs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FF0000"/>
                </a:solidFill>
              </a:rPr>
              <a:t>Managing the operational pipeline through </a:t>
            </a:r>
            <a:r>
              <a:rPr lang="en-IN" sz="1600" dirty="0" err="1">
                <a:solidFill>
                  <a:srgbClr val="FF0000"/>
                </a:solidFill>
              </a:rPr>
              <a:t>LLMOps</a:t>
            </a:r>
            <a:r>
              <a:rPr lang="en-IN" sz="1600" dirty="0">
                <a:solidFill>
                  <a:srgbClr val="FF0000"/>
                </a:solidFill>
              </a:rPr>
              <a:t> (</a:t>
            </a:r>
            <a:r>
              <a:rPr lang="en-IN" sz="1600" dirty="0" err="1">
                <a:solidFill>
                  <a:srgbClr val="FF0000"/>
                </a:solidFill>
              </a:rPr>
              <a:t>Mailach</a:t>
            </a:r>
            <a:r>
              <a:rPr lang="en-IN" sz="1600" dirty="0">
                <a:solidFill>
                  <a:srgbClr val="FF0000"/>
                </a:solidFill>
              </a:rPr>
              <a:t> 2024).</a:t>
            </a:r>
          </a:p>
        </p:txBody>
      </p:sp>
    </p:spTree>
    <p:extLst>
      <p:ext uri="{BB962C8B-B14F-4D97-AF65-F5344CB8AC3E}">
        <p14:creationId xmlns:p14="http://schemas.microsoft.com/office/powerpoint/2010/main" val="11116838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85026-F6C2-9D63-2D72-CD13029F3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D5BE42-B872-945B-DA2B-09619C2B9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C5B746-F211-1D50-691D-4FD8EEA6A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0A8AF1-8171-0967-A5F0-47AA1BCC3E4A}"/>
              </a:ext>
            </a:extLst>
          </p:cNvPr>
          <p:cNvSpPr txBox="1"/>
          <p:nvPr/>
        </p:nvSpPr>
        <p:spPr>
          <a:xfrm>
            <a:off x="677334" y="1395961"/>
            <a:ext cx="778086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rgbClr val="FF0000"/>
                </a:solidFill>
              </a:rPr>
              <a:t>4.2.1 Fine-Tuning LLMs for Test tasks</a:t>
            </a:r>
          </a:p>
          <a:p>
            <a:pPr>
              <a:buNone/>
            </a:pPr>
            <a:endParaRPr lang="en-US" sz="1400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GenAI-4.2.1 (K2)</a:t>
            </a:r>
            <a:r>
              <a:rPr lang="en-US" sz="1400" dirty="0"/>
              <a:t> Explain the fine-tuning of language models for specific test tasks.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HO-4.2.1 (H0)</a:t>
            </a:r>
            <a:r>
              <a:rPr lang="en-US" sz="1400" dirty="0"/>
              <a:t> Observe an example of a fine-tuning process for a given test task and language model.</a:t>
            </a:r>
          </a:p>
        </p:txBody>
      </p:sp>
    </p:spTree>
    <p:extLst>
      <p:ext uri="{BB962C8B-B14F-4D97-AF65-F5344CB8AC3E}">
        <p14:creationId xmlns:p14="http://schemas.microsoft.com/office/powerpoint/2010/main" val="18395587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8B1F0-5EC3-AD71-3ECA-E02C815B9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DB1421-DE83-F978-CFF8-DF5418BAD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12DC1D-8368-0670-F855-4F67F1D8F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9AD37-9598-B049-F00E-FD94CFC74F51}"/>
              </a:ext>
            </a:extLst>
          </p:cNvPr>
          <p:cNvSpPr txBox="1"/>
          <p:nvPr/>
        </p:nvSpPr>
        <p:spPr>
          <a:xfrm>
            <a:off x="606390" y="1350605"/>
            <a:ext cx="830901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4.2.1 Fine-Tuning LLMs for Test tasks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>
                <a:solidFill>
                  <a:srgbClr val="FF0000"/>
                </a:solidFill>
              </a:rPr>
              <a:t>What is Fine-tuning?</a:t>
            </a:r>
          </a:p>
          <a:p>
            <a:pPr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Fine-tuning is the process of adapting a pre-trained model (LLM or SLM) to specific tasks or domains by further training it on a targeted, high-quality dataset.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Fine-tuning involves further training the model on a targeted dataset, allowing it to learn domain-specific knowledge and nuances.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By fine-tuning, the model's performance is enhanced for specialized applications, making it more accurate and relevant to the intended use case.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The choice of Model for Fine-tuning: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LLMs (Large Language Models)</a:t>
            </a:r>
            <a:r>
              <a:rPr lang="en-US" sz="1600" dirty="0"/>
              <a:t> have high reasoning power, but are resource-intensive.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SLMs (Small Language Models)</a:t>
            </a:r>
            <a:r>
              <a:rPr lang="en-US" sz="1600" dirty="0"/>
              <a:t> are efficiency-focused. By fine-tuning an SLM you can achieve high performance for specific tasks with much lower computational overhead.</a:t>
            </a:r>
          </a:p>
        </p:txBody>
      </p:sp>
    </p:spTree>
    <p:extLst>
      <p:ext uri="{BB962C8B-B14F-4D97-AF65-F5344CB8AC3E}">
        <p14:creationId xmlns:p14="http://schemas.microsoft.com/office/powerpoint/2010/main" val="31334036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5A891-28E1-209E-5DAE-47990E24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616948-754C-33C8-BA06-1DD3E373C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D68A86-8F6B-4510-E7B9-C4A4F8DE9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2A09EC-AECD-4853-B68C-FF2A3B71613F}"/>
              </a:ext>
            </a:extLst>
          </p:cNvPr>
          <p:cNvSpPr txBox="1"/>
          <p:nvPr/>
        </p:nvSpPr>
        <p:spPr>
          <a:xfrm>
            <a:off x="606390" y="1270000"/>
            <a:ext cx="888445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4.2.1 Fine-Tuning LLMs for Test tasks</a:t>
            </a: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Practical Application (Test Case Engine)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Fine-tuning the GenAI model can automatically generate test cases from User Stories in the organization-specific format.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</a:rPr>
              <a:t>Fine-tuning process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a.</a:t>
            </a:r>
            <a:r>
              <a:rPr lang="en-US" dirty="0"/>
              <a:t> Train the model on the company's historical User Stories and their corresponding "perfect" test cases.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b.</a:t>
            </a:r>
            <a:r>
              <a:rPr lang="en-US" dirty="0"/>
              <a:t> The model learns the specific terminology and test process unique to that team.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After fine-tuning, the GenAI model no longer produces generic tests. It produces test cases that mirror the style, logic, and output format in line with the organization's format and standards.</a:t>
            </a:r>
          </a:p>
        </p:txBody>
      </p:sp>
    </p:spTree>
    <p:extLst>
      <p:ext uri="{BB962C8B-B14F-4D97-AF65-F5344CB8AC3E}">
        <p14:creationId xmlns:p14="http://schemas.microsoft.com/office/powerpoint/2010/main" val="32158618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24B61-724F-743E-098F-6704053FC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624268-DA89-DDD7-FD48-7B8C93A52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080D86-255C-0013-8137-AFDDCC310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FD9272-2817-A0C7-1593-D4C865E57762}"/>
              </a:ext>
            </a:extLst>
          </p:cNvPr>
          <p:cNvSpPr txBox="1"/>
          <p:nvPr/>
        </p:nvSpPr>
        <p:spPr>
          <a:xfrm>
            <a:off x="677333" y="1113951"/>
            <a:ext cx="8829273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4.2.1 Fine-Tuning LLMs for Test tasks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>
                <a:solidFill>
                  <a:srgbClr val="FF0000"/>
                </a:solidFill>
              </a:rPr>
              <a:t>Challenges in Fine-Tuning for Testing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dirty="0"/>
              <a:t>Fine-tuning introduces specific engineering challenges that must be managed:</a:t>
            </a:r>
          </a:p>
          <a:p>
            <a:pPr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Data Quality (Garbage In, Garbage Out)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– To avoid biased or inaccurate results, the training dataset must be high-quality, task-specific, and representative of the actual software environment.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The Overfitting Trap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– When a model becomes too specialized to the training data, it loses its "generalization" ability and might fail when it encounters a new, slightly different feature or scenario.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Model Opacity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– A lack of transparency in reasoning makes it hard for testers to validate why a specific test case was generated, complicating the debugging of the AI's logic.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Resource Constraints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/>
              <a:t>– Fine-tuning large models requires significant GPU/TPU power, making the strategy for choosing between SLMs and LLMs critical for budget management.</a:t>
            </a:r>
          </a:p>
        </p:txBody>
      </p:sp>
    </p:spTree>
    <p:extLst>
      <p:ext uri="{BB962C8B-B14F-4D97-AF65-F5344CB8AC3E}">
        <p14:creationId xmlns:p14="http://schemas.microsoft.com/office/powerpoint/2010/main" val="20519621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76DDF-AF37-1452-3472-DE3E50E20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BF0F94-ADB0-2017-DFFD-2C552C03E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56660C-2808-FC66-8607-B49C6D906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9B6EDB-109D-4787-5AAD-89590DE89F2D}"/>
              </a:ext>
            </a:extLst>
          </p:cNvPr>
          <p:cNvSpPr txBox="1"/>
          <p:nvPr/>
        </p:nvSpPr>
        <p:spPr>
          <a:xfrm>
            <a:off x="606389" y="1395961"/>
            <a:ext cx="826171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4.2.1 Fine-Tuning LLMs for Test tasks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>
                <a:solidFill>
                  <a:srgbClr val="FF0000"/>
                </a:solidFill>
              </a:rPr>
              <a:t>Managing Fine-Tuning Challenges</a:t>
            </a:r>
          </a:p>
          <a:p>
            <a:pPr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Preventing Overfitting</a:t>
            </a:r>
            <a:endParaRPr lang="en-US" sz="1600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Use validation datasets (unseen data) during training to ensure the model still performs well on new scenarios.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Addressing Opacity</a:t>
            </a:r>
            <a:endParaRPr lang="en-US" sz="1600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Implement Human-in-the-Loop reviews where senior testers audit the model's reasoning during the pilot phase.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Dataset Auditing</a:t>
            </a:r>
            <a:endParaRPr lang="en-US" sz="1600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Regularly scan training data for bias to ensure the generated tests don't ignore specific user paths or edge cases.</a:t>
            </a:r>
          </a:p>
        </p:txBody>
      </p:sp>
    </p:spTree>
    <p:extLst>
      <p:ext uri="{BB962C8B-B14F-4D97-AF65-F5344CB8AC3E}">
        <p14:creationId xmlns:p14="http://schemas.microsoft.com/office/powerpoint/2010/main" val="22726482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53442-3142-5EB1-7F21-2CB18DCC1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C9FD2D-BC51-2730-707B-EBC3D759C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18477A-969D-CBFE-1E6F-DFCBF370B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CFC402-92BA-DDC4-1EA9-FB511F443B10}"/>
              </a:ext>
            </a:extLst>
          </p:cNvPr>
          <p:cNvSpPr txBox="1"/>
          <p:nvPr/>
        </p:nvSpPr>
        <p:spPr>
          <a:xfrm>
            <a:off x="677334" y="1270000"/>
            <a:ext cx="852572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4.2.2 </a:t>
            </a:r>
            <a:r>
              <a:rPr lang="en-US" sz="1600" b="1" dirty="0" err="1">
                <a:solidFill>
                  <a:srgbClr val="FF0000"/>
                </a:solidFill>
              </a:rPr>
              <a:t>LLMOps</a:t>
            </a:r>
            <a:r>
              <a:rPr lang="en-US" sz="1600" b="1" dirty="0">
                <a:solidFill>
                  <a:srgbClr val="FF0000"/>
                </a:solidFill>
              </a:rPr>
              <a:t> when Deploying and Managing LLMs for Software Testing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>
                <a:solidFill>
                  <a:srgbClr val="FF0000"/>
                </a:solidFill>
              </a:rPr>
              <a:t>Introduction to </a:t>
            </a:r>
            <a:r>
              <a:rPr lang="en-US" sz="1600" b="1" dirty="0" err="1">
                <a:solidFill>
                  <a:srgbClr val="FF0000"/>
                </a:solidFill>
              </a:rPr>
              <a:t>LLMOps</a:t>
            </a:r>
            <a:endParaRPr lang="en-US" sz="1600" b="1" dirty="0">
              <a:solidFill>
                <a:srgbClr val="FF0000"/>
              </a:solidFill>
            </a:endParaRPr>
          </a:p>
          <a:p>
            <a:pPr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/>
              <a:t>LLMOps</a:t>
            </a:r>
            <a:r>
              <a:rPr lang="en-US" sz="1600" dirty="0"/>
              <a:t>, or Large Language Model Operations, refers to a structured set of practices, tools, and processes designed to streamline the development, deployment, and long-term maintenance of LLMs in production.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Why it matters for Testing: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Predictability</a:t>
            </a:r>
            <a:r>
              <a:rPr lang="en-US" sz="1600" dirty="0"/>
              <a:t> – Moving away from "random" AI behavior to reliable test results.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Automation</a:t>
            </a:r>
            <a:r>
              <a:rPr lang="en-US" sz="1600" dirty="0"/>
              <a:t> – Integrating LLMs into CI/CD pipelines.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Governance</a:t>
            </a:r>
            <a:r>
              <a:rPr lang="en-US" sz="1600" dirty="0"/>
              <a:t> – Ensuring the AI remains compliant with organizational standards over time.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goal is to move from experimental scripts to a robust, scalable LLM-powered test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6702540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11D22-A2E1-0429-A150-37E580EF5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584DBF-BC4A-EB83-D733-306BADC60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24BCC1-5F30-46D8-44EF-1A73E3F33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F30038-00D7-B98B-6A5C-FAF088FAD7F0}"/>
              </a:ext>
            </a:extLst>
          </p:cNvPr>
          <p:cNvSpPr txBox="1"/>
          <p:nvPr/>
        </p:nvSpPr>
        <p:spPr>
          <a:xfrm>
            <a:off x="677334" y="1505718"/>
            <a:ext cx="790699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600" b="1" dirty="0"/>
          </a:p>
          <a:p>
            <a:r>
              <a:rPr lang="en-US" sz="1600" b="1" dirty="0">
                <a:solidFill>
                  <a:srgbClr val="FF0000"/>
                </a:solidFill>
              </a:rPr>
              <a:t>4.2.2 </a:t>
            </a:r>
            <a:r>
              <a:rPr lang="en-US" sz="1600" b="1" dirty="0" err="1">
                <a:solidFill>
                  <a:srgbClr val="FF0000"/>
                </a:solidFill>
              </a:rPr>
              <a:t>LLMOps</a:t>
            </a:r>
            <a:r>
              <a:rPr lang="en-US" sz="1600" b="1" dirty="0">
                <a:solidFill>
                  <a:srgbClr val="FF0000"/>
                </a:solidFill>
              </a:rPr>
              <a:t> when Deploying and Managing LLMs for Software Testing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/>
              <a:t>How </a:t>
            </a:r>
            <a:r>
              <a:rPr lang="en-US" sz="1600" b="1" dirty="0" err="1"/>
              <a:t>LLMOps</a:t>
            </a:r>
            <a:r>
              <a:rPr lang="en-US" sz="1600" b="1" dirty="0"/>
              <a:t> decisions are Influenced?</a:t>
            </a:r>
          </a:p>
          <a:p>
            <a:pPr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use of generative AI in an organization's test processes can be accomplished in a few different ways, which will influence the </a:t>
            </a:r>
            <a:r>
              <a:rPr lang="en-US" sz="1600" dirty="0" err="1"/>
              <a:t>LLMOps</a:t>
            </a:r>
            <a:r>
              <a:rPr lang="en-US" sz="1600" dirty="0"/>
              <a:t> decisions to be made.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Here are three possible approaches: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Using an AI Chatbot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Using a test tool with generative AI capabilities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In-house development of a test tool based on generative AI.</a:t>
            </a:r>
          </a:p>
        </p:txBody>
      </p:sp>
    </p:spTree>
    <p:extLst>
      <p:ext uri="{BB962C8B-B14F-4D97-AF65-F5344CB8AC3E}">
        <p14:creationId xmlns:p14="http://schemas.microsoft.com/office/powerpoint/2010/main" val="34246761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D6957-6EF3-8840-45CC-B4451A61E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E1F071-01E3-DCB6-F28C-3FDA50B0C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A3BCA8B-8A7B-775D-1D44-97FB1C59E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542818-7AAE-0249-80DA-A9D5A6C10E22}"/>
              </a:ext>
            </a:extLst>
          </p:cNvPr>
          <p:cNvSpPr txBox="1"/>
          <p:nvPr/>
        </p:nvSpPr>
        <p:spPr>
          <a:xfrm>
            <a:off x="748277" y="1225689"/>
            <a:ext cx="804888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4.2.2 </a:t>
            </a:r>
            <a:r>
              <a:rPr lang="en-US" sz="1600" b="1" dirty="0" err="1">
                <a:solidFill>
                  <a:srgbClr val="FF0000"/>
                </a:solidFill>
              </a:rPr>
              <a:t>LLMOps</a:t>
            </a:r>
            <a:r>
              <a:rPr lang="en-US" sz="1600" b="1" dirty="0">
                <a:solidFill>
                  <a:srgbClr val="FF0000"/>
                </a:solidFill>
              </a:rPr>
              <a:t> when Deploying and Managing LLMs for Software Testing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>
                <a:solidFill>
                  <a:srgbClr val="FF0000"/>
                </a:solidFill>
              </a:rPr>
              <a:t>Using an AI Chatbot</a:t>
            </a:r>
          </a:p>
          <a:p>
            <a:pPr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primary considerations for this approach include managing data privacy and security risks while optimizing cost.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Organizations might use </a:t>
            </a:r>
            <a:r>
              <a:rPr lang="en-US" sz="1600" b="1" dirty="0"/>
              <a:t>LLM-as-a-Service platforms</a:t>
            </a:r>
            <a:r>
              <a:rPr lang="en-US" sz="1600" dirty="0"/>
              <a:t> if the necessary assurances are given or deploy </a:t>
            </a:r>
            <a:r>
              <a:rPr lang="en-US" sz="1600" b="1" dirty="0"/>
              <a:t>in-house infrastructure using open-source licensed LLMs</a:t>
            </a:r>
            <a:r>
              <a:rPr lang="en-US" sz="1600" dirty="0"/>
              <a:t> for greater control.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Key </a:t>
            </a:r>
            <a:r>
              <a:rPr lang="en-US" sz="1600" b="1" dirty="0" err="1">
                <a:solidFill>
                  <a:srgbClr val="FF0000"/>
                </a:solidFill>
              </a:rPr>
              <a:t>LLMOps</a:t>
            </a:r>
            <a:r>
              <a:rPr lang="en-US" sz="1600" b="1" dirty="0">
                <a:solidFill>
                  <a:srgbClr val="FF0000"/>
                </a:solidFill>
              </a:rPr>
              <a:t> Decisions: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Data Privacy</a:t>
            </a:r>
            <a:r>
              <a:rPr lang="en-US" sz="1600" dirty="0"/>
              <a:t> – Rigorous assessment of how "prompts" are used (ensuring they aren't used for public training).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Cost Optimization</a:t>
            </a:r>
            <a:r>
              <a:rPr lang="en-US" sz="1600" dirty="0"/>
              <a:t> – Managing token usage and subscription tiers.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Security</a:t>
            </a:r>
            <a:r>
              <a:rPr lang="en-US" sz="1600" dirty="0"/>
              <a:t> – Preventing sensitive test data (PII or proprietary logic) from leaking to external vendors.</a:t>
            </a:r>
          </a:p>
        </p:txBody>
      </p:sp>
    </p:spTree>
    <p:extLst>
      <p:ext uri="{BB962C8B-B14F-4D97-AF65-F5344CB8AC3E}">
        <p14:creationId xmlns:p14="http://schemas.microsoft.com/office/powerpoint/2010/main" val="1881187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28850-D418-BD2E-1B40-25A94FA31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F32321C-D174-9D84-72E3-48C5821B7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1FDD77-DD23-3F6B-171B-65397B3F9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1FE737-5D5B-7034-99C3-3EAD52CF2F33}"/>
              </a:ext>
            </a:extLst>
          </p:cNvPr>
          <p:cNvSpPr txBox="1"/>
          <p:nvPr/>
        </p:nvSpPr>
        <p:spPr>
          <a:xfrm>
            <a:off x="606390" y="1170087"/>
            <a:ext cx="859666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4.2.2 </a:t>
            </a:r>
            <a:r>
              <a:rPr lang="en-US" sz="1600" b="1" dirty="0" err="1">
                <a:solidFill>
                  <a:srgbClr val="FF0000"/>
                </a:solidFill>
              </a:rPr>
              <a:t>LLMOps</a:t>
            </a:r>
            <a:r>
              <a:rPr lang="en-US" sz="1600" b="1" dirty="0">
                <a:solidFill>
                  <a:srgbClr val="FF0000"/>
                </a:solidFill>
              </a:rPr>
              <a:t> when Deploying and Managing LLMs for Software Testing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>
                <a:solidFill>
                  <a:srgbClr val="FF0000"/>
                </a:solidFill>
              </a:rPr>
              <a:t>Using a test tool with generative AI capabilities</a:t>
            </a:r>
          </a:p>
          <a:p>
            <a:pPr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This approach involves using established testing tools that have built-in Generative AI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This approach has similar considerations to AI chatbots, such as data privacy, security, and operational costs.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Operational Considerations: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Deep-diving into the security and performance assurances provided by the tool provider.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Evaluating how the AI features complement or disrupt existing manual and automated workflows.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Strategic Requirements: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Cost-Benefit Analysis should be done to check if the AI feature justifies the additional license cost.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Risk Assessment of the cloud or on-prem offering to choose the best option as per organizational needs.</a:t>
            </a:r>
          </a:p>
        </p:txBody>
      </p:sp>
    </p:spTree>
    <p:extLst>
      <p:ext uri="{BB962C8B-B14F-4D97-AF65-F5344CB8AC3E}">
        <p14:creationId xmlns:p14="http://schemas.microsoft.com/office/powerpoint/2010/main" val="20260208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99EC1-E2A7-215F-AA9A-8B858E095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083DD1-3737-9F6C-BE3D-154DAF018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7B9B7C-0F72-17EE-AF9F-E6407BF04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4EF141-F9A3-9B01-A6DF-1F27848BA0B1}"/>
              </a:ext>
            </a:extLst>
          </p:cNvPr>
          <p:cNvSpPr txBox="1"/>
          <p:nvPr/>
        </p:nvSpPr>
        <p:spPr>
          <a:xfrm>
            <a:off x="677334" y="1243466"/>
            <a:ext cx="8852921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600" b="1" dirty="0"/>
          </a:p>
          <a:p>
            <a:r>
              <a:rPr lang="en-US" sz="1600" b="1" dirty="0">
                <a:solidFill>
                  <a:srgbClr val="FF0000"/>
                </a:solidFill>
              </a:rPr>
              <a:t>4.2.2 </a:t>
            </a:r>
            <a:r>
              <a:rPr lang="en-US" sz="1600" b="1" dirty="0" err="1">
                <a:solidFill>
                  <a:srgbClr val="FF0000"/>
                </a:solidFill>
              </a:rPr>
              <a:t>LLMOps</a:t>
            </a:r>
            <a:r>
              <a:rPr lang="en-US" sz="1600" b="1" dirty="0">
                <a:solidFill>
                  <a:srgbClr val="FF0000"/>
                </a:solidFill>
              </a:rPr>
              <a:t> when Deploying and Managing LLMs for Software Testing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>
                <a:solidFill>
                  <a:srgbClr val="FF0000"/>
                </a:solidFill>
              </a:rPr>
              <a:t>In-house development of a test tool based on generative AI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dirty="0"/>
              <a:t>For organizations with high security requirements or unique domains, building a proprietary test tool is the most robust path.</a:t>
            </a:r>
          </a:p>
          <a:p>
            <a:pPr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It gives total ownership of data privacy, security protocols, and model </a:t>
            </a:r>
            <a:r>
              <a:rPr lang="en-US" sz="1600" dirty="0" err="1"/>
              <a:t>behaviour</a:t>
            </a:r>
            <a:r>
              <a:rPr lang="en-US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Careful planning should be done for: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Compute Resources</a:t>
            </a:r>
            <a:r>
              <a:rPr lang="en-US" sz="1600" dirty="0"/>
              <a:t> – Planning for GPU/cloud costs for hosting and inference.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Staff Expertise</a:t>
            </a:r>
            <a:r>
              <a:rPr lang="en-US" sz="1600" dirty="0"/>
              <a:t> – Need for specialized skills in LLM infrastructure and deployment.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Validation &amp; Maintenance</a:t>
            </a:r>
            <a:r>
              <a:rPr lang="en-US" sz="1600" dirty="0"/>
              <a:t> – Establishing "structured processes" to validate that the custom tool's reasoning remains accurate as the software evolves.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Developing in-house solutions requires expertise in implementing and deploying an LLM-powered test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41061592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DC5DA-D4E8-446A-9948-2348B4A91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2DC938-3997-E927-291D-750BC9625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Chapter 4 - LLM-Powered Test Infrastructure for Software Testing</a:t>
            </a:r>
            <a:endParaRPr lang="en-IN" sz="2000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B11B92-C37C-1945-0F74-DF2E386E7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390" y="1395961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1B002B-E305-1291-EFEC-E19D95847B66}"/>
              </a:ext>
            </a:extLst>
          </p:cNvPr>
          <p:cNvSpPr txBox="1"/>
          <p:nvPr/>
        </p:nvSpPr>
        <p:spPr>
          <a:xfrm>
            <a:off x="606389" y="1270000"/>
            <a:ext cx="819865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600" b="1" dirty="0"/>
          </a:p>
          <a:p>
            <a:r>
              <a:rPr lang="en-US" sz="1600" b="1" dirty="0">
                <a:solidFill>
                  <a:srgbClr val="FF0000"/>
                </a:solidFill>
              </a:rPr>
              <a:t>4.2.2 </a:t>
            </a:r>
            <a:r>
              <a:rPr lang="en-US" sz="1600" b="1" dirty="0" err="1">
                <a:solidFill>
                  <a:srgbClr val="FF0000"/>
                </a:solidFill>
              </a:rPr>
              <a:t>LLMOps</a:t>
            </a:r>
            <a:r>
              <a:rPr lang="en-US" sz="1600" b="1" dirty="0">
                <a:solidFill>
                  <a:srgbClr val="FF0000"/>
                </a:solidFill>
              </a:rPr>
              <a:t> when Deploying and Managing LLMs for Software Testing</a:t>
            </a:r>
          </a:p>
          <a:p>
            <a:pPr>
              <a:buNone/>
            </a:pPr>
            <a:endParaRPr lang="en-US" sz="1600" b="1" dirty="0"/>
          </a:p>
          <a:p>
            <a:pPr>
              <a:buNone/>
            </a:pPr>
            <a:r>
              <a:rPr lang="en-US" sz="1600" b="1" dirty="0">
                <a:solidFill>
                  <a:srgbClr val="FF0000"/>
                </a:solidFill>
              </a:rPr>
              <a:t>Approaches for using LLMs in Organizations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dirty="0"/>
              <a:t>These approaches are not mutually exclusive; organizations might:</a:t>
            </a:r>
          </a:p>
          <a:p>
            <a:pPr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 Chatbots for high-level test strategy brainstorming.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 test tools with generative AI capabilities for standard UI/API automation.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Also build custom agents for proprietary, high-security legacy systems.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Incorporate additional technologies</a:t>
            </a:r>
            <a:r>
              <a:rPr lang="en-US" sz="1600" dirty="0"/>
              <a:t> (to enhance the effectiveness and adaptability of the test processes with GenAI):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Enhancing these tools using </a:t>
            </a:r>
            <a:r>
              <a:rPr lang="en-US" sz="1600" b="1" dirty="0"/>
              <a:t>RAG</a:t>
            </a:r>
            <a:r>
              <a:rPr lang="en-US" sz="1600" dirty="0"/>
              <a:t> for real-time requirement alignment.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Fine-tuning</a:t>
            </a:r>
            <a:r>
              <a:rPr lang="en-US" sz="1600" dirty="0"/>
              <a:t> specific LLMs/SLMs to master the organization's unique domain vocabulary.</a:t>
            </a:r>
          </a:p>
        </p:txBody>
      </p:sp>
    </p:spTree>
    <p:extLst>
      <p:ext uri="{BB962C8B-B14F-4D97-AF65-F5344CB8AC3E}">
        <p14:creationId xmlns:p14="http://schemas.microsoft.com/office/powerpoint/2010/main" val="18135150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D6FE2-A69A-379F-6E85-511DA0797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CE3108-2079-5859-6CB6-75F61196A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892" y="2699595"/>
            <a:ext cx="8596668" cy="1320800"/>
          </a:xfrm>
        </p:spPr>
        <p:txBody>
          <a:bodyPr>
            <a:normAutofit/>
          </a:bodyPr>
          <a:lstStyle/>
          <a:p>
            <a:r>
              <a:rPr lang="en-IN" sz="2000" dirty="0">
                <a:solidFill>
                  <a:srgbClr val="FF0000"/>
                </a:solidFill>
              </a:rPr>
              <a:t>							Thank You</a:t>
            </a:r>
          </a:p>
        </p:txBody>
      </p:sp>
    </p:spTree>
    <p:extLst>
      <p:ext uri="{BB962C8B-B14F-4D97-AF65-F5344CB8AC3E}">
        <p14:creationId xmlns:p14="http://schemas.microsoft.com/office/powerpoint/2010/main" val="299911496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1539</TotalTime>
  <Words>3188</Words>
  <Application>Microsoft Office PowerPoint</Application>
  <PresentationFormat>Widescreen</PresentationFormat>
  <Paragraphs>436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Trebuchet MS</vt:lpstr>
      <vt:lpstr>Wingdings 3</vt:lpstr>
      <vt:lpstr>Facet</vt:lpstr>
      <vt:lpstr>ISTQB® Certified Tester – Testing with Generative AI (CT-GenAI) Chapter 4 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Chapter 4 - LLM-Powered Test Infrastructure for Software Testing</vt:lpstr>
      <vt:lpstr>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Anurag Patil</dc:creator>
  <cp:lastModifiedBy>Anurag Patil</cp:lastModifiedBy>
  <cp:revision>469</cp:revision>
  <dcterms:created xsi:type="dcterms:W3CDTF">2026-03-12T15:31:59Z</dcterms:created>
  <dcterms:modified xsi:type="dcterms:W3CDTF">2026-03-27T04:47:44Z</dcterms:modified>
</cp:coreProperties>
</file>