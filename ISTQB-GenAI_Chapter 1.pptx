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67" r:id="rId5"/>
    <p:sldId id="268" r:id="rId6"/>
    <p:sldId id="269" r:id="rId7"/>
    <p:sldId id="281" r:id="rId8"/>
    <p:sldId id="270" r:id="rId9"/>
    <p:sldId id="271" r:id="rId10"/>
    <p:sldId id="272" r:id="rId11"/>
    <p:sldId id="273" r:id="rId12"/>
    <p:sldId id="274" r:id="rId13"/>
    <p:sldId id="275" r:id="rId14"/>
    <p:sldId id="276" r:id="rId15"/>
    <p:sldId id="277" r:id="rId16"/>
    <p:sldId id="258" r:id="rId17"/>
    <p:sldId id="303" r:id="rId18"/>
    <p:sldId id="259" r:id="rId19"/>
    <p:sldId id="279" r:id="rId20"/>
    <p:sldId id="280" r:id="rId21"/>
    <p:sldId id="336" r:id="rId22"/>
    <p:sldId id="374" r:id="rId23"/>
    <p:sldId id="375" r:id="rId24"/>
    <p:sldId id="376" r:id="rId25"/>
    <p:sldId id="377" r:id="rId26"/>
    <p:sldId id="378" r:id="rId27"/>
    <p:sldId id="379" r:id="rId28"/>
    <p:sldId id="304" r:id="rId29"/>
    <p:sldId id="305" r:id="rId30"/>
    <p:sldId id="306" r:id="rId31"/>
    <p:sldId id="308" r:id="rId32"/>
    <p:sldId id="307" r:id="rId33"/>
    <p:sldId id="313" r:id="rId34"/>
    <p:sldId id="314" r:id="rId35"/>
    <p:sldId id="309" r:id="rId36"/>
    <p:sldId id="316" r:id="rId37"/>
    <p:sldId id="315" r:id="rId38"/>
    <p:sldId id="339" r:id="rId39"/>
    <p:sldId id="310" r:id="rId40"/>
    <p:sldId id="311" r:id="rId41"/>
    <p:sldId id="312" r:id="rId42"/>
    <p:sldId id="317" r:id="rId43"/>
    <p:sldId id="318" r:id="rId44"/>
    <p:sldId id="320" r:id="rId45"/>
    <p:sldId id="321" r:id="rId46"/>
    <p:sldId id="322" r:id="rId47"/>
    <p:sldId id="323" r:id="rId48"/>
    <p:sldId id="324" r:id="rId49"/>
    <p:sldId id="325" r:id="rId50"/>
    <p:sldId id="326" r:id="rId51"/>
    <p:sldId id="278" r:id="rId52"/>
    <p:sldId id="282" r:id="rId53"/>
    <p:sldId id="261" r:id="rId54"/>
    <p:sldId id="283" r:id="rId55"/>
    <p:sldId id="285" r:id="rId56"/>
    <p:sldId id="286" r:id="rId57"/>
    <p:sldId id="332" r:id="rId58"/>
    <p:sldId id="333" r:id="rId59"/>
    <p:sldId id="334" r:id="rId60"/>
    <p:sldId id="335" r:id="rId61"/>
    <p:sldId id="287" r:id="rId62"/>
    <p:sldId id="263" r:id="rId63"/>
    <p:sldId id="264" r:id="rId64"/>
    <p:sldId id="291" r:id="rId65"/>
    <p:sldId id="265" r:id="rId66"/>
    <p:sldId id="337" r:id="rId67"/>
    <p:sldId id="380" r:id="rId68"/>
    <p:sldId id="338" r:id="rId69"/>
    <p:sldId id="381" r:id="rId70"/>
    <p:sldId id="288" r:id="rId71"/>
    <p:sldId id="289" r:id="rId72"/>
    <p:sldId id="292" r:id="rId73"/>
    <p:sldId id="293" r:id="rId74"/>
    <p:sldId id="290" r:id="rId75"/>
    <p:sldId id="294" r:id="rId76"/>
    <p:sldId id="295" r:id="rId77"/>
    <p:sldId id="297" r:id="rId78"/>
    <p:sldId id="296" r:id="rId79"/>
    <p:sldId id="298" r:id="rId80"/>
    <p:sldId id="299" r:id="rId81"/>
    <p:sldId id="302" r:id="rId82"/>
    <p:sldId id="300" r:id="rId83"/>
    <p:sldId id="301" r:id="rId84"/>
    <p:sldId id="260" r:id="rId85"/>
    <p:sldId id="262" r:id="rId86"/>
    <p:sldId id="340" r:id="rId87"/>
    <p:sldId id="341" r:id="rId88"/>
    <p:sldId id="346" r:id="rId89"/>
    <p:sldId id="342" r:id="rId90"/>
    <p:sldId id="343" r:id="rId91"/>
    <p:sldId id="344" r:id="rId92"/>
    <p:sldId id="345"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6" r:id="rId111"/>
    <p:sldId id="364" r:id="rId112"/>
    <p:sldId id="365" r:id="rId113"/>
    <p:sldId id="367" r:id="rId114"/>
    <p:sldId id="368" r:id="rId115"/>
    <p:sldId id="371" r:id="rId116"/>
    <p:sldId id="369" r:id="rId117"/>
    <p:sldId id="370" r:id="rId118"/>
    <p:sldId id="372" r:id="rId119"/>
    <p:sldId id="373" r:id="rId1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8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678134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3134502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1269267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D0E007-194F-4F5C-8B15-CB52281D1C06}"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3587217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D0E007-194F-4F5C-8B15-CB52281D1C06}" type="datetimeFigureOut">
              <a:rPr lang="en-IN" smtClean="0"/>
              <a:t>23-03-2026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1207973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D0E007-194F-4F5C-8B15-CB52281D1C06}" type="datetimeFigureOut">
              <a:rPr lang="en-IN" smtClean="0"/>
              <a:t>23-03-2026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2222367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D0E007-194F-4F5C-8B15-CB52281D1C06}" type="datetimeFigureOut">
              <a:rPr lang="en-IN" smtClean="0"/>
              <a:t>23-03-2026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64761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D0E007-194F-4F5C-8B15-CB52281D1C06}"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369079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D0E007-194F-4F5C-8B15-CB52281D1C06}" type="datetimeFigureOut">
              <a:rPr lang="en-IN" smtClean="0"/>
              <a:t>23-03-2026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458567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677856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29309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70771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932028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2729546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205923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0E007-194F-4F5C-8B15-CB52281D1C06}" type="datetimeFigureOut">
              <a:rPr lang="en-IN" smtClean="0"/>
              <a:t>23-03-2026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407938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5D0E007-194F-4F5C-8B15-CB52281D1C06}" type="datetimeFigureOut">
              <a:rPr lang="en-IN" smtClean="0"/>
              <a:t>23-03-2026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828E9CD-ACF0-4824-ACE0-16E4005CD192}" type="slidenum">
              <a:rPr lang="en-IN" smtClean="0"/>
              <a:t>‹#›</a:t>
            </a:fld>
            <a:endParaRPr lang="en-IN"/>
          </a:p>
        </p:txBody>
      </p:sp>
    </p:spTree>
    <p:extLst>
      <p:ext uri="{BB962C8B-B14F-4D97-AF65-F5344CB8AC3E}">
        <p14:creationId xmlns:p14="http://schemas.microsoft.com/office/powerpoint/2010/main" val="15821195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platform.openai.com/tokenizer" TargetMode="External"/><Relationship Id="rId2" Type="http://schemas.openxmlformats.org/officeDocument/2006/relationships/hyperlink" Target="https://copilot.microsoft.com/" TargetMode="External"/><Relationship Id="rId1" Type="http://schemas.openxmlformats.org/officeDocument/2006/relationships/slideLayout" Target="../slideLayouts/slideLayout2.xml"/><Relationship Id="rId4" Type="http://schemas.openxmlformats.org/officeDocument/2006/relationships/hyperlink" Target="https://developers.openai.com/api/docs/models"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06D84-A124-4690-FCC2-C156C497A119}"/>
              </a:ext>
            </a:extLst>
          </p:cNvPr>
          <p:cNvSpPr>
            <a:spLocks noGrp="1"/>
          </p:cNvSpPr>
          <p:nvPr>
            <p:ph type="ctrTitle"/>
          </p:nvPr>
        </p:nvSpPr>
        <p:spPr>
          <a:xfrm>
            <a:off x="-321734" y="2183523"/>
            <a:ext cx="10001761" cy="2688021"/>
          </a:xfrm>
        </p:spPr>
        <p:txBody>
          <a:bodyPr/>
          <a:lstStyle/>
          <a:p>
            <a:r>
              <a:rPr lang="en-US" sz="4000" b="1" dirty="0"/>
              <a:t>ISTQB® Certified Tester – Testing with Generative AI (CT-GenAI) </a:t>
            </a:r>
            <a:endParaRPr lang="en-IN" sz="4000" dirty="0"/>
          </a:p>
        </p:txBody>
      </p:sp>
    </p:spTree>
    <p:extLst>
      <p:ext uri="{BB962C8B-B14F-4D97-AF65-F5344CB8AC3E}">
        <p14:creationId xmlns:p14="http://schemas.microsoft.com/office/powerpoint/2010/main" val="1323851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4B790-E63B-9846-A5EE-B642B8C8A7FF}"/>
              </a:ext>
            </a:extLst>
          </p:cNvPr>
          <p:cNvSpPr>
            <a:spLocks noGrp="1"/>
          </p:cNvSpPr>
          <p:nvPr>
            <p:ph type="title"/>
          </p:nvPr>
        </p:nvSpPr>
        <p:spPr/>
        <p:txBody>
          <a:bodyPr>
            <a:normAutofit fontScale="90000"/>
          </a:bodyPr>
          <a:lstStyle/>
          <a:p>
            <a:r>
              <a:rPr lang="en-IN" dirty="0"/>
              <a:t>Why </a:t>
            </a:r>
            <a:r>
              <a:rPr lang="en-US" b="1" dirty="0"/>
              <a:t>ISTQB® Certified Tester – Testing with Generative AI (CT-GenAI) </a:t>
            </a:r>
            <a:br>
              <a:rPr lang="en-US" b="1" dirty="0"/>
            </a:br>
            <a:endParaRPr lang="en-IN" dirty="0"/>
          </a:p>
        </p:txBody>
      </p:sp>
      <p:sp>
        <p:nvSpPr>
          <p:cNvPr id="3" name="Content Placeholder 2">
            <a:extLst>
              <a:ext uri="{FF2B5EF4-FFF2-40B4-BE49-F238E27FC236}">
                <a16:creationId xmlns:a16="http://schemas.microsoft.com/office/drawing/2014/main" id="{756C06A2-D173-F655-A028-657D881BD253}"/>
              </a:ext>
            </a:extLst>
          </p:cNvPr>
          <p:cNvSpPr>
            <a:spLocks noGrp="1"/>
          </p:cNvSpPr>
          <p:nvPr>
            <p:ph idx="1"/>
          </p:nvPr>
        </p:nvSpPr>
        <p:spPr/>
        <p:txBody>
          <a:bodyPr/>
          <a:lstStyle/>
          <a:p>
            <a:r>
              <a:rPr lang="en-IN" dirty="0"/>
              <a:t>https://istqb.org/istqb-certified-tester-specialist-level-testing-with-generative-ai-ct-genai-press-release/</a:t>
            </a:r>
          </a:p>
        </p:txBody>
      </p:sp>
    </p:spTree>
    <p:extLst>
      <p:ext uri="{BB962C8B-B14F-4D97-AF65-F5344CB8AC3E}">
        <p14:creationId xmlns:p14="http://schemas.microsoft.com/office/powerpoint/2010/main" val="3728317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92819-5BB8-CEAC-A817-759D1CF08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963C1-A06F-8E5E-4B52-97860E9648BB}"/>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E3126BBB-8A5C-D857-48E0-31E71BA570DC}"/>
              </a:ext>
            </a:extLst>
          </p:cNvPr>
          <p:cNvSpPr>
            <a:spLocks noGrp="1"/>
          </p:cNvSpPr>
          <p:nvPr>
            <p:ph idx="1"/>
          </p:nvPr>
        </p:nvSpPr>
        <p:spPr>
          <a:xfrm>
            <a:off x="677334" y="1498437"/>
            <a:ext cx="8596668" cy="4807770"/>
          </a:xfrm>
        </p:spPr>
        <p:txBody>
          <a:bodyPr>
            <a:noAutofit/>
          </a:bodyPr>
          <a:lstStyle/>
          <a:p>
            <a:pPr marL="0" indent="0">
              <a:buNone/>
            </a:pPr>
            <a:r>
              <a:rPr lang="en-US" sz="1400" b="1" dirty="0"/>
              <a:t>0.1 </a:t>
            </a:r>
            <a:r>
              <a:rPr lang="en-US" sz="1400" b="1" dirty="0">
                <a:solidFill>
                  <a:srgbClr val="FF0000"/>
                </a:solidFill>
              </a:rPr>
              <a:t>Purpose of this Syllabus</a:t>
            </a:r>
          </a:p>
          <a:p>
            <a:r>
              <a:rPr lang="en-US" sz="1400" dirty="0"/>
              <a:t>The purpose of the CT-GenAI syllabus is to:</a:t>
            </a:r>
          </a:p>
          <a:p>
            <a:r>
              <a:rPr lang="en-US" sz="1400" dirty="0"/>
              <a:t>Provide a </a:t>
            </a:r>
            <a:r>
              <a:rPr lang="en-US" sz="1400" b="1" dirty="0"/>
              <a:t>foundation for testers to understand Generative AI concepts</a:t>
            </a:r>
            <a:r>
              <a:rPr lang="en-US" sz="1400" dirty="0"/>
              <a:t>.</a:t>
            </a:r>
          </a:p>
          <a:p>
            <a:r>
              <a:rPr lang="en-US" sz="1400" dirty="0"/>
              <a:t>Define the </a:t>
            </a:r>
            <a:r>
              <a:rPr lang="en-US" sz="1400" b="1" dirty="0"/>
              <a:t>knowledge required for testing applications that use Generative AI</a:t>
            </a:r>
            <a:r>
              <a:rPr lang="en-US" sz="1400" dirty="0"/>
              <a:t>.</a:t>
            </a:r>
          </a:p>
          <a:p>
            <a:r>
              <a:rPr lang="en-US" sz="1400" dirty="0"/>
              <a:t>Provide </a:t>
            </a:r>
            <a:r>
              <a:rPr lang="en-US" sz="1400" b="1" dirty="0"/>
              <a:t>guidelines for training providers</a:t>
            </a:r>
            <a:r>
              <a:rPr lang="en-US" sz="1400" dirty="0"/>
              <a:t> who prepare students for the certification.</a:t>
            </a:r>
          </a:p>
          <a:p>
            <a:r>
              <a:rPr lang="en-US" sz="1400" dirty="0"/>
              <a:t>Define the </a:t>
            </a:r>
            <a:r>
              <a:rPr lang="en-US" sz="1400" b="1" dirty="0"/>
              <a:t>learning objectives that are tested in the exam</a:t>
            </a:r>
            <a:r>
              <a:rPr lang="en-US" sz="1400" dirty="0"/>
              <a:t>.</a:t>
            </a:r>
          </a:p>
          <a:p>
            <a:pPr marL="0" indent="0">
              <a:buNone/>
            </a:pPr>
            <a:r>
              <a:rPr lang="en-US" sz="1400" b="1" dirty="0">
                <a:solidFill>
                  <a:srgbClr val="FF0000"/>
                </a:solidFill>
              </a:rPr>
              <a:t>The syllabus is designed for</a:t>
            </a:r>
            <a:r>
              <a:rPr lang="en-US" sz="1400" dirty="0"/>
              <a:t>:</a:t>
            </a:r>
          </a:p>
          <a:p>
            <a:r>
              <a:rPr lang="en-US" sz="1400" dirty="0"/>
              <a:t>Test engineers</a:t>
            </a:r>
          </a:p>
          <a:p>
            <a:r>
              <a:rPr lang="en-US" sz="1400" dirty="0"/>
              <a:t>QA analysts</a:t>
            </a:r>
          </a:p>
          <a:p>
            <a:r>
              <a:rPr lang="en-US" sz="1400" dirty="0"/>
              <a:t>Automation testers</a:t>
            </a:r>
          </a:p>
          <a:p>
            <a:r>
              <a:rPr lang="en-US" sz="1400" dirty="0"/>
              <a:t>Test managers</a:t>
            </a:r>
          </a:p>
          <a:p>
            <a:r>
              <a:rPr lang="en-US" sz="1400" dirty="0"/>
              <a:t>Developers involved in AI systems</a:t>
            </a:r>
          </a:p>
          <a:p>
            <a:r>
              <a:rPr lang="en-US" sz="1400" dirty="0"/>
              <a:t>It ensures testers understand </a:t>
            </a:r>
            <a:r>
              <a:rPr lang="en-US" sz="1400" b="1" dirty="0"/>
              <a:t>how to effectively use and test Generative AI systems</a:t>
            </a:r>
            <a:r>
              <a:rPr lang="en-US" sz="1400" dirty="0"/>
              <a:t>.</a:t>
            </a:r>
          </a:p>
          <a:p>
            <a:pPr marL="0" indent="0">
              <a:buNone/>
            </a:pPr>
            <a:r>
              <a:rPr lang="en-US" sz="1400" b="1" dirty="0">
                <a:solidFill>
                  <a:srgbClr val="FF0000"/>
                </a:solidFill>
              </a:rPr>
              <a:t>https://istqb.org/certifications/gen-ai/</a:t>
            </a:r>
            <a:br>
              <a:rPr lang="en-US" sz="1400" dirty="0"/>
            </a:br>
            <a:endParaRPr lang="en-US" sz="1400" b="1" dirty="0"/>
          </a:p>
          <a:p>
            <a:endParaRPr lang="en-IN" sz="1400" dirty="0"/>
          </a:p>
        </p:txBody>
      </p:sp>
    </p:spTree>
    <p:extLst>
      <p:ext uri="{BB962C8B-B14F-4D97-AF65-F5344CB8AC3E}">
        <p14:creationId xmlns:p14="http://schemas.microsoft.com/office/powerpoint/2010/main" val="2900232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67466-225E-B847-3FD9-0C88A62CA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963A2-2CCC-8E40-07B2-C484D8A4D6B6}"/>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682B2ADA-64AC-B22D-4560-39A3D3A7AA32}"/>
              </a:ext>
            </a:extLst>
          </p:cNvPr>
          <p:cNvSpPr>
            <a:spLocks noGrp="1"/>
          </p:cNvSpPr>
          <p:nvPr>
            <p:ph idx="1"/>
          </p:nvPr>
        </p:nvSpPr>
        <p:spPr>
          <a:xfrm>
            <a:off x="677334" y="1606854"/>
            <a:ext cx="8596668" cy="3880773"/>
          </a:xfrm>
        </p:spPr>
        <p:txBody>
          <a:bodyPr>
            <a:noAutofit/>
          </a:bodyPr>
          <a:lstStyle/>
          <a:p>
            <a:pPr marL="0" indent="0">
              <a:buNone/>
            </a:pPr>
            <a:r>
              <a:rPr lang="en-US" sz="1400" b="1" dirty="0"/>
              <a:t>0.2 Software Testing with Generative AI</a:t>
            </a:r>
          </a:p>
          <a:p>
            <a:r>
              <a:rPr lang="en-US" sz="1400" dirty="0"/>
              <a:t>Generative AI introduces </a:t>
            </a:r>
            <a:r>
              <a:rPr lang="en-US" sz="1400" b="1" dirty="0"/>
              <a:t>new opportunities and challenges for software testing</a:t>
            </a:r>
            <a:r>
              <a:rPr lang="en-US" sz="1400" dirty="0"/>
              <a:t>.</a:t>
            </a:r>
          </a:p>
          <a:p>
            <a:pPr marL="0" indent="0">
              <a:buNone/>
            </a:pPr>
            <a:r>
              <a:rPr lang="en-US" sz="1400" b="1" dirty="0">
                <a:solidFill>
                  <a:srgbClr val="FF0000"/>
                </a:solidFill>
              </a:rPr>
              <a:t>Testers can use GenAI to support many testing activities</a:t>
            </a:r>
            <a:r>
              <a:rPr lang="en-US" sz="1400" b="1" dirty="0"/>
              <a:t>:</a:t>
            </a:r>
          </a:p>
          <a:p>
            <a:r>
              <a:rPr lang="en-US" sz="1400" dirty="0"/>
              <a:t>Applications in Testing</a:t>
            </a:r>
          </a:p>
          <a:p>
            <a:r>
              <a:rPr lang="en-US" sz="1400" dirty="0"/>
              <a:t>Generating test cases</a:t>
            </a:r>
          </a:p>
          <a:p>
            <a:r>
              <a:rPr lang="en-US" sz="1400" dirty="0"/>
              <a:t>Creating test data</a:t>
            </a:r>
          </a:p>
          <a:p>
            <a:r>
              <a:rPr lang="en-US" sz="1400" dirty="0"/>
              <a:t>Writing automation scripts</a:t>
            </a:r>
          </a:p>
          <a:p>
            <a:r>
              <a:rPr lang="en-US" sz="1400" dirty="0"/>
              <a:t>Analyzing requirements</a:t>
            </a:r>
          </a:p>
          <a:p>
            <a:r>
              <a:rPr lang="en-US" sz="1400" dirty="0"/>
              <a:t>Detecting defects</a:t>
            </a:r>
          </a:p>
          <a:p>
            <a:r>
              <a:rPr lang="en-US" sz="1400" dirty="0"/>
              <a:t>Generating documentation</a:t>
            </a:r>
          </a:p>
          <a:p>
            <a:endParaRPr lang="en-IN" sz="1400" dirty="0"/>
          </a:p>
        </p:txBody>
      </p:sp>
    </p:spTree>
    <p:extLst>
      <p:ext uri="{BB962C8B-B14F-4D97-AF65-F5344CB8AC3E}">
        <p14:creationId xmlns:p14="http://schemas.microsoft.com/office/powerpoint/2010/main" val="2098897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34CE2-540C-3840-FB1E-1C5CC0786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93F87-37F9-91A5-6596-106D540DE63E}"/>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BD737897-6235-46F6-8CF5-7EF4A33EB080}"/>
              </a:ext>
            </a:extLst>
          </p:cNvPr>
          <p:cNvSpPr>
            <a:spLocks noGrp="1"/>
          </p:cNvSpPr>
          <p:nvPr>
            <p:ph idx="1"/>
          </p:nvPr>
        </p:nvSpPr>
        <p:spPr>
          <a:xfrm>
            <a:off x="677334" y="1488613"/>
            <a:ext cx="8596668" cy="3880773"/>
          </a:xfrm>
        </p:spPr>
        <p:txBody>
          <a:bodyPr>
            <a:normAutofit/>
          </a:bodyPr>
          <a:lstStyle/>
          <a:p>
            <a:pPr marL="0" indent="0">
              <a:buNone/>
            </a:pPr>
            <a:r>
              <a:rPr lang="en-US" sz="1400" b="1" dirty="0">
                <a:solidFill>
                  <a:srgbClr val="FF0000"/>
                </a:solidFill>
              </a:rPr>
              <a:t>Challenges faced when using Generative AI</a:t>
            </a:r>
          </a:p>
          <a:p>
            <a:pPr marL="0" indent="0">
              <a:buNone/>
            </a:pPr>
            <a:r>
              <a:rPr lang="en-US" sz="1400" dirty="0"/>
              <a:t>GenAI systems can produce:</a:t>
            </a:r>
          </a:p>
          <a:p>
            <a:r>
              <a:rPr lang="en-US" sz="1400" dirty="0">
                <a:solidFill>
                  <a:schemeClr val="tx1"/>
                </a:solidFill>
              </a:rPr>
              <a:t>Hallucinations (incorrect answers)</a:t>
            </a:r>
          </a:p>
          <a:p>
            <a:r>
              <a:rPr lang="en-US" sz="1400" dirty="0">
                <a:solidFill>
                  <a:schemeClr val="tx1"/>
                </a:solidFill>
              </a:rPr>
              <a:t>Unpredictable outputs</a:t>
            </a:r>
          </a:p>
          <a:p>
            <a:r>
              <a:rPr lang="en-US" sz="1400" dirty="0">
                <a:solidFill>
                  <a:schemeClr val="tx1"/>
                </a:solidFill>
              </a:rPr>
              <a:t>Security and privacy risks</a:t>
            </a:r>
          </a:p>
          <a:p>
            <a:r>
              <a:rPr lang="en-US" sz="1400" dirty="0">
                <a:solidFill>
                  <a:schemeClr val="tx1"/>
                </a:solidFill>
              </a:rPr>
              <a:t>Therefore, testers must validate and verify GenAI outputs carefully.</a:t>
            </a:r>
          </a:p>
          <a:p>
            <a:pPr marL="0" indent="0">
              <a:buNone/>
            </a:pPr>
            <a:endParaRPr lang="en-IN" sz="1400" dirty="0"/>
          </a:p>
        </p:txBody>
      </p:sp>
    </p:spTree>
    <p:extLst>
      <p:ext uri="{BB962C8B-B14F-4D97-AF65-F5344CB8AC3E}">
        <p14:creationId xmlns:p14="http://schemas.microsoft.com/office/powerpoint/2010/main" val="3059906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FA5C1-BFC7-8178-4242-8533E4F3B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4D9B3-6BDE-C38A-FFF4-2D3F14F31245}"/>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E95CA94E-D041-0196-AA7B-010DEB809237}"/>
              </a:ext>
            </a:extLst>
          </p:cNvPr>
          <p:cNvSpPr>
            <a:spLocks noGrp="1"/>
          </p:cNvSpPr>
          <p:nvPr>
            <p:ph idx="1"/>
          </p:nvPr>
        </p:nvSpPr>
        <p:spPr>
          <a:xfrm>
            <a:off x="677334" y="1488613"/>
            <a:ext cx="9120935" cy="5195966"/>
          </a:xfrm>
        </p:spPr>
        <p:txBody>
          <a:bodyPr>
            <a:normAutofit/>
          </a:bodyPr>
          <a:lstStyle/>
          <a:p>
            <a:pPr marL="0" indent="0">
              <a:buNone/>
            </a:pPr>
            <a:r>
              <a:rPr lang="en-US" sz="1400" b="1" dirty="0"/>
              <a:t>0.3 </a:t>
            </a:r>
            <a:r>
              <a:rPr lang="en-US" sz="1400" b="1" dirty="0">
                <a:solidFill>
                  <a:srgbClr val="FF0000"/>
                </a:solidFill>
              </a:rPr>
              <a:t>Career Path for Testers</a:t>
            </a:r>
          </a:p>
          <a:p>
            <a:r>
              <a:rPr lang="en-US" sz="1400" dirty="0"/>
              <a:t>The CT-GenAI certification is part of the </a:t>
            </a:r>
            <a:r>
              <a:rPr lang="en-US" sz="1400" b="1" dirty="0"/>
              <a:t>ISTQB Certified Tester certification scheme</a:t>
            </a:r>
            <a:r>
              <a:rPr lang="en-US" sz="1400" dirty="0"/>
              <a:t>.</a:t>
            </a:r>
          </a:p>
          <a:p>
            <a:r>
              <a:rPr lang="en-US" sz="1400" dirty="0"/>
              <a:t>Typical testing career path:</a:t>
            </a:r>
          </a:p>
          <a:p>
            <a:r>
              <a:rPr lang="en-US" sz="1400" b="1" dirty="0">
                <a:solidFill>
                  <a:srgbClr val="FF0000"/>
                </a:solidFill>
              </a:rPr>
              <a:t>Foundation Level (CTFL)</a:t>
            </a:r>
            <a:br>
              <a:rPr lang="en-US" sz="1400" dirty="0"/>
            </a:br>
            <a:r>
              <a:rPr lang="en-US" sz="1400" dirty="0"/>
              <a:t>Basic testing concepts.</a:t>
            </a:r>
          </a:p>
          <a:p>
            <a:r>
              <a:rPr lang="en-US" sz="1400" b="1" dirty="0">
                <a:solidFill>
                  <a:srgbClr val="FF0000"/>
                </a:solidFill>
              </a:rPr>
              <a:t>Specialist / Advanced Certifications</a:t>
            </a:r>
            <a:br>
              <a:rPr lang="en-US" sz="1400" dirty="0"/>
            </a:br>
            <a:r>
              <a:rPr lang="en-US" sz="1400" dirty="0"/>
              <a:t>Examples:</a:t>
            </a:r>
          </a:p>
          <a:p>
            <a:pPr lvl="1"/>
            <a:r>
              <a:rPr lang="en-US" sz="1400" dirty="0"/>
              <a:t>Test Automation Engineer</a:t>
            </a:r>
          </a:p>
          <a:p>
            <a:pPr lvl="1"/>
            <a:r>
              <a:rPr lang="en-US" sz="1400" dirty="0"/>
              <a:t>Performance Testing</a:t>
            </a:r>
          </a:p>
          <a:p>
            <a:pPr lvl="1"/>
            <a:r>
              <a:rPr lang="en-US" sz="1400" dirty="0"/>
              <a:t>Security Testing</a:t>
            </a:r>
          </a:p>
          <a:p>
            <a:pPr lvl="1"/>
            <a:r>
              <a:rPr lang="en-US" sz="1400" b="1" dirty="0"/>
              <a:t>Testing with Generative AI (CT-GenAI)</a:t>
            </a:r>
            <a:endParaRPr lang="en-US" sz="1400" dirty="0"/>
          </a:p>
          <a:p>
            <a:r>
              <a:rPr lang="en-US" sz="1400" b="1" dirty="0">
                <a:solidFill>
                  <a:srgbClr val="FF0000"/>
                </a:solidFill>
              </a:rPr>
              <a:t>Expert Level</a:t>
            </a:r>
            <a:br>
              <a:rPr lang="en-US" sz="1400" dirty="0"/>
            </a:br>
            <a:r>
              <a:rPr lang="en-US" sz="1400" dirty="0"/>
              <a:t>Advanced testing leadership roles.</a:t>
            </a:r>
          </a:p>
          <a:p>
            <a:r>
              <a:rPr lang="en-US" sz="1400" dirty="0"/>
              <a:t>The CT-GenAI certification helps testers </a:t>
            </a:r>
            <a:r>
              <a:rPr lang="en-US" sz="1400" b="1" dirty="0"/>
              <a:t>develop skills needed for AI-driven testing environments</a:t>
            </a:r>
            <a:r>
              <a:rPr lang="en-US" sz="1400" dirty="0"/>
              <a:t>.</a:t>
            </a:r>
          </a:p>
          <a:p>
            <a:endParaRPr lang="en-IN" sz="1400" dirty="0"/>
          </a:p>
        </p:txBody>
      </p:sp>
    </p:spTree>
    <p:extLst>
      <p:ext uri="{BB962C8B-B14F-4D97-AF65-F5344CB8AC3E}">
        <p14:creationId xmlns:p14="http://schemas.microsoft.com/office/powerpoint/2010/main" val="634322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0D6D-4FCF-F1C0-FF91-46EDA3978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83CF5-DB3C-2BF8-7B86-81B6B0CABCE4}"/>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0007A33D-D90C-5CE8-4E5E-9838F939578E}"/>
              </a:ext>
            </a:extLst>
          </p:cNvPr>
          <p:cNvSpPr>
            <a:spLocks noGrp="1"/>
          </p:cNvSpPr>
          <p:nvPr>
            <p:ph idx="1"/>
          </p:nvPr>
        </p:nvSpPr>
        <p:spPr>
          <a:xfrm>
            <a:off x="677334" y="1488613"/>
            <a:ext cx="9120935" cy="5195966"/>
          </a:xfrm>
        </p:spPr>
        <p:txBody>
          <a:bodyPr>
            <a:normAutofit/>
          </a:bodyPr>
          <a:lstStyle/>
          <a:p>
            <a:pPr marL="0" indent="0">
              <a:buNone/>
            </a:pPr>
            <a:r>
              <a:rPr lang="en-US" sz="1400" b="1" dirty="0">
                <a:solidFill>
                  <a:srgbClr val="FF0000"/>
                </a:solidFill>
              </a:rPr>
              <a:t>Prerequisite Requirement</a:t>
            </a:r>
          </a:p>
          <a:p>
            <a:r>
              <a:rPr lang="en-US" sz="1400" dirty="0"/>
              <a:t>To register for the CT-GenAI certification:</a:t>
            </a:r>
          </a:p>
          <a:p>
            <a:r>
              <a:rPr lang="en-US" sz="1400" dirty="0"/>
              <a:t>You </a:t>
            </a:r>
            <a:r>
              <a:rPr lang="en-US" sz="1400" b="1" dirty="0"/>
              <a:t>must already have the ISTQB® Certified Tester Foundation Level (CTFL)</a:t>
            </a:r>
            <a:r>
              <a:rPr lang="en-US" sz="1400" dirty="0"/>
              <a:t> certificate.</a:t>
            </a:r>
          </a:p>
          <a:p>
            <a:r>
              <a:rPr lang="en-US" sz="1400" dirty="0"/>
              <a:t>CT-GenAI is a </a:t>
            </a:r>
            <a:r>
              <a:rPr lang="en-US" sz="1400" b="1" dirty="0"/>
              <a:t>specialist-level certification that builds on the Foundation Level knowledge of software testing</a:t>
            </a:r>
            <a:r>
              <a:rPr lang="en-US" sz="1400" dirty="0"/>
              <a:t>. </a:t>
            </a:r>
          </a:p>
          <a:p>
            <a:endParaRPr lang="en-IN" sz="1400" dirty="0"/>
          </a:p>
        </p:txBody>
      </p:sp>
    </p:spTree>
    <p:extLst>
      <p:ext uri="{BB962C8B-B14F-4D97-AF65-F5344CB8AC3E}">
        <p14:creationId xmlns:p14="http://schemas.microsoft.com/office/powerpoint/2010/main" val="3320950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8BC84-8677-F58A-978F-A3B316D15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444D7-5474-1E7D-33D3-7359B1F9F623}"/>
              </a:ext>
            </a:extLst>
          </p:cNvPr>
          <p:cNvSpPr>
            <a:spLocks noGrp="1"/>
          </p:cNvSpPr>
          <p:nvPr>
            <p:ph type="title"/>
          </p:nvPr>
        </p:nvSpPr>
        <p:spPr>
          <a:xfrm>
            <a:off x="677334" y="365235"/>
            <a:ext cx="8596668" cy="1320800"/>
          </a:xfrm>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93AAFB00-C7A0-CF2A-6736-A993837C93F2}"/>
              </a:ext>
            </a:extLst>
          </p:cNvPr>
          <p:cNvSpPr>
            <a:spLocks noGrp="1"/>
          </p:cNvSpPr>
          <p:nvPr>
            <p:ph idx="1"/>
          </p:nvPr>
        </p:nvSpPr>
        <p:spPr>
          <a:xfrm>
            <a:off x="677334" y="1267896"/>
            <a:ext cx="9901328" cy="5006780"/>
          </a:xfrm>
        </p:spPr>
        <p:txBody>
          <a:bodyPr>
            <a:noAutofit/>
          </a:bodyPr>
          <a:lstStyle/>
          <a:p>
            <a:pPr marL="0" indent="0">
              <a:buNone/>
            </a:pPr>
            <a:r>
              <a:rPr lang="en-US" sz="1400" b="1" dirty="0"/>
              <a:t>0.4 </a:t>
            </a:r>
            <a:r>
              <a:rPr lang="en-US" sz="1400" b="1" dirty="0">
                <a:solidFill>
                  <a:srgbClr val="FF0000"/>
                </a:solidFill>
              </a:rPr>
              <a:t>Business Outcomes</a:t>
            </a:r>
          </a:p>
          <a:p>
            <a:r>
              <a:rPr lang="en-US" sz="1400" dirty="0"/>
              <a:t>After completing this certification, professionals should be able to:</a:t>
            </a:r>
          </a:p>
          <a:p>
            <a:r>
              <a:rPr lang="en-US" sz="1400" b="1" dirty="0">
                <a:solidFill>
                  <a:srgbClr val="FF0000"/>
                </a:solidFill>
              </a:rPr>
              <a:t>Understand Generative AI</a:t>
            </a:r>
          </a:p>
          <a:p>
            <a:r>
              <a:rPr lang="en-US" sz="1400" dirty="0"/>
              <a:t>Explain the basics of </a:t>
            </a:r>
            <a:r>
              <a:rPr lang="en-US" sz="1400" b="1" dirty="0"/>
              <a:t>Generative AI and Large Language Models (LLMs)</a:t>
            </a:r>
            <a:r>
              <a:rPr lang="en-US" sz="1400" dirty="0"/>
              <a:t>.</a:t>
            </a:r>
          </a:p>
          <a:p>
            <a:r>
              <a:rPr lang="en-US" sz="1400" b="1" dirty="0">
                <a:solidFill>
                  <a:srgbClr val="FF0000"/>
                </a:solidFill>
              </a:rPr>
              <a:t>Use GenAI in Testing</a:t>
            </a:r>
          </a:p>
          <a:p>
            <a:r>
              <a:rPr lang="en-US" sz="1400" dirty="0">
                <a:solidFill>
                  <a:srgbClr val="FF0000"/>
                </a:solidFill>
              </a:rPr>
              <a:t>Apply </a:t>
            </a:r>
            <a:r>
              <a:rPr lang="en-US" sz="1400" b="1" dirty="0">
                <a:solidFill>
                  <a:srgbClr val="FF0000"/>
                </a:solidFill>
              </a:rPr>
              <a:t>prompt engineering techniques</a:t>
            </a:r>
            <a:r>
              <a:rPr lang="en-US" sz="1400" dirty="0">
                <a:solidFill>
                  <a:srgbClr val="FF0000"/>
                </a:solidFill>
              </a:rPr>
              <a:t>.</a:t>
            </a:r>
          </a:p>
          <a:p>
            <a:r>
              <a:rPr lang="en-US" sz="1400" dirty="0"/>
              <a:t>Generate test cases using AI.</a:t>
            </a:r>
          </a:p>
          <a:p>
            <a:r>
              <a:rPr lang="en-US" sz="1400" dirty="0"/>
              <a:t>Support test automation using GenAI tools.</a:t>
            </a:r>
          </a:p>
          <a:p>
            <a:r>
              <a:rPr lang="en-US" sz="1400" b="1" dirty="0">
                <a:solidFill>
                  <a:srgbClr val="FF0000"/>
                </a:solidFill>
              </a:rPr>
              <a:t>Manage AI Risks</a:t>
            </a:r>
          </a:p>
          <a:p>
            <a:r>
              <a:rPr lang="en-US" sz="1400" dirty="0"/>
              <a:t>Identify risks like:</a:t>
            </a:r>
          </a:p>
          <a:p>
            <a:r>
              <a:rPr lang="en-US" sz="1400" b="1" dirty="0">
                <a:solidFill>
                  <a:srgbClr val="FF0000"/>
                </a:solidFill>
              </a:rPr>
              <a:t>Improve Testing Efficiency</a:t>
            </a:r>
          </a:p>
          <a:p>
            <a:r>
              <a:rPr lang="en-US" sz="1400" dirty="0"/>
              <a:t>Organizations benefit through:</a:t>
            </a:r>
          </a:p>
          <a:p>
            <a:r>
              <a:rPr lang="en-US" sz="1400" dirty="0"/>
              <a:t>Faster test case creation and defect detection</a:t>
            </a:r>
          </a:p>
          <a:p>
            <a:r>
              <a:rPr lang="en-US" sz="1400" dirty="0"/>
              <a:t>Improved test coverage</a:t>
            </a:r>
          </a:p>
          <a:p>
            <a:r>
              <a:rPr lang="en-US" sz="1400" dirty="0"/>
              <a:t>Reduced manual effort</a:t>
            </a:r>
          </a:p>
          <a:p>
            <a:endParaRPr lang="en-IN" sz="1400" dirty="0"/>
          </a:p>
        </p:txBody>
      </p:sp>
    </p:spTree>
    <p:extLst>
      <p:ext uri="{BB962C8B-B14F-4D97-AF65-F5344CB8AC3E}">
        <p14:creationId xmlns:p14="http://schemas.microsoft.com/office/powerpoint/2010/main" val="3037133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30000-6AB8-333D-C268-27AE95E76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CA8D9-BE91-F0C6-1BE0-AF0BB4D1F6D2}"/>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5885E740-6E4A-D94E-D411-6E7E87DCC4A9}"/>
              </a:ext>
            </a:extLst>
          </p:cNvPr>
          <p:cNvSpPr>
            <a:spLocks noGrp="1"/>
          </p:cNvSpPr>
          <p:nvPr>
            <p:ph idx="1"/>
          </p:nvPr>
        </p:nvSpPr>
        <p:spPr>
          <a:xfrm>
            <a:off x="677334" y="1488613"/>
            <a:ext cx="8596668" cy="1320801"/>
          </a:xfrm>
        </p:spPr>
        <p:txBody>
          <a:bodyPr>
            <a:normAutofit/>
          </a:bodyPr>
          <a:lstStyle/>
          <a:p>
            <a:pPr marL="0" indent="0">
              <a:buNone/>
            </a:pPr>
            <a:r>
              <a:rPr lang="en-US" sz="1600" b="1" dirty="0"/>
              <a:t>0.5 Examinable Learning Objectives, Hands-on Objectives and Cognitive Level of Knowledge</a:t>
            </a:r>
          </a:p>
          <a:p>
            <a:r>
              <a:rPr lang="en-US" sz="1600" dirty="0"/>
              <a:t>Each section of the syllabus contains </a:t>
            </a:r>
            <a:r>
              <a:rPr lang="en-US" sz="1600" b="1" dirty="0"/>
              <a:t>learning objectives (LOs)</a:t>
            </a:r>
            <a:r>
              <a:rPr lang="en-US" sz="1600" dirty="0"/>
              <a:t>.</a:t>
            </a:r>
          </a:p>
          <a:p>
            <a:r>
              <a:rPr lang="en-US" sz="1600" dirty="0"/>
              <a:t>These objectives describe </a:t>
            </a:r>
            <a:r>
              <a:rPr lang="en-US" sz="1600" b="1" dirty="0"/>
              <a:t>what candidates must know for the exam</a:t>
            </a:r>
            <a:r>
              <a:rPr lang="en-US" sz="1600" dirty="0"/>
              <a:t>.</a:t>
            </a:r>
          </a:p>
          <a:p>
            <a:endParaRPr lang="en-IN" sz="1600" dirty="0"/>
          </a:p>
        </p:txBody>
      </p:sp>
      <p:pic>
        <p:nvPicPr>
          <p:cNvPr id="7" name="Picture 6">
            <a:extLst>
              <a:ext uri="{FF2B5EF4-FFF2-40B4-BE49-F238E27FC236}">
                <a16:creationId xmlns:a16="http://schemas.microsoft.com/office/drawing/2014/main" id="{245CD482-E270-E769-991F-0979690314E4}"/>
              </a:ext>
            </a:extLst>
          </p:cNvPr>
          <p:cNvPicPr>
            <a:picLocks noChangeAspect="1"/>
          </p:cNvPicPr>
          <p:nvPr/>
        </p:nvPicPr>
        <p:blipFill>
          <a:blip r:embed="rId2"/>
          <a:stretch>
            <a:fillRect/>
          </a:stretch>
        </p:blipFill>
        <p:spPr>
          <a:xfrm>
            <a:off x="114256" y="3002803"/>
            <a:ext cx="8541013" cy="3581584"/>
          </a:xfrm>
          <a:prstGeom prst="rect">
            <a:avLst/>
          </a:prstGeom>
        </p:spPr>
      </p:pic>
    </p:spTree>
    <p:extLst>
      <p:ext uri="{BB962C8B-B14F-4D97-AF65-F5344CB8AC3E}">
        <p14:creationId xmlns:p14="http://schemas.microsoft.com/office/powerpoint/2010/main" val="4099335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DBE28-C070-723A-DAC5-56D1E4D4F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4747A-47BA-F620-004F-3031BA6BEBF1}"/>
              </a:ext>
            </a:extLst>
          </p:cNvPr>
          <p:cNvSpPr>
            <a:spLocks noGrp="1"/>
          </p:cNvSpPr>
          <p:nvPr>
            <p:ph type="title"/>
          </p:nvPr>
        </p:nvSpPr>
        <p:spPr>
          <a:xfrm>
            <a:off x="677334" y="546538"/>
            <a:ext cx="8596668" cy="1320800"/>
          </a:xfrm>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8CFE69C6-C2BB-FF87-1ED6-67DA40A4A528}"/>
              </a:ext>
            </a:extLst>
          </p:cNvPr>
          <p:cNvSpPr>
            <a:spLocks noGrp="1"/>
          </p:cNvSpPr>
          <p:nvPr>
            <p:ph idx="1"/>
          </p:nvPr>
        </p:nvSpPr>
        <p:spPr>
          <a:xfrm>
            <a:off x="677334" y="1344394"/>
            <a:ext cx="8596668" cy="3880773"/>
          </a:xfrm>
        </p:spPr>
        <p:txBody>
          <a:bodyPr>
            <a:normAutofit/>
          </a:bodyPr>
          <a:lstStyle/>
          <a:p>
            <a:pPr marL="0" indent="0">
              <a:buNone/>
            </a:pPr>
            <a:r>
              <a:rPr lang="en-US" sz="1400" dirty="0"/>
              <a:t>Example:</a:t>
            </a:r>
          </a:p>
          <a:p>
            <a:r>
              <a:rPr lang="en-US" sz="1400" dirty="0"/>
              <a:t>K1 → Define Generative AI</a:t>
            </a:r>
          </a:p>
          <a:p>
            <a:r>
              <a:rPr lang="en-US" sz="1400" dirty="0"/>
              <a:t>K2 → Explain hallucinations</a:t>
            </a:r>
          </a:p>
          <a:p>
            <a:r>
              <a:rPr lang="en-US" sz="1400" dirty="0"/>
              <a:t>K3 → Apply prompt engineering to create test cases</a:t>
            </a:r>
          </a:p>
          <a:p>
            <a:r>
              <a:rPr lang="en-US" sz="1400" dirty="0"/>
              <a:t>Hands-on objectives are </a:t>
            </a:r>
            <a:r>
              <a:rPr lang="en-US" sz="1400" b="1" dirty="0"/>
              <a:t>practical exercises recommended for training but not tested directly in the exam</a:t>
            </a:r>
            <a:r>
              <a:rPr lang="en-US" sz="1400" dirty="0"/>
              <a:t>.</a:t>
            </a:r>
          </a:p>
          <a:p>
            <a:endParaRPr lang="en-IN" sz="1400" dirty="0"/>
          </a:p>
        </p:txBody>
      </p:sp>
      <p:sp>
        <p:nvSpPr>
          <p:cNvPr id="5" name="TextBox 4">
            <a:extLst>
              <a:ext uri="{FF2B5EF4-FFF2-40B4-BE49-F238E27FC236}">
                <a16:creationId xmlns:a16="http://schemas.microsoft.com/office/drawing/2014/main" id="{8E070CDF-481B-46D5-C742-0AECD6563B4E}"/>
              </a:ext>
            </a:extLst>
          </p:cNvPr>
          <p:cNvSpPr txBox="1"/>
          <p:nvPr/>
        </p:nvSpPr>
        <p:spPr>
          <a:xfrm>
            <a:off x="543909" y="3655506"/>
            <a:ext cx="9680027" cy="2246769"/>
          </a:xfrm>
          <a:prstGeom prst="rect">
            <a:avLst/>
          </a:prstGeom>
          <a:noFill/>
        </p:spPr>
        <p:txBody>
          <a:bodyPr wrap="square">
            <a:spAutoFit/>
          </a:bodyPr>
          <a:lstStyle/>
          <a:p>
            <a:r>
              <a:rPr lang="en-US" sz="1400" dirty="0"/>
              <a:t>The specific hands-on objectives (HO) are shown at the beginning of each chapter. Each HO is linked to a LO at level K2 or K3, with the aim of refining learning through hands-on practice. </a:t>
            </a:r>
          </a:p>
          <a:p>
            <a:endParaRPr lang="en-US" sz="1400" dirty="0"/>
          </a:p>
          <a:p>
            <a:r>
              <a:rPr lang="en-US" sz="1400" dirty="0"/>
              <a:t>The level of a HO is classified as follows:  </a:t>
            </a:r>
          </a:p>
          <a:p>
            <a:endParaRPr lang="en-US" sz="1400" dirty="0"/>
          </a:p>
          <a:p>
            <a:r>
              <a:rPr lang="en-US" sz="1400" dirty="0"/>
              <a:t>• H0: This can include a live demo of an exercise or recorded video. Since this is not performed by the trainee, it is not strictly an exercise.  </a:t>
            </a:r>
          </a:p>
          <a:p>
            <a:r>
              <a:rPr lang="en-US" sz="1400" dirty="0"/>
              <a:t>• H1: Guided exercise. The trainees follow a sequence of steps performed by the trainer. </a:t>
            </a:r>
          </a:p>
          <a:p>
            <a:r>
              <a:rPr lang="en-US" sz="1400" dirty="0"/>
              <a:t>• H2: Exercise with hints. The trainee is given an exercise with relevant hints to enable the exercise to be solved within the given timeframe. </a:t>
            </a:r>
            <a:endParaRPr lang="en-IN" sz="1400" dirty="0"/>
          </a:p>
        </p:txBody>
      </p:sp>
    </p:spTree>
    <p:extLst>
      <p:ext uri="{BB962C8B-B14F-4D97-AF65-F5344CB8AC3E}">
        <p14:creationId xmlns:p14="http://schemas.microsoft.com/office/powerpoint/2010/main" val="38377172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4BF97-9BB1-582C-66D6-2A749A2B6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E3F5A-741D-F58C-8271-7E28419EAA50}"/>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4A043272-EC9A-5CCE-119B-7D277F785426}"/>
              </a:ext>
            </a:extLst>
          </p:cNvPr>
          <p:cNvSpPr>
            <a:spLocks noGrp="1"/>
          </p:cNvSpPr>
          <p:nvPr>
            <p:ph idx="1"/>
          </p:nvPr>
        </p:nvSpPr>
        <p:spPr>
          <a:xfrm>
            <a:off x="677334" y="1488613"/>
            <a:ext cx="8596668" cy="3880773"/>
          </a:xfrm>
        </p:spPr>
        <p:txBody>
          <a:bodyPr>
            <a:normAutofit/>
          </a:bodyPr>
          <a:lstStyle/>
          <a:p>
            <a:r>
              <a:rPr lang="en-US" sz="1400" dirty="0"/>
              <a:t>0.6 </a:t>
            </a:r>
            <a:r>
              <a:rPr lang="en-US" sz="1400" b="1" dirty="0">
                <a:solidFill>
                  <a:srgbClr val="FF0000"/>
                </a:solidFill>
              </a:rPr>
              <a:t>The Certified Tester Testing with Generative AI Certificate Exam</a:t>
            </a:r>
            <a:endParaRPr lang="en-IN" sz="1400" b="1" dirty="0">
              <a:solidFill>
                <a:srgbClr val="FF0000"/>
              </a:solidFill>
            </a:endParaRPr>
          </a:p>
        </p:txBody>
      </p:sp>
      <p:pic>
        <p:nvPicPr>
          <p:cNvPr id="7" name="Picture 6">
            <a:extLst>
              <a:ext uri="{FF2B5EF4-FFF2-40B4-BE49-F238E27FC236}">
                <a16:creationId xmlns:a16="http://schemas.microsoft.com/office/drawing/2014/main" id="{9DEFA9E4-D2FB-5BB7-92C9-2346BD40C604}"/>
              </a:ext>
            </a:extLst>
          </p:cNvPr>
          <p:cNvPicPr>
            <a:picLocks noChangeAspect="1"/>
          </p:cNvPicPr>
          <p:nvPr/>
        </p:nvPicPr>
        <p:blipFill>
          <a:blip r:embed="rId2"/>
          <a:stretch>
            <a:fillRect/>
          </a:stretch>
        </p:blipFill>
        <p:spPr>
          <a:xfrm>
            <a:off x="216081" y="2452228"/>
            <a:ext cx="8352478" cy="2978303"/>
          </a:xfrm>
          <a:prstGeom prst="rect">
            <a:avLst/>
          </a:prstGeom>
        </p:spPr>
      </p:pic>
    </p:spTree>
    <p:extLst>
      <p:ext uri="{BB962C8B-B14F-4D97-AF65-F5344CB8AC3E}">
        <p14:creationId xmlns:p14="http://schemas.microsoft.com/office/powerpoint/2010/main" val="622375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736D0-7033-394E-B657-88B1DC194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2EFCDB-7C4E-DE05-8D10-D94F6478A1A1}"/>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6EECC8D3-A149-19E4-7058-D3ED63B358C5}"/>
              </a:ext>
            </a:extLst>
          </p:cNvPr>
          <p:cNvSpPr>
            <a:spLocks noGrp="1"/>
          </p:cNvSpPr>
          <p:nvPr>
            <p:ph idx="1"/>
          </p:nvPr>
        </p:nvSpPr>
        <p:spPr>
          <a:xfrm>
            <a:off x="677334" y="1488613"/>
            <a:ext cx="8596668" cy="3880773"/>
          </a:xfrm>
        </p:spPr>
        <p:txBody>
          <a:bodyPr>
            <a:normAutofit/>
          </a:bodyPr>
          <a:lstStyle/>
          <a:p>
            <a:pPr marL="0" indent="0">
              <a:buNone/>
            </a:pPr>
            <a:r>
              <a:rPr lang="en-US" sz="1400" b="1" dirty="0"/>
              <a:t>0.7 </a:t>
            </a:r>
            <a:r>
              <a:rPr lang="en-US" sz="1400" b="1" dirty="0">
                <a:solidFill>
                  <a:srgbClr val="FF0000"/>
                </a:solidFill>
              </a:rPr>
              <a:t>Accreditation</a:t>
            </a:r>
          </a:p>
          <a:p>
            <a:r>
              <a:rPr lang="en-US" sz="1400" dirty="0"/>
              <a:t>Training providers offering CT-GenAI courses must be </a:t>
            </a:r>
            <a:r>
              <a:rPr lang="en-US" sz="1400" b="1" dirty="0"/>
              <a:t>accredited by ISTQB member boards</a:t>
            </a:r>
            <a:r>
              <a:rPr lang="en-US" sz="1400" dirty="0"/>
              <a:t>.</a:t>
            </a:r>
          </a:p>
          <a:p>
            <a:r>
              <a:rPr lang="en-US" sz="1400" dirty="0"/>
              <a:t>Accreditation ensures:</a:t>
            </a:r>
          </a:p>
          <a:p>
            <a:r>
              <a:rPr lang="en-US" sz="1400" dirty="0"/>
              <a:t>Training follows the </a:t>
            </a:r>
            <a:r>
              <a:rPr lang="en-US" sz="1400" b="1" dirty="0"/>
              <a:t>official syllabus</a:t>
            </a:r>
            <a:endParaRPr lang="en-US" sz="1400" dirty="0"/>
          </a:p>
          <a:p>
            <a:r>
              <a:rPr lang="en-US" sz="1400" dirty="0"/>
              <a:t>Trainers meet </a:t>
            </a:r>
            <a:r>
              <a:rPr lang="en-US" sz="1400" b="1" dirty="0"/>
              <a:t>quality standards</a:t>
            </a:r>
            <a:endParaRPr lang="en-US" sz="1400" dirty="0"/>
          </a:p>
          <a:p>
            <a:r>
              <a:rPr lang="en-US" sz="1400" dirty="0"/>
              <a:t>Course materials align with the </a:t>
            </a:r>
            <a:r>
              <a:rPr lang="en-US" sz="1400" b="1" dirty="0"/>
              <a:t>learning objectives</a:t>
            </a:r>
            <a:endParaRPr lang="en-US" sz="1400" dirty="0"/>
          </a:p>
          <a:p>
            <a:r>
              <a:rPr lang="en-US" sz="1400" dirty="0"/>
              <a:t>Examples of member boards:</a:t>
            </a:r>
          </a:p>
          <a:p>
            <a:r>
              <a:rPr lang="en-US" sz="1400" dirty="0"/>
              <a:t>ASTQB</a:t>
            </a:r>
          </a:p>
          <a:p>
            <a:r>
              <a:rPr lang="en-US" sz="1400" dirty="0"/>
              <a:t>BCS</a:t>
            </a:r>
          </a:p>
          <a:p>
            <a:r>
              <a:rPr lang="en-US" sz="1400" dirty="0" err="1"/>
              <a:t>iSQI</a:t>
            </a:r>
            <a:endParaRPr lang="en-US" sz="1400" dirty="0"/>
          </a:p>
          <a:p>
            <a:endParaRPr lang="en-IN" sz="1400" dirty="0"/>
          </a:p>
        </p:txBody>
      </p:sp>
    </p:spTree>
    <p:extLst>
      <p:ext uri="{BB962C8B-B14F-4D97-AF65-F5344CB8AC3E}">
        <p14:creationId xmlns:p14="http://schemas.microsoft.com/office/powerpoint/2010/main" val="2461462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9AD81-C054-0CD3-F97C-B409488A6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E76730-6DB4-81B3-53B5-7B27BB187E17}"/>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C9D0748D-4514-4A1E-FB9F-D4DCDD804122}"/>
              </a:ext>
            </a:extLst>
          </p:cNvPr>
          <p:cNvSpPr>
            <a:spLocks noGrp="1"/>
          </p:cNvSpPr>
          <p:nvPr>
            <p:ph idx="1"/>
          </p:nvPr>
        </p:nvSpPr>
        <p:spPr>
          <a:xfrm>
            <a:off x="677334" y="1488613"/>
            <a:ext cx="8596668" cy="3880773"/>
          </a:xfrm>
        </p:spPr>
        <p:txBody>
          <a:bodyPr>
            <a:normAutofit/>
          </a:bodyPr>
          <a:lstStyle/>
          <a:p>
            <a:pPr marL="0" indent="0">
              <a:buNone/>
            </a:pPr>
            <a:r>
              <a:rPr lang="en-US" sz="1400" b="1" dirty="0"/>
              <a:t>0.8 </a:t>
            </a:r>
            <a:r>
              <a:rPr lang="en-US" sz="1400" b="1" dirty="0">
                <a:solidFill>
                  <a:srgbClr val="FF0000"/>
                </a:solidFill>
              </a:rPr>
              <a:t>Handling of Standards</a:t>
            </a:r>
          </a:p>
          <a:p>
            <a:r>
              <a:rPr lang="en-US" sz="1400" dirty="0"/>
              <a:t>The syllabus references </a:t>
            </a:r>
            <a:r>
              <a:rPr lang="en-US" sz="1400" b="1" dirty="0"/>
              <a:t>existing international standards</a:t>
            </a:r>
            <a:r>
              <a:rPr lang="en-US" sz="1400" dirty="0"/>
              <a:t> when relevant.</a:t>
            </a:r>
          </a:p>
          <a:p>
            <a:r>
              <a:rPr lang="en-US" sz="1400" dirty="0"/>
              <a:t>Examples may include:</a:t>
            </a:r>
          </a:p>
          <a:p>
            <a:r>
              <a:rPr lang="en-US" sz="1400" b="1" dirty="0"/>
              <a:t>ISO software quality standards</a:t>
            </a:r>
            <a:endParaRPr lang="en-US" sz="1400" dirty="0"/>
          </a:p>
          <a:p>
            <a:r>
              <a:rPr lang="en-US" sz="1400" b="1" dirty="0"/>
              <a:t>AI governance frameworks</a:t>
            </a:r>
            <a:endParaRPr lang="en-US" sz="1400" dirty="0"/>
          </a:p>
          <a:p>
            <a:r>
              <a:rPr lang="en-US" sz="1400" b="1" dirty="0"/>
              <a:t>security and privacy guidelines</a:t>
            </a:r>
            <a:endParaRPr lang="en-US" sz="1400" dirty="0"/>
          </a:p>
          <a:p>
            <a:r>
              <a:rPr lang="en-US" sz="1400" dirty="0"/>
              <a:t>However, the syllabus focuses on </a:t>
            </a:r>
            <a:r>
              <a:rPr lang="en-US" sz="1400" b="1" dirty="0"/>
              <a:t>testing practices rather than deep standard specifications</a:t>
            </a:r>
            <a:r>
              <a:rPr lang="en-US" sz="1400" dirty="0"/>
              <a:t>.</a:t>
            </a:r>
          </a:p>
          <a:p>
            <a:endParaRPr lang="en-IN" sz="1400" dirty="0"/>
          </a:p>
        </p:txBody>
      </p:sp>
    </p:spTree>
    <p:extLst>
      <p:ext uri="{BB962C8B-B14F-4D97-AF65-F5344CB8AC3E}">
        <p14:creationId xmlns:p14="http://schemas.microsoft.com/office/powerpoint/2010/main" val="1592333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3C777-BE6F-A911-3695-0FF234E98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2F06D-77D9-C6C3-7A19-B00A73CF6D52}"/>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651775B7-6E31-4FF3-5244-22CA770E49AF}"/>
              </a:ext>
            </a:extLst>
          </p:cNvPr>
          <p:cNvSpPr>
            <a:spLocks noGrp="1"/>
          </p:cNvSpPr>
          <p:nvPr>
            <p:ph idx="1"/>
          </p:nvPr>
        </p:nvSpPr>
        <p:spPr>
          <a:xfrm>
            <a:off x="771927" y="1488613"/>
            <a:ext cx="8596668" cy="3880773"/>
          </a:xfrm>
        </p:spPr>
        <p:txBody>
          <a:bodyPr>
            <a:normAutofit/>
          </a:bodyPr>
          <a:lstStyle/>
          <a:p>
            <a:pPr marL="0" indent="0">
              <a:buNone/>
            </a:pPr>
            <a:r>
              <a:rPr lang="en-US" sz="1400" b="1" dirty="0"/>
              <a:t>0.9 </a:t>
            </a:r>
            <a:r>
              <a:rPr lang="en-US" sz="1400" b="1" dirty="0">
                <a:solidFill>
                  <a:srgbClr val="FF0000"/>
                </a:solidFill>
              </a:rPr>
              <a:t>Level of Detail</a:t>
            </a:r>
          </a:p>
          <a:p>
            <a:r>
              <a:rPr lang="en-US" sz="1400" dirty="0"/>
              <a:t>The syllabus defines </a:t>
            </a:r>
            <a:r>
              <a:rPr lang="en-US" sz="1400" b="1" dirty="0"/>
              <a:t>exact depth of knowledge required for the exam</a:t>
            </a:r>
            <a:r>
              <a:rPr lang="en-US" sz="1400" dirty="0"/>
              <a:t>.</a:t>
            </a:r>
          </a:p>
          <a:p>
            <a:r>
              <a:rPr lang="en-US" sz="1400" dirty="0"/>
              <a:t>Key characteristics:</a:t>
            </a:r>
          </a:p>
          <a:p>
            <a:r>
              <a:rPr lang="en-US" sz="1400" dirty="0"/>
              <a:t>Focus on </a:t>
            </a:r>
            <a:r>
              <a:rPr lang="en-US" sz="1400" b="1" dirty="0"/>
              <a:t>practical understanding</a:t>
            </a:r>
            <a:endParaRPr lang="en-US" sz="1400" dirty="0"/>
          </a:p>
          <a:p>
            <a:r>
              <a:rPr lang="en-US" sz="1400" dirty="0"/>
              <a:t>Avoids unnecessary theoretical complexity</a:t>
            </a:r>
          </a:p>
          <a:p>
            <a:r>
              <a:rPr lang="en-US" sz="1400" dirty="0"/>
              <a:t>Emphasizes </a:t>
            </a:r>
            <a:r>
              <a:rPr lang="en-US" sz="1400" b="1" dirty="0"/>
              <a:t>concepts relevant to testers</a:t>
            </a:r>
            <a:endParaRPr lang="en-US" sz="1400" dirty="0"/>
          </a:p>
          <a:p>
            <a:r>
              <a:rPr lang="en-US" sz="1400" dirty="0"/>
              <a:t>Candidates are expected to understand:</a:t>
            </a:r>
          </a:p>
          <a:p>
            <a:r>
              <a:rPr lang="en-US" sz="1400" dirty="0"/>
              <a:t>How Generative AI works</a:t>
            </a:r>
          </a:p>
          <a:p>
            <a:r>
              <a:rPr lang="en-US" sz="1400" dirty="0"/>
              <a:t>How testers can use it</a:t>
            </a:r>
          </a:p>
          <a:p>
            <a:r>
              <a:rPr lang="en-US" sz="1400" dirty="0"/>
              <a:t>Risks associated with AI systems</a:t>
            </a:r>
          </a:p>
          <a:p>
            <a:endParaRPr lang="en-IN" sz="1400" dirty="0"/>
          </a:p>
        </p:txBody>
      </p:sp>
    </p:spTree>
    <p:extLst>
      <p:ext uri="{BB962C8B-B14F-4D97-AF65-F5344CB8AC3E}">
        <p14:creationId xmlns:p14="http://schemas.microsoft.com/office/powerpoint/2010/main" val="3955228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1F38-B7D6-2E49-55D4-B3707707A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AC688-F8C8-FD70-1E76-31CDF5451E2D}"/>
              </a:ext>
            </a:extLst>
          </p:cNvPr>
          <p:cNvSpPr>
            <a:spLocks noGrp="1"/>
          </p:cNvSpPr>
          <p:nvPr>
            <p:ph type="title"/>
          </p:nvPr>
        </p:nvSpPr>
        <p:spPr/>
        <p:txBody>
          <a:bodyPr>
            <a:normAutofit/>
          </a:bodyPr>
          <a:lstStyle/>
          <a:p>
            <a:r>
              <a:rPr lang="en-IN" dirty="0"/>
              <a:t>Introduction – CT-GenAI Syllabus</a:t>
            </a:r>
          </a:p>
        </p:txBody>
      </p:sp>
      <p:sp>
        <p:nvSpPr>
          <p:cNvPr id="3" name="Content Placeholder 2">
            <a:extLst>
              <a:ext uri="{FF2B5EF4-FFF2-40B4-BE49-F238E27FC236}">
                <a16:creationId xmlns:a16="http://schemas.microsoft.com/office/drawing/2014/main" id="{69A524D1-1203-14FB-8871-4366B6CAC80A}"/>
              </a:ext>
            </a:extLst>
          </p:cNvPr>
          <p:cNvSpPr>
            <a:spLocks noGrp="1"/>
          </p:cNvSpPr>
          <p:nvPr>
            <p:ph idx="1"/>
          </p:nvPr>
        </p:nvSpPr>
        <p:spPr>
          <a:xfrm>
            <a:off x="677334" y="1488613"/>
            <a:ext cx="8596668" cy="4454987"/>
          </a:xfrm>
        </p:spPr>
        <p:txBody>
          <a:bodyPr>
            <a:noAutofit/>
          </a:bodyPr>
          <a:lstStyle/>
          <a:p>
            <a:pPr marL="0" indent="0">
              <a:buNone/>
            </a:pPr>
            <a:r>
              <a:rPr lang="en-US" sz="1400" b="1" dirty="0"/>
              <a:t>0.10 </a:t>
            </a:r>
            <a:r>
              <a:rPr lang="en-US" sz="1400" b="1" dirty="0">
                <a:solidFill>
                  <a:srgbClr val="FF0000"/>
                </a:solidFill>
              </a:rPr>
              <a:t>How this Syllabus is Organized</a:t>
            </a:r>
          </a:p>
          <a:p>
            <a:pPr marL="0" indent="0">
              <a:buNone/>
            </a:pPr>
            <a:r>
              <a:rPr lang="en-US" sz="1400" dirty="0"/>
              <a:t>The CT-GenAI syllabus is structured into several chapters:</a:t>
            </a:r>
          </a:p>
          <a:p>
            <a:r>
              <a:rPr lang="en-US" sz="1400" b="1" dirty="0"/>
              <a:t>Introduction to Generative AI for Testing</a:t>
            </a:r>
            <a:endParaRPr lang="en-US" sz="1400" dirty="0"/>
          </a:p>
          <a:p>
            <a:r>
              <a:rPr lang="en-US" sz="1400" b="1" dirty="0"/>
              <a:t>Prompt Engineering for Testing</a:t>
            </a:r>
            <a:endParaRPr lang="en-US" sz="1400" dirty="0"/>
          </a:p>
          <a:p>
            <a:r>
              <a:rPr lang="en-US" sz="1400" b="1" dirty="0"/>
              <a:t>Managing Risks of Generative AI</a:t>
            </a:r>
            <a:endParaRPr lang="en-US" sz="1400" dirty="0"/>
          </a:p>
          <a:p>
            <a:r>
              <a:rPr lang="en-US" sz="1400" b="1" dirty="0"/>
              <a:t>LLM-Powered Test Infrastructure</a:t>
            </a:r>
            <a:endParaRPr lang="en-US" sz="1400" dirty="0"/>
          </a:p>
          <a:p>
            <a:r>
              <a:rPr lang="en-US" sz="1400" b="1" dirty="0"/>
              <a:t>Operationalizing Generative AI (</a:t>
            </a:r>
            <a:r>
              <a:rPr lang="en-US" sz="1400" b="1" dirty="0" err="1"/>
              <a:t>LLMOps</a:t>
            </a:r>
            <a:r>
              <a:rPr lang="en-US" sz="1400" b="1" dirty="0"/>
              <a:t>)</a:t>
            </a:r>
            <a:endParaRPr lang="en-US" sz="1400" dirty="0"/>
          </a:p>
          <a:p>
            <a:r>
              <a:rPr lang="en-US" sz="1400" b="1" dirty="0"/>
              <a:t>Adoption of Generative AI in Organizations</a:t>
            </a:r>
            <a:endParaRPr lang="en-US" sz="1400" dirty="0"/>
          </a:p>
          <a:p>
            <a:r>
              <a:rPr lang="en-US" sz="1400" dirty="0"/>
              <a:t>Each chapter includes:</a:t>
            </a:r>
          </a:p>
          <a:p>
            <a:r>
              <a:rPr lang="en-US" sz="1400" dirty="0"/>
              <a:t>Learning objectives</a:t>
            </a:r>
          </a:p>
          <a:p>
            <a:r>
              <a:rPr lang="en-US" sz="1400" dirty="0"/>
              <a:t>Key concepts</a:t>
            </a:r>
          </a:p>
          <a:p>
            <a:r>
              <a:rPr lang="en-US" sz="1400" dirty="0"/>
              <a:t>Examinable material</a:t>
            </a:r>
          </a:p>
          <a:p>
            <a:endParaRPr lang="en-IN" sz="1400" dirty="0"/>
          </a:p>
        </p:txBody>
      </p:sp>
    </p:spTree>
    <p:extLst>
      <p:ext uri="{BB962C8B-B14F-4D97-AF65-F5344CB8AC3E}">
        <p14:creationId xmlns:p14="http://schemas.microsoft.com/office/powerpoint/2010/main" val="1063718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F561C-463F-8124-2D38-CB21C4B82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CD893-0D8F-1BB3-5098-1BEE751E3DF2}"/>
              </a:ext>
            </a:extLst>
          </p:cNvPr>
          <p:cNvSpPr>
            <a:spLocks noGrp="1"/>
          </p:cNvSpPr>
          <p:nvPr>
            <p:ph type="title"/>
          </p:nvPr>
        </p:nvSpPr>
        <p:spPr/>
        <p:txBody>
          <a:bodyPr>
            <a:normAutofit fontScale="90000"/>
          </a:bodyPr>
          <a:lstStyle/>
          <a:p>
            <a:r>
              <a:rPr lang="en-US" sz="2800" dirty="0">
                <a:solidFill>
                  <a:srgbClr val="FF0000"/>
                </a:solidFill>
              </a:rPr>
              <a:t>Chapter 1</a:t>
            </a:r>
            <a:br>
              <a:rPr lang="en-US" sz="2800" dirty="0">
                <a:solidFill>
                  <a:srgbClr val="FF0000"/>
                </a:solidFill>
              </a:rPr>
            </a:br>
            <a:br>
              <a:rPr lang="en-US" sz="2800" dirty="0">
                <a:solidFill>
                  <a:srgbClr val="FF0000"/>
                </a:solidFill>
              </a:rPr>
            </a:br>
            <a:r>
              <a:rPr lang="en-US" sz="2800" dirty="0">
                <a:solidFill>
                  <a:srgbClr val="FF0000"/>
                </a:solidFill>
              </a:rPr>
              <a:t>1.Introduction to Generative AI for Software Testing</a:t>
            </a:r>
            <a:endParaRPr lang="en-IN" sz="2800" dirty="0">
              <a:solidFill>
                <a:srgbClr val="FF0000"/>
              </a:solidFill>
            </a:endParaRPr>
          </a:p>
        </p:txBody>
      </p:sp>
      <p:pic>
        <p:nvPicPr>
          <p:cNvPr id="5" name="Content Placeholder 4">
            <a:extLst>
              <a:ext uri="{FF2B5EF4-FFF2-40B4-BE49-F238E27FC236}">
                <a16:creationId xmlns:a16="http://schemas.microsoft.com/office/drawing/2014/main" id="{54E62189-AAAB-3362-A43A-0E38419F4263}"/>
              </a:ext>
            </a:extLst>
          </p:cNvPr>
          <p:cNvPicPr>
            <a:picLocks noGrp="1" noChangeAspect="1"/>
          </p:cNvPicPr>
          <p:nvPr>
            <p:ph idx="1"/>
          </p:nvPr>
        </p:nvPicPr>
        <p:blipFill>
          <a:blip r:embed="rId2"/>
          <a:stretch>
            <a:fillRect/>
          </a:stretch>
        </p:blipFill>
        <p:spPr>
          <a:xfrm>
            <a:off x="556250" y="2150017"/>
            <a:ext cx="8359150" cy="3378374"/>
          </a:xfrm>
          <a:prstGeom prst="rect">
            <a:avLst/>
          </a:prstGeom>
        </p:spPr>
      </p:pic>
    </p:spTree>
    <p:extLst>
      <p:ext uri="{BB962C8B-B14F-4D97-AF65-F5344CB8AC3E}">
        <p14:creationId xmlns:p14="http://schemas.microsoft.com/office/powerpoint/2010/main" val="3074676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05FB9-7F2C-364F-7BA1-1CEB2FEEC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61242-DD40-01A2-B777-E1AC8186915A}"/>
              </a:ext>
            </a:extLst>
          </p:cNvPr>
          <p:cNvSpPr>
            <a:spLocks noGrp="1"/>
          </p:cNvSpPr>
          <p:nvPr>
            <p:ph type="title"/>
          </p:nvPr>
        </p:nvSpPr>
        <p:spPr/>
        <p:txBody>
          <a:bodyPr/>
          <a:lstStyle/>
          <a:p>
            <a:r>
              <a:rPr lang="en-IN" b="1" dirty="0">
                <a:solidFill>
                  <a:srgbClr val="FF0000"/>
                </a:solidFill>
              </a:rPr>
              <a:t>Chapter 1</a:t>
            </a:r>
          </a:p>
        </p:txBody>
      </p:sp>
      <p:sp>
        <p:nvSpPr>
          <p:cNvPr id="4" name="Content Placeholder 3">
            <a:extLst>
              <a:ext uri="{FF2B5EF4-FFF2-40B4-BE49-F238E27FC236}">
                <a16:creationId xmlns:a16="http://schemas.microsoft.com/office/drawing/2014/main" id="{4C95B8C5-5760-93FC-6CB7-784AEA426435}"/>
              </a:ext>
            </a:extLst>
          </p:cNvPr>
          <p:cNvSpPr>
            <a:spLocks noGrp="1"/>
          </p:cNvSpPr>
          <p:nvPr>
            <p:ph idx="1"/>
          </p:nvPr>
        </p:nvSpPr>
        <p:spPr>
          <a:xfrm>
            <a:off x="771927" y="1782217"/>
            <a:ext cx="8596668" cy="3880773"/>
          </a:xfrm>
        </p:spPr>
        <p:txBody>
          <a:bodyPr>
            <a:normAutofit/>
          </a:bodyPr>
          <a:lstStyle/>
          <a:p>
            <a:pPr marL="0" indent="0">
              <a:buNone/>
            </a:pPr>
            <a:r>
              <a:rPr lang="en-IN" dirty="0"/>
              <a:t>1.1 Generative AI Foundations and Key Concepts </a:t>
            </a:r>
          </a:p>
          <a:p>
            <a:r>
              <a:rPr lang="en-IN" dirty="0"/>
              <a:t>1.1.1 AI Spectrum: Symbolic AI, Classical Machine Learning, Deep Learning, and Generative AI</a:t>
            </a:r>
          </a:p>
          <a:p>
            <a:r>
              <a:rPr lang="en-IN" dirty="0"/>
              <a:t>1.1.2 Basics of Generative AI and LLMs </a:t>
            </a:r>
          </a:p>
          <a:p>
            <a:r>
              <a:rPr lang="en-IN" dirty="0"/>
              <a:t>1.1.3 Foundation, Instruction-Tuned and Reasoning LLMs</a:t>
            </a:r>
          </a:p>
          <a:p>
            <a:r>
              <a:rPr lang="en-IN" dirty="0"/>
              <a:t>1.1.4 Multimodal LLMs and Vision-Language Models</a:t>
            </a:r>
          </a:p>
          <a:p>
            <a:pPr marL="0" indent="0">
              <a:buNone/>
            </a:pPr>
            <a:r>
              <a:rPr lang="en-IN" dirty="0"/>
              <a:t>1.2 Leveraging Generative AI in Software Testing: Core Principles</a:t>
            </a:r>
          </a:p>
          <a:p>
            <a:r>
              <a:rPr lang="en-IN" dirty="0"/>
              <a:t>1.2.1 Key LLM Capabilities for Test Tasks</a:t>
            </a:r>
          </a:p>
          <a:p>
            <a:r>
              <a:rPr lang="en-IN" dirty="0"/>
              <a:t>1.2.2 AI Chatbots and LLM-Powered Testing Applications for Software Testing</a:t>
            </a:r>
          </a:p>
        </p:txBody>
      </p:sp>
    </p:spTree>
    <p:extLst>
      <p:ext uri="{BB962C8B-B14F-4D97-AF65-F5344CB8AC3E}">
        <p14:creationId xmlns:p14="http://schemas.microsoft.com/office/powerpoint/2010/main" val="814036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F459-9D25-4D63-DBF2-A7BB4557F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4921A-C143-D43D-A7D8-912DBF8F344F}"/>
              </a:ext>
            </a:extLst>
          </p:cNvPr>
          <p:cNvSpPr>
            <a:spLocks noGrp="1"/>
          </p:cNvSpPr>
          <p:nvPr>
            <p:ph type="title"/>
          </p:nvPr>
        </p:nvSpPr>
        <p:spPr>
          <a:xfrm>
            <a:off x="677334" y="609600"/>
            <a:ext cx="8596668" cy="746234"/>
          </a:xfrm>
        </p:spPr>
        <p:txBody>
          <a:bodyPr>
            <a:noAutofit/>
          </a:body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BB5A9967-6F5F-94DE-F887-120AE88F78FE}"/>
              </a:ext>
            </a:extLst>
          </p:cNvPr>
          <p:cNvSpPr>
            <a:spLocks noGrp="1"/>
          </p:cNvSpPr>
          <p:nvPr>
            <p:ph idx="1"/>
          </p:nvPr>
        </p:nvSpPr>
        <p:spPr>
          <a:xfrm>
            <a:off x="677334" y="1355833"/>
            <a:ext cx="5605225" cy="4974021"/>
          </a:xfrm>
        </p:spPr>
        <p:txBody>
          <a:bodyPr>
            <a:noAutofit/>
          </a:bodyPr>
          <a:lstStyle/>
          <a:p>
            <a:pPr marL="0" indent="0">
              <a:buNone/>
            </a:pPr>
            <a:endParaRPr lang="en-US" sz="1400" b="1" dirty="0"/>
          </a:p>
          <a:p>
            <a:pPr marL="0" indent="0">
              <a:buNone/>
            </a:pPr>
            <a:r>
              <a:rPr lang="en-US" sz="1400" b="1" dirty="0"/>
              <a:t>What is AI and Types of AI</a:t>
            </a:r>
          </a:p>
          <a:p>
            <a:pPr marL="0" indent="0">
              <a:buNone/>
            </a:pPr>
            <a:r>
              <a:rPr lang="en-US" sz="1400" b="1" dirty="0"/>
              <a:t>Artificial Intelligence (AI)</a:t>
            </a:r>
            <a:r>
              <a:rPr lang="en-US" sz="1400" dirty="0"/>
              <a:t> is a branch of computer science that focuses on building machines or software that can </a:t>
            </a:r>
            <a:r>
              <a:rPr lang="en-US" sz="1400" b="1" dirty="0"/>
              <a:t>perform tasks that normally require human intelligence</a:t>
            </a:r>
            <a:r>
              <a:rPr lang="en-US" sz="1400" dirty="0"/>
              <a:t>.</a:t>
            </a:r>
          </a:p>
          <a:p>
            <a:pPr marL="0" indent="0">
              <a:buNone/>
            </a:pPr>
            <a:endParaRPr lang="en-US" sz="1400" dirty="0"/>
          </a:p>
          <a:p>
            <a:r>
              <a:rPr lang="en-US" sz="1400" dirty="0"/>
              <a:t>These tasks include:</a:t>
            </a:r>
          </a:p>
          <a:p>
            <a:r>
              <a:rPr lang="en-US" sz="1400" dirty="0"/>
              <a:t>Learning from data</a:t>
            </a:r>
          </a:p>
          <a:p>
            <a:r>
              <a:rPr lang="en-US" sz="1400" dirty="0"/>
              <a:t>Understanding language</a:t>
            </a:r>
          </a:p>
          <a:p>
            <a:r>
              <a:rPr lang="en-US" sz="1400" dirty="0"/>
              <a:t>Recognizing images and speech</a:t>
            </a:r>
          </a:p>
          <a:p>
            <a:r>
              <a:rPr lang="en-US" sz="1400" dirty="0"/>
              <a:t>Making decisions</a:t>
            </a:r>
          </a:p>
          <a:p>
            <a:r>
              <a:rPr lang="en-US" sz="1400" dirty="0"/>
              <a:t>Solving problems</a:t>
            </a:r>
          </a:p>
          <a:p>
            <a:endParaRPr lang="en-US" sz="1400" dirty="0"/>
          </a:p>
          <a:p>
            <a:pPr marL="0" indent="0">
              <a:buNone/>
            </a:pPr>
            <a:r>
              <a:rPr lang="en-US" sz="1400" dirty="0">
                <a:solidFill>
                  <a:srgbClr val="FF0000"/>
                </a:solidFill>
              </a:rPr>
              <a:t>AI is the ability of a computer or machine to mimic human intelligence.</a:t>
            </a:r>
          </a:p>
          <a:p>
            <a:endParaRPr lang="en-IN" sz="1400" dirty="0"/>
          </a:p>
        </p:txBody>
      </p:sp>
      <p:pic>
        <p:nvPicPr>
          <p:cNvPr id="5" name="Picture 4">
            <a:extLst>
              <a:ext uri="{FF2B5EF4-FFF2-40B4-BE49-F238E27FC236}">
                <a16:creationId xmlns:a16="http://schemas.microsoft.com/office/drawing/2014/main" id="{BBB836BE-99BF-1033-CFC6-6DCDE11329F8}"/>
              </a:ext>
            </a:extLst>
          </p:cNvPr>
          <p:cNvPicPr>
            <a:picLocks noChangeAspect="1"/>
          </p:cNvPicPr>
          <p:nvPr/>
        </p:nvPicPr>
        <p:blipFill>
          <a:blip r:embed="rId2"/>
          <a:stretch>
            <a:fillRect/>
          </a:stretch>
        </p:blipFill>
        <p:spPr>
          <a:xfrm>
            <a:off x="6558455" y="2456774"/>
            <a:ext cx="4840014" cy="2806844"/>
          </a:xfrm>
          <a:prstGeom prst="rect">
            <a:avLst/>
          </a:prstGeom>
        </p:spPr>
      </p:pic>
    </p:spTree>
    <p:extLst>
      <p:ext uri="{BB962C8B-B14F-4D97-AF65-F5344CB8AC3E}">
        <p14:creationId xmlns:p14="http://schemas.microsoft.com/office/powerpoint/2010/main" val="222310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9EB8-26B2-CEA3-88F6-6FD23E3A3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4BE75-B196-5199-74AE-89E6BEFFD139}"/>
              </a:ext>
            </a:extLst>
          </p:cNvPr>
          <p:cNvSpPr>
            <a:spLocks noGrp="1"/>
          </p:cNvSpPr>
          <p:nvPr>
            <p:ph type="title"/>
          </p:nvPr>
        </p:nvSpPr>
        <p:spPr/>
        <p:txBody>
          <a:bodyPr>
            <a:noAutofit/>
          </a:body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B8257CCE-BCD5-E35D-D212-E5840ABD7355}"/>
              </a:ext>
            </a:extLst>
          </p:cNvPr>
          <p:cNvSpPr>
            <a:spLocks noGrp="1"/>
          </p:cNvSpPr>
          <p:nvPr>
            <p:ph idx="1"/>
          </p:nvPr>
        </p:nvSpPr>
        <p:spPr>
          <a:xfrm>
            <a:off x="677334" y="1679029"/>
            <a:ext cx="8596668" cy="4362334"/>
          </a:xfrm>
        </p:spPr>
        <p:txBody>
          <a:bodyPr>
            <a:normAutofit/>
          </a:bodyPr>
          <a:lstStyle/>
          <a:p>
            <a:pPr marL="0" indent="0">
              <a:buNone/>
            </a:pPr>
            <a:r>
              <a:rPr lang="en-US" sz="1400" b="1" dirty="0"/>
              <a:t>Examples of AI</a:t>
            </a:r>
          </a:p>
          <a:p>
            <a:r>
              <a:rPr lang="en-US" sz="1400" dirty="0"/>
              <a:t>Voice assistants (Alexa, Google Assistant)</a:t>
            </a:r>
          </a:p>
          <a:p>
            <a:r>
              <a:rPr lang="en-US" sz="1400" dirty="0"/>
              <a:t>Recommendation systems (YouTube, Netflix)</a:t>
            </a:r>
          </a:p>
          <a:p>
            <a:r>
              <a:rPr lang="en-US" sz="1400" dirty="0"/>
              <a:t>Self-driving cars</a:t>
            </a:r>
          </a:p>
          <a:p>
            <a:r>
              <a:rPr lang="en-US" sz="1400" dirty="0"/>
              <a:t>Chatbots</a:t>
            </a:r>
          </a:p>
          <a:p>
            <a:r>
              <a:rPr lang="en-US" sz="1400" dirty="0"/>
              <a:t>Face recognition systems</a:t>
            </a:r>
          </a:p>
          <a:p>
            <a:endParaRPr lang="en-IN" sz="1400" dirty="0"/>
          </a:p>
        </p:txBody>
      </p:sp>
    </p:spTree>
    <p:extLst>
      <p:ext uri="{BB962C8B-B14F-4D97-AF65-F5344CB8AC3E}">
        <p14:creationId xmlns:p14="http://schemas.microsoft.com/office/powerpoint/2010/main" val="552668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5213-1B33-3372-1305-1911A35DA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DBA99-E020-C989-1117-AD0E57B97EC5}"/>
              </a:ext>
            </a:extLst>
          </p:cNvPr>
          <p:cNvSpPr>
            <a:spLocks noGrp="1"/>
          </p:cNvSpPr>
          <p:nvPr>
            <p:ph type="title"/>
          </p:nvPr>
        </p:nvSpPr>
        <p:spPr/>
        <p:txBody>
          <a:bodyPr>
            <a:noAutofit/>
          </a:bodyPr>
          <a:lstStyle/>
          <a:p>
            <a:br>
              <a:rPr lang="en-US" sz="2800" b="1" dirty="0"/>
            </a:br>
            <a:endParaRPr lang="en-IN" sz="2800" dirty="0"/>
          </a:p>
        </p:txBody>
      </p:sp>
      <p:sp>
        <p:nvSpPr>
          <p:cNvPr id="3" name="Content Placeholder 2">
            <a:extLst>
              <a:ext uri="{FF2B5EF4-FFF2-40B4-BE49-F238E27FC236}">
                <a16:creationId xmlns:a16="http://schemas.microsoft.com/office/drawing/2014/main" id="{B10CF9B6-267D-34A6-CA85-E97E16A09B42}"/>
              </a:ext>
            </a:extLst>
          </p:cNvPr>
          <p:cNvSpPr>
            <a:spLocks noGrp="1"/>
          </p:cNvSpPr>
          <p:nvPr>
            <p:ph idx="1"/>
          </p:nvPr>
        </p:nvSpPr>
        <p:spPr>
          <a:xfrm>
            <a:off x="677334" y="1679029"/>
            <a:ext cx="8596668" cy="4362334"/>
          </a:xfrm>
        </p:spPr>
        <p:txBody>
          <a:bodyPr>
            <a:normAutofit/>
          </a:bodyPr>
          <a:lstStyle/>
          <a:p>
            <a:pPr marL="0" indent="0">
              <a:buNone/>
            </a:pPr>
            <a:r>
              <a:rPr lang="en-US" sz="1400" b="1" dirty="0"/>
              <a:t>What is AI and Types of AI</a:t>
            </a:r>
          </a:p>
          <a:p>
            <a:pPr marL="0" indent="0">
              <a:buNone/>
            </a:pPr>
            <a:r>
              <a:rPr lang="en-US" sz="1400" b="1" dirty="0"/>
              <a:t>Types of Artificial Intelligence</a:t>
            </a:r>
          </a:p>
          <a:p>
            <a:r>
              <a:rPr lang="en-US" sz="1400" b="1" dirty="0"/>
              <a:t>Based on Capabilities</a:t>
            </a:r>
            <a:endParaRPr lang="en-US" sz="1400" dirty="0"/>
          </a:p>
          <a:p>
            <a:r>
              <a:rPr lang="en-US" sz="1400" b="1" dirty="0"/>
              <a:t>Based on Functionality</a:t>
            </a:r>
            <a:endParaRPr lang="en-US" sz="1400" dirty="0"/>
          </a:p>
          <a:p>
            <a:endParaRPr lang="en-IN" sz="1400" dirty="0"/>
          </a:p>
        </p:txBody>
      </p:sp>
      <p:sp>
        <p:nvSpPr>
          <p:cNvPr id="6" name="Title 1">
            <a:extLst>
              <a:ext uri="{FF2B5EF4-FFF2-40B4-BE49-F238E27FC236}">
                <a16:creationId xmlns:a16="http://schemas.microsoft.com/office/drawing/2014/main" id="{EFC3C8B5-45DF-6EB3-8E28-03BFBB3E800D}"/>
              </a:ext>
            </a:extLst>
          </p:cNvPr>
          <p:cNvSpPr txBox="1">
            <a:spLocks/>
          </p:cNvSpPr>
          <p:nvPr/>
        </p:nvSpPr>
        <p:spPr>
          <a:xfrm>
            <a:off x="677334" y="738351"/>
            <a:ext cx="8596668" cy="71207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Tree>
    <p:extLst>
      <p:ext uri="{BB962C8B-B14F-4D97-AF65-F5344CB8AC3E}">
        <p14:creationId xmlns:p14="http://schemas.microsoft.com/office/powerpoint/2010/main" val="1029774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31588-7663-CE02-8A2C-1171A8925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24A0B-7D70-2023-C343-29273D12634F}"/>
              </a:ext>
            </a:extLst>
          </p:cNvPr>
          <p:cNvSpPr>
            <a:spLocks noGrp="1"/>
          </p:cNvSpPr>
          <p:nvPr>
            <p:ph type="title"/>
          </p:nvPr>
        </p:nvSpPr>
        <p:spPr/>
        <p:txBody>
          <a:bodyPr>
            <a:noAutofit/>
          </a:body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2B219215-C6E1-1ACE-4BF8-6B62A207316B}"/>
              </a:ext>
            </a:extLst>
          </p:cNvPr>
          <p:cNvSpPr>
            <a:spLocks noGrp="1"/>
          </p:cNvSpPr>
          <p:nvPr>
            <p:ph idx="1"/>
          </p:nvPr>
        </p:nvSpPr>
        <p:spPr>
          <a:xfrm>
            <a:off x="677334" y="1489842"/>
            <a:ext cx="8596668" cy="4950371"/>
          </a:xfrm>
        </p:spPr>
        <p:txBody>
          <a:bodyPr>
            <a:normAutofit fontScale="92500" lnSpcReduction="10000"/>
          </a:bodyPr>
          <a:lstStyle/>
          <a:p>
            <a:pPr marL="0" indent="0">
              <a:buNone/>
            </a:pPr>
            <a:r>
              <a:rPr lang="en-US" sz="1400" b="1" dirty="0"/>
              <a:t>Types of Artificial Intelligence</a:t>
            </a:r>
          </a:p>
          <a:p>
            <a:r>
              <a:rPr lang="en-US" sz="1400" b="1" dirty="0"/>
              <a:t>Based on Capabilities</a:t>
            </a:r>
          </a:p>
          <a:p>
            <a:pPr marL="0" indent="0">
              <a:buNone/>
            </a:pPr>
            <a:r>
              <a:rPr lang="en-US" sz="1400" b="1" dirty="0"/>
              <a:t>1.1 Narrow AI (Weak AI)</a:t>
            </a:r>
          </a:p>
          <a:p>
            <a:r>
              <a:rPr lang="en-US" sz="1400" dirty="0"/>
              <a:t>Narrow AI is designed to perform </a:t>
            </a:r>
            <a:r>
              <a:rPr lang="en-US" sz="1400" b="1" dirty="0"/>
              <a:t>a specific task only</a:t>
            </a:r>
            <a:r>
              <a:rPr lang="en-US" sz="1400" dirty="0"/>
              <a:t>.</a:t>
            </a:r>
          </a:p>
          <a:p>
            <a:r>
              <a:rPr lang="en-US" sz="1400" b="1" dirty="0"/>
              <a:t>Key Characteristics</a:t>
            </a:r>
          </a:p>
          <a:p>
            <a:r>
              <a:rPr lang="en-US" sz="1400" dirty="0"/>
              <a:t>Specialized in one domain </a:t>
            </a:r>
          </a:p>
          <a:p>
            <a:r>
              <a:rPr lang="en-US" sz="1400" dirty="0"/>
              <a:t>Cannot perform tasks outside its training </a:t>
            </a:r>
          </a:p>
          <a:p>
            <a:r>
              <a:rPr lang="en-US" sz="1400" dirty="0"/>
              <a:t>Most AI systems today fall into this category </a:t>
            </a:r>
          </a:p>
          <a:p>
            <a:pPr marL="0" indent="0">
              <a:buNone/>
            </a:pPr>
            <a:r>
              <a:rPr lang="en-US" sz="1400" b="1" dirty="0"/>
              <a:t>Examples</a:t>
            </a:r>
          </a:p>
          <a:p>
            <a:r>
              <a:rPr lang="en-US" sz="1400" dirty="0"/>
              <a:t>Google Assistant </a:t>
            </a:r>
          </a:p>
          <a:p>
            <a:r>
              <a:rPr lang="en-US" sz="1400" dirty="0"/>
              <a:t>Siri </a:t>
            </a:r>
          </a:p>
          <a:p>
            <a:r>
              <a:rPr lang="en-US" sz="1400" dirty="0"/>
              <a:t>ChatGPT </a:t>
            </a:r>
          </a:p>
          <a:p>
            <a:r>
              <a:rPr lang="en-US" sz="1400" dirty="0"/>
              <a:t>Recommendation systems (Netflix, Amazon) </a:t>
            </a:r>
          </a:p>
          <a:p>
            <a:r>
              <a:rPr lang="en-US" sz="1400" b="1" dirty="0"/>
              <a:t>Explanation</a:t>
            </a:r>
          </a:p>
          <a:p>
            <a:r>
              <a:rPr lang="en-US" sz="1400" dirty="0"/>
              <a:t>Even though systems like ChatGPT feel intelligent, they </a:t>
            </a:r>
            <a:r>
              <a:rPr lang="en-US" sz="1400" b="1" dirty="0"/>
              <a:t>do not possess true understanding or general reasoning across all domains</a:t>
            </a:r>
            <a:r>
              <a:rPr lang="en-US" sz="1400" dirty="0"/>
              <a:t>.</a:t>
            </a:r>
          </a:p>
          <a:p>
            <a:endParaRPr lang="en-IN" sz="1400" dirty="0"/>
          </a:p>
        </p:txBody>
      </p:sp>
    </p:spTree>
    <p:extLst>
      <p:ext uri="{BB962C8B-B14F-4D97-AF65-F5344CB8AC3E}">
        <p14:creationId xmlns:p14="http://schemas.microsoft.com/office/powerpoint/2010/main" val="3775830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E8552-EB27-470A-1507-E8391003F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B6BCC-55C5-E3EC-572A-3C3FC474447F}"/>
              </a:ext>
            </a:extLst>
          </p:cNvPr>
          <p:cNvSpPr>
            <a:spLocks noGrp="1"/>
          </p:cNvSpPr>
          <p:nvPr>
            <p:ph type="title"/>
          </p:nvPr>
        </p:nvSpPr>
        <p:spPr/>
        <p:txBody>
          <a:bodyPr>
            <a:noAutofit/>
          </a:body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2A62C0CE-0BC5-F282-DDA3-C76B3D7D55D4}"/>
              </a:ext>
            </a:extLst>
          </p:cNvPr>
          <p:cNvSpPr>
            <a:spLocks noGrp="1"/>
          </p:cNvSpPr>
          <p:nvPr>
            <p:ph idx="1"/>
          </p:nvPr>
        </p:nvSpPr>
        <p:spPr>
          <a:xfrm>
            <a:off x="748278" y="1269999"/>
            <a:ext cx="9325887" cy="5469759"/>
          </a:xfrm>
        </p:spPr>
        <p:txBody>
          <a:bodyPr>
            <a:noAutofit/>
          </a:bodyPr>
          <a:lstStyle/>
          <a:p>
            <a:pPr marL="0" indent="0">
              <a:buNone/>
            </a:pPr>
            <a:r>
              <a:rPr lang="en-US" sz="1200" b="1" dirty="0"/>
              <a:t>Types of Artificial Intelligence</a:t>
            </a:r>
          </a:p>
          <a:p>
            <a:r>
              <a:rPr lang="en-US" sz="1200" b="1" dirty="0"/>
              <a:t>Based on Capabilities</a:t>
            </a:r>
          </a:p>
          <a:p>
            <a:pPr marL="0" indent="0">
              <a:buNone/>
            </a:pPr>
            <a:r>
              <a:rPr lang="en-US" sz="1200" b="1" dirty="0"/>
              <a:t>1.2 General AI (Strong AI / AGI)</a:t>
            </a:r>
          </a:p>
          <a:p>
            <a:r>
              <a:rPr lang="en-US" sz="1200" dirty="0"/>
              <a:t>General AI refers to machines that can </a:t>
            </a:r>
            <a:r>
              <a:rPr lang="en-US" sz="1200" b="1" dirty="0"/>
              <a:t>perform any intellectual task that a human can do</a:t>
            </a:r>
            <a:r>
              <a:rPr lang="en-US" sz="1200" dirty="0"/>
              <a:t>.</a:t>
            </a:r>
          </a:p>
          <a:p>
            <a:r>
              <a:rPr lang="en-US" sz="1200" b="1" dirty="0"/>
              <a:t>Key Characteristics</a:t>
            </a:r>
          </a:p>
          <a:p>
            <a:r>
              <a:rPr lang="en-US" sz="1200" dirty="0"/>
              <a:t>Human-level intelligence </a:t>
            </a:r>
          </a:p>
          <a:p>
            <a:r>
              <a:rPr lang="en-US" sz="1200" dirty="0"/>
              <a:t>Can reason, learn, and adapt across multiple domains </a:t>
            </a:r>
          </a:p>
          <a:p>
            <a:r>
              <a:rPr lang="en-US" sz="1200" dirty="0"/>
              <a:t>Can transfer knowledge between tasks </a:t>
            </a:r>
          </a:p>
          <a:p>
            <a:r>
              <a:rPr lang="en-US" sz="1200" b="1" dirty="0"/>
              <a:t>Current Status</a:t>
            </a:r>
          </a:p>
          <a:p>
            <a:r>
              <a:rPr lang="en-US" sz="1200" b="1" dirty="0"/>
              <a:t>Not yet achieved</a:t>
            </a:r>
            <a:r>
              <a:rPr lang="en-US" sz="1200" dirty="0"/>
              <a:t> </a:t>
            </a:r>
          </a:p>
          <a:p>
            <a:r>
              <a:rPr lang="en-US" sz="1200" dirty="0"/>
              <a:t>Still a major research goal </a:t>
            </a:r>
          </a:p>
          <a:p>
            <a:pPr marL="0" indent="0">
              <a:buNone/>
            </a:pPr>
            <a:r>
              <a:rPr lang="en-US" sz="1200" b="1" dirty="0"/>
              <a:t>Example (Hypothetical)</a:t>
            </a:r>
          </a:p>
          <a:p>
            <a:r>
              <a:rPr lang="en-US" sz="1200" dirty="0"/>
              <a:t>A robot that can: </a:t>
            </a:r>
          </a:p>
          <a:p>
            <a:pPr lvl="1"/>
            <a:r>
              <a:rPr lang="en-US" sz="1200" dirty="0"/>
              <a:t>Learn math </a:t>
            </a:r>
          </a:p>
          <a:p>
            <a:pPr lvl="1"/>
            <a:r>
              <a:rPr lang="en-US" sz="1200" dirty="0"/>
              <a:t>Drive a car </a:t>
            </a:r>
          </a:p>
          <a:p>
            <a:pPr lvl="1"/>
            <a:r>
              <a:rPr lang="en-US" sz="1200" dirty="0"/>
              <a:t>Write code </a:t>
            </a:r>
          </a:p>
          <a:p>
            <a:pPr lvl="1"/>
            <a:r>
              <a:rPr lang="en-US" sz="1200" dirty="0"/>
              <a:t>Understand emotions</a:t>
            </a:r>
          </a:p>
          <a:p>
            <a:endParaRPr lang="en-IN" sz="1200" dirty="0"/>
          </a:p>
        </p:txBody>
      </p:sp>
    </p:spTree>
    <p:extLst>
      <p:ext uri="{BB962C8B-B14F-4D97-AF65-F5344CB8AC3E}">
        <p14:creationId xmlns:p14="http://schemas.microsoft.com/office/powerpoint/2010/main" val="1352825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6B08-CE5E-CD3F-E2D8-2EE0D66F1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FFF37-3106-1BD4-F0A3-4FCF7592230D}"/>
              </a:ext>
            </a:extLst>
          </p:cNvPr>
          <p:cNvSpPr>
            <a:spLocks noGrp="1"/>
          </p:cNvSpPr>
          <p:nvPr>
            <p:ph type="title"/>
          </p:nvPr>
        </p:nvSpPr>
        <p:spPr/>
        <p:txBody>
          <a:bodyPr>
            <a:noAutofit/>
          </a:body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C1C887CC-9110-C950-7413-695F60BF6AA7}"/>
              </a:ext>
            </a:extLst>
          </p:cNvPr>
          <p:cNvSpPr>
            <a:spLocks noGrp="1"/>
          </p:cNvSpPr>
          <p:nvPr>
            <p:ph idx="1"/>
          </p:nvPr>
        </p:nvSpPr>
        <p:spPr>
          <a:xfrm>
            <a:off x="748278" y="1269999"/>
            <a:ext cx="9325887" cy="5469759"/>
          </a:xfrm>
        </p:spPr>
        <p:txBody>
          <a:bodyPr>
            <a:noAutofit/>
          </a:bodyPr>
          <a:lstStyle/>
          <a:p>
            <a:pPr marL="0" indent="0">
              <a:buNone/>
            </a:pPr>
            <a:r>
              <a:rPr lang="en-US" sz="1200" b="1" dirty="0"/>
              <a:t>Types of Artificial Intelligence</a:t>
            </a:r>
          </a:p>
          <a:p>
            <a:r>
              <a:rPr lang="en-US" sz="1200" b="1" dirty="0"/>
              <a:t>Based on Capabilities</a:t>
            </a:r>
          </a:p>
          <a:p>
            <a:r>
              <a:rPr lang="en-US" sz="1200" b="1" dirty="0"/>
              <a:t>1.3 Super AI</a:t>
            </a:r>
          </a:p>
          <a:p>
            <a:r>
              <a:rPr lang="en-US" sz="1200" dirty="0"/>
              <a:t>Super AI is a level beyond human intelligence.</a:t>
            </a:r>
          </a:p>
          <a:p>
            <a:r>
              <a:rPr lang="en-US" sz="1200" b="1" dirty="0"/>
              <a:t>Key Characteristics</a:t>
            </a:r>
          </a:p>
          <a:p>
            <a:r>
              <a:rPr lang="en-US" sz="1200" dirty="0"/>
              <a:t>Surpasses human intelligence in all aspects: </a:t>
            </a:r>
          </a:p>
          <a:p>
            <a:pPr lvl="1"/>
            <a:r>
              <a:rPr lang="en-US" sz="1200" dirty="0"/>
              <a:t>Creativity </a:t>
            </a:r>
          </a:p>
          <a:p>
            <a:pPr lvl="1"/>
            <a:r>
              <a:rPr lang="en-US" sz="1200" dirty="0"/>
              <a:t>Decision-making </a:t>
            </a:r>
          </a:p>
          <a:p>
            <a:pPr lvl="1"/>
            <a:r>
              <a:rPr lang="en-US" sz="1200" dirty="0"/>
              <a:t>Emotional intelligence </a:t>
            </a:r>
          </a:p>
          <a:p>
            <a:r>
              <a:rPr lang="en-US" sz="1200" dirty="0"/>
              <a:t>Can improve itself (self-evolving systems) </a:t>
            </a:r>
          </a:p>
          <a:p>
            <a:r>
              <a:rPr lang="en-US" sz="1200" b="1" dirty="0"/>
              <a:t>Current Status</a:t>
            </a:r>
          </a:p>
          <a:p>
            <a:r>
              <a:rPr lang="en-US" sz="1200" b="1" dirty="0"/>
              <a:t>Purely theoretical</a:t>
            </a:r>
            <a:r>
              <a:rPr lang="en-US" sz="1200" dirty="0"/>
              <a:t> </a:t>
            </a:r>
          </a:p>
          <a:p>
            <a:r>
              <a:rPr lang="en-US" sz="1200" dirty="0"/>
              <a:t>Often discussed in future AI and ethics debates</a:t>
            </a:r>
          </a:p>
          <a:p>
            <a:endParaRPr lang="en-IN" sz="1200" dirty="0"/>
          </a:p>
        </p:txBody>
      </p:sp>
    </p:spTree>
    <p:extLst>
      <p:ext uri="{BB962C8B-B14F-4D97-AF65-F5344CB8AC3E}">
        <p14:creationId xmlns:p14="http://schemas.microsoft.com/office/powerpoint/2010/main" val="1485508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BAEA-8701-3B6F-F897-48C45790D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FB723-08F8-3B39-A605-EBB095062BB4}"/>
              </a:ext>
            </a:extLst>
          </p:cNvPr>
          <p:cNvSpPr>
            <a:spLocks noGrp="1"/>
          </p:cNvSpPr>
          <p:nvPr>
            <p:ph type="title"/>
          </p:nvPr>
        </p:nvSpPr>
        <p:spPr/>
        <p:txBody>
          <a:bodyPr>
            <a:noAutofit/>
          </a:body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CD783DDA-E605-0DED-F0EB-C271FD6CF2CB}"/>
              </a:ext>
            </a:extLst>
          </p:cNvPr>
          <p:cNvSpPr>
            <a:spLocks noGrp="1"/>
          </p:cNvSpPr>
          <p:nvPr>
            <p:ph idx="1"/>
          </p:nvPr>
        </p:nvSpPr>
        <p:spPr>
          <a:xfrm>
            <a:off x="748278" y="1269999"/>
            <a:ext cx="9325887" cy="5469759"/>
          </a:xfrm>
        </p:spPr>
        <p:txBody>
          <a:bodyPr>
            <a:noAutofit/>
          </a:bodyPr>
          <a:lstStyle/>
          <a:p>
            <a:pPr marL="0" indent="0">
              <a:buNone/>
            </a:pPr>
            <a:r>
              <a:rPr lang="en-US" sz="1200" b="1" dirty="0"/>
              <a:t>Types of Artificial Intelligence</a:t>
            </a:r>
          </a:p>
          <a:p>
            <a:r>
              <a:rPr lang="en-US" sz="1200" b="1" dirty="0"/>
              <a:t>Based on functionality</a:t>
            </a:r>
          </a:p>
          <a:p>
            <a:pPr marL="0" indent="0">
              <a:buNone/>
            </a:pPr>
            <a:r>
              <a:rPr lang="en-US" sz="1200" b="1" dirty="0"/>
              <a:t>2.1 Reactive Machines</a:t>
            </a:r>
          </a:p>
          <a:p>
            <a:r>
              <a:rPr lang="en-US" sz="1200" dirty="0"/>
              <a:t>These AI systems </a:t>
            </a:r>
            <a:r>
              <a:rPr lang="en-US" sz="1200" b="1" dirty="0"/>
              <a:t>do not have memory</a:t>
            </a:r>
            <a:r>
              <a:rPr lang="en-US" sz="1200" dirty="0"/>
              <a:t> and only respond to current inputs.</a:t>
            </a:r>
          </a:p>
          <a:p>
            <a:r>
              <a:rPr lang="en-US" sz="1200" b="1" dirty="0"/>
              <a:t>Key Characteristics</a:t>
            </a:r>
          </a:p>
          <a:p>
            <a:r>
              <a:rPr lang="en-US" sz="1200" dirty="0"/>
              <a:t>No learning from past experiences </a:t>
            </a:r>
          </a:p>
          <a:p>
            <a:r>
              <a:rPr lang="en-US" sz="1200" dirty="0"/>
              <a:t>Works only on present data </a:t>
            </a:r>
          </a:p>
          <a:p>
            <a:r>
              <a:rPr lang="en-US" sz="1200" dirty="0"/>
              <a:t>Very basic AI </a:t>
            </a:r>
          </a:p>
          <a:p>
            <a:pPr marL="0" indent="0">
              <a:buNone/>
            </a:pPr>
            <a:r>
              <a:rPr lang="en-US" sz="1200" b="1" dirty="0"/>
              <a:t>Example</a:t>
            </a:r>
          </a:p>
          <a:p>
            <a:r>
              <a:rPr lang="en-US" sz="1200" dirty="0"/>
              <a:t>IBM Deep Blue </a:t>
            </a:r>
          </a:p>
          <a:p>
            <a:r>
              <a:rPr lang="en-US" sz="1200" b="1" dirty="0"/>
              <a:t>Explanation</a:t>
            </a:r>
          </a:p>
          <a:p>
            <a:r>
              <a:rPr lang="en-US" sz="1200" dirty="0"/>
              <a:t>Deep Blue defeated Garry Kasparov but:</a:t>
            </a:r>
          </a:p>
          <a:p>
            <a:r>
              <a:rPr lang="en-US" sz="1200" dirty="0"/>
              <a:t>It </a:t>
            </a:r>
            <a:r>
              <a:rPr lang="en-US" sz="1200" b="1" dirty="0"/>
              <a:t>could not learn from past games</a:t>
            </a:r>
            <a:r>
              <a:rPr lang="en-US" sz="1200" dirty="0"/>
              <a:t> </a:t>
            </a:r>
          </a:p>
          <a:p>
            <a:r>
              <a:rPr lang="en-US" sz="1200" dirty="0"/>
              <a:t>It only evaluated current board positions</a:t>
            </a:r>
          </a:p>
          <a:p>
            <a:endParaRPr lang="en-IN" sz="1200" dirty="0"/>
          </a:p>
        </p:txBody>
      </p:sp>
    </p:spTree>
    <p:extLst>
      <p:ext uri="{BB962C8B-B14F-4D97-AF65-F5344CB8AC3E}">
        <p14:creationId xmlns:p14="http://schemas.microsoft.com/office/powerpoint/2010/main" val="4013411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36067-A83D-8154-A9D5-6AD483FE4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F9EAF-FAF2-2A11-F003-20D94E86BE3C}"/>
              </a:ext>
            </a:extLst>
          </p:cNvPr>
          <p:cNvSpPr>
            <a:spLocks noGrp="1"/>
          </p:cNvSpPr>
          <p:nvPr>
            <p:ph type="title"/>
          </p:nvPr>
        </p:nvSpPr>
        <p:spPr/>
        <p:txBody>
          <a:bodyPr>
            <a:noAutofit/>
          </a:body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D2B218BA-BAD8-E86E-3954-10C24F032AA9}"/>
              </a:ext>
            </a:extLst>
          </p:cNvPr>
          <p:cNvSpPr>
            <a:spLocks noGrp="1"/>
          </p:cNvSpPr>
          <p:nvPr>
            <p:ph idx="1"/>
          </p:nvPr>
        </p:nvSpPr>
        <p:spPr>
          <a:xfrm>
            <a:off x="748278" y="1269999"/>
            <a:ext cx="9325887" cy="5469759"/>
          </a:xfrm>
        </p:spPr>
        <p:txBody>
          <a:bodyPr>
            <a:noAutofit/>
          </a:bodyPr>
          <a:lstStyle/>
          <a:p>
            <a:pPr marL="0" indent="0">
              <a:buNone/>
            </a:pPr>
            <a:r>
              <a:rPr lang="en-US" sz="1200" b="1" dirty="0"/>
              <a:t>Types of Artificial Intelligence</a:t>
            </a:r>
          </a:p>
          <a:p>
            <a:r>
              <a:rPr lang="en-US" sz="1200" b="1" dirty="0"/>
              <a:t>Based on functionality</a:t>
            </a:r>
          </a:p>
          <a:p>
            <a:pPr marL="0" indent="0">
              <a:buNone/>
            </a:pPr>
            <a:r>
              <a:rPr lang="en-US" sz="1200" b="1" dirty="0"/>
              <a:t>2.2 Limited Memory</a:t>
            </a:r>
          </a:p>
          <a:p>
            <a:r>
              <a:rPr lang="en-US" sz="1200" dirty="0"/>
              <a:t>These systems can </a:t>
            </a:r>
            <a:r>
              <a:rPr lang="en-US" sz="1200" b="1" dirty="0"/>
              <a:t>use past data to improve decisions</a:t>
            </a:r>
            <a:r>
              <a:rPr lang="en-US" sz="1200" dirty="0"/>
              <a:t>.</a:t>
            </a:r>
          </a:p>
          <a:p>
            <a:r>
              <a:rPr lang="en-US" sz="1200" b="1" dirty="0"/>
              <a:t>Key Characteristics</a:t>
            </a:r>
          </a:p>
          <a:p>
            <a:r>
              <a:rPr lang="en-US" sz="1200" dirty="0"/>
              <a:t>Learns from historical data </a:t>
            </a:r>
          </a:p>
          <a:p>
            <a:r>
              <a:rPr lang="en-US" sz="1200" dirty="0"/>
              <a:t>Temporary memory </a:t>
            </a:r>
          </a:p>
          <a:p>
            <a:r>
              <a:rPr lang="en-US" sz="1200" dirty="0"/>
              <a:t>Most modern AI systems belong here </a:t>
            </a:r>
          </a:p>
          <a:p>
            <a:r>
              <a:rPr lang="en-US" sz="1200" b="1" dirty="0"/>
              <a:t>Examples</a:t>
            </a:r>
          </a:p>
          <a:p>
            <a:r>
              <a:rPr lang="en-US" sz="1200" dirty="0"/>
              <a:t>Self-driving cars </a:t>
            </a:r>
          </a:p>
          <a:p>
            <a:r>
              <a:rPr lang="en-US" sz="1200" dirty="0"/>
              <a:t>Recommendation systems </a:t>
            </a:r>
          </a:p>
          <a:p>
            <a:r>
              <a:rPr lang="en-US" sz="1200" dirty="0"/>
              <a:t>Chatbots </a:t>
            </a:r>
          </a:p>
          <a:p>
            <a:r>
              <a:rPr lang="en-US" sz="1200" b="1" dirty="0"/>
              <a:t>Explanation</a:t>
            </a:r>
          </a:p>
          <a:p>
            <a:r>
              <a:rPr lang="en-US" sz="1200" dirty="0"/>
              <a:t>A self-driving car:</a:t>
            </a:r>
          </a:p>
          <a:p>
            <a:r>
              <a:rPr lang="en-US" sz="1200" dirty="0"/>
              <a:t>Remembers speed, distance, surroundings </a:t>
            </a:r>
          </a:p>
          <a:p>
            <a:r>
              <a:rPr lang="en-US" sz="1200" dirty="0"/>
              <a:t>Uses past data to make better driving decisions</a:t>
            </a:r>
          </a:p>
          <a:p>
            <a:endParaRPr lang="en-IN" sz="1200" dirty="0"/>
          </a:p>
        </p:txBody>
      </p:sp>
    </p:spTree>
    <p:extLst>
      <p:ext uri="{BB962C8B-B14F-4D97-AF65-F5344CB8AC3E}">
        <p14:creationId xmlns:p14="http://schemas.microsoft.com/office/powerpoint/2010/main" val="37269623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4379-8861-2E9E-6207-988E26DA0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FD5C32-95F6-6741-65E3-F9C52E2E75A1}"/>
              </a:ext>
            </a:extLst>
          </p:cNvPr>
          <p:cNvSpPr>
            <a:spLocks noGrp="1"/>
          </p:cNvSpPr>
          <p:nvPr>
            <p:ph type="title"/>
          </p:nvPr>
        </p:nvSpPr>
        <p:spPr/>
        <p:txBody>
          <a:bodyPr>
            <a:noAutofit/>
          </a:body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658295D2-982D-1E96-8569-21B6679EAD3A}"/>
              </a:ext>
            </a:extLst>
          </p:cNvPr>
          <p:cNvSpPr>
            <a:spLocks noGrp="1"/>
          </p:cNvSpPr>
          <p:nvPr>
            <p:ph idx="1"/>
          </p:nvPr>
        </p:nvSpPr>
        <p:spPr>
          <a:xfrm>
            <a:off x="748278" y="1269999"/>
            <a:ext cx="9325887" cy="5469759"/>
          </a:xfrm>
        </p:spPr>
        <p:txBody>
          <a:bodyPr>
            <a:noAutofit/>
          </a:bodyPr>
          <a:lstStyle/>
          <a:p>
            <a:pPr marL="0" indent="0">
              <a:buNone/>
            </a:pPr>
            <a:r>
              <a:rPr lang="en-US" sz="1200" b="1" dirty="0"/>
              <a:t>Types of Artificial Intelligence</a:t>
            </a:r>
          </a:p>
          <a:p>
            <a:r>
              <a:rPr lang="en-US" sz="1200" b="1" dirty="0"/>
              <a:t>Based on functionality</a:t>
            </a:r>
          </a:p>
          <a:p>
            <a:pPr marL="0" indent="0">
              <a:buNone/>
            </a:pPr>
            <a:r>
              <a:rPr lang="en-US" sz="1200" b="1" dirty="0"/>
              <a:t>2.3 Theory of Mind AI</a:t>
            </a:r>
          </a:p>
          <a:p>
            <a:r>
              <a:rPr lang="en-US" sz="1200" dirty="0"/>
              <a:t>This type of AI can </a:t>
            </a:r>
            <a:r>
              <a:rPr lang="en-US" sz="1200" b="1" dirty="0"/>
              <a:t>understand emotions, beliefs, and intentions of others</a:t>
            </a:r>
            <a:r>
              <a:rPr lang="en-US" sz="1200" dirty="0"/>
              <a:t>.</a:t>
            </a:r>
          </a:p>
          <a:p>
            <a:r>
              <a:rPr lang="en-US" sz="1200" b="1" dirty="0"/>
              <a:t>Key Characteristics</a:t>
            </a:r>
          </a:p>
          <a:p>
            <a:r>
              <a:rPr lang="en-US" sz="1200" dirty="0"/>
              <a:t>Understands human emotions </a:t>
            </a:r>
          </a:p>
          <a:p>
            <a:r>
              <a:rPr lang="en-US" sz="1200" dirty="0"/>
              <a:t>Can interact socially </a:t>
            </a:r>
          </a:p>
          <a:p>
            <a:r>
              <a:rPr lang="en-US" sz="1200" dirty="0"/>
              <a:t>Adapts behavior based on others </a:t>
            </a:r>
          </a:p>
          <a:p>
            <a:r>
              <a:rPr lang="en-US" sz="1200" b="1" dirty="0"/>
              <a:t>Current Status</a:t>
            </a:r>
          </a:p>
          <a:p>
            <a:r>
              <a:rPr lang="en-US" sz="1200" dirty="0"/>
              <a:t>Still in </a:t>
            </a:r>
            <a:r>
              <a:rPr lang="en-US" sz="1200" b="1" dirty="0"/>
              <a:t>research phase</a:t>
            </a:r>
            <a:r>
              <a:rPr lang="en-US" sz="1200" dirty="0"/>
              <a:t> </a:t>
            </a:r>
          </a:p>
          <a:p>
            <a:r>
              <a:rPr lang="en-US" sz="1200" dirty="0"/>
              <a:t>Not fully developed</a:t>
            </a:r>
          </a:p>
          <a:p>
            <a:endParaRPr lang="en-IN" sz="1200" dirty="0"/>
          </a:p>
        </p:txBody>
      </p:sp>
    </p:spTree>
    <p:extLst>
      <p:ext uri="{BB962C8B-B14F-4D97-AF65-F5344CB8AC3E}">
        <p14:creationId xmlns:p14="http://schemas.microsoft.com/office/powerpoint/2010/main" val="13981923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B6274-C475-5325-5814-A8C926CA1B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AE4C0-483A-8213-C354-32CACB247F9B}"/>
              </a:ext>
            </a:extLst>
          </p:cNvPr>
          <p:cNvSpPr>
            <a:spLocks noGrp="1"/>
          </p:cNvSpPr>
          <p:nvPr>
            <p:ph type="title"/>
          </p:nvPr>
        </p:nvSpPr>
        <p:spPr/>
        <p:txBody>
          <a:bodyPr>
            <a:noAutofit/>
          </a:bodyPr>
          <a:lstStyle/>
          <a:p>
            <a:r>
              <a:rPr lang="en-IN" sz="2800" dirty="0">
                <a:solidFill>
                  <a:srgbClr val="FF0000"/>
                </a:solidFill>
              </a:rPr>
              <a:t>1.1 Generative AI Foundations and Key Concepts </a:t>
            </a:r>
            <a:br>
              <a:rPr lang="en-IN" sz="2800" dirty="0">
                <a:solidFill>
                  <a:srgbClr val="FF0000"/>
                </a:solidFill>
              </a:rPr>
            </a:b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A9D7526D-E1F5-74D0-1603-4EEF33044FA9}"/>
              </a:ext>
            </a:extLst>
          </p:cNvPr>
          <p:cNvSpPr>
            <a:spLocks noGrp="1"/>
          </p:cNvSpPr>
          <p:nvPr>
            <p:ph idx="1"/>
          </p:nvPr>
        </p:nvSpPr>
        <p:spPr>
          <a:xfrm>
            <a:off x="748278" y="1269999"/>
            <a:ext cx="9325887" cy="5469759"/>
          </a:xfrm>
        </p:spPr>
        <p:txBody>
          <a:bodyPr>
            <a:noAutofit/>
          </a:bodyPr>
          <a:lstStyle/>
          <a:p>
            <a:pPr marL="0" indent="0">
              <a:buNone/>
            </a:pPr>
            <a:r>
              <a:rPr lang="en-IN" sz="1200" b="1" dirty="0"/>
              <a:t>Based on Capabilities</a:t>
            </a:r>
          </a:p>
          <a:p>
            <a:r>
              <a:rPr lang="en-IN" sz="1200" dirty="0"/>
              <a:t>Narrow AI → Task-specific (existing) </a:t>
            </a:r>
          </a:p>
          <a:p>
            <a:r>
              <a:rPr lang="en-IN" sz="1200" dirty="0"/>
              <a:t>General AI → Human-level (future) </a:t>
            </a:r>
          </a:p>
          <a:p>
            <a:r>
              <a:rPr lang="en-IN" sz="1200" dirty="0"/>
              <a:t>Super AI → Beyond human (theoretical) </a:t>
            </a:r>
          </a:p>
          <a:p>
            <a:endParaRPr lang="en-IN" sz="1200" dirty="0"/>
          </a:p>
          <a:p>
            <a:endParaRPr lang="en-IN" sz="1200" dirty="0"/>
          </a:p>
          <a:p>
            <a:pPr marL="0" indent="0">
              <a:buNone/>
            </a:pPr>
            <a:r>
              <a:rPr lang="en-IN" sz="1200" b="1" dirty="0"/>
              <a:t>Based on Functionality</a:t>
            </a:r>
          </a:p>
          <a:p>
            <a:r>
              <a:rPr lang="en-IN" sz="1200" dirty="0"/>
              <a:t>Reactive Machines → No memory </a:t>
            </a:r>
          </a:p>
          <a:p>
            <a:r>
              <a:rPr lang="en-IN" sz="1200" dirty="0"/>
              <a:t>Limited Memory → Uses past data (current AI) </a:t>
            </a:r>
          </a:p>
          <a:p>
            <a:r>
              <a:rPr lang="en-IN" sz="1200" dirty="0"/>
              <a:t>Theory of Mind → Understands emotions (research) </a:t>
            </a:r>
          </a:p>
          <a:p>
            <a:r>
              <a:rPr lang="en-IN" sz="1200" dirty="0"/>
              <a:t>Self-Aware AI → Conscious machines (future) </a:t>
            </a:r>
          </a:p>
          <a:p>
            <a:endParaRPr lang="en-IN" sz="1200" dirty="0"/>
          </a:p>
        </p:txBody>
      </p:sp>
    </p:spTree>
    <p:extLst>
      <p:ext uri="{BB962C8B-B14F-4D97-AF65-F5344CB8AC3E}">
        <p14:creationId xmlns:p14="http://schemas.microsoft.com/office/powerpoint/2010/main" val="375639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257CA-FBAB-6B3F-6128-338195885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BBD16-6736-C089-310A-5743B6F08500}"/>
              </a:ext>
            </a:extLst>
          </p:cNvPr>
          <p:cNvSpPr>
            <a:spLocks noGrp="1"/>
          </p:cNvSpPr>
          <p:nvPr>
            <p:ph type="title"/>
          </p:nvPr>
        </p:nvSpPr>
        <p:spPr/>
        <p:txBody>
          <a:bodyPr>
            <a:normAutofit fontScale="90000"/>
          </a:bodyPr>
          <a:lstStyle/>
          <a:p>
            <a:r>
              <a:rPr lang="en-IN" dirty="0">
                <a:solidFill>
                  <a:srgbClr val="FF0000"/>
                </a:solidFill>
              </a:rPr>
              <a:t>1.1.1 - AI Spectrum: Symbolic AI, Classical Machine Learning, Deep Learning, and Generative AI</a:t>
            </a:r>
          </a:p>
        </p:txBody>
      </p:sp>
      <p:sp>
        <p:nvSpPr>
          <p:cNvPr id="4" name="Content Placeholder 3">
            <a:extLst>
              <a:ext uri="{FF2B5EF4-FFF2-40B4-BE49-F238E27FC236}">
                <a16:creationId xmlns:a16="http://schemas.microsoft.com/office/drawing/2014/main" id="{79B35FDE-160B-80BB-6796-344E0CD43BE4}"/>
              </a:ext>
            </a:extLst>
          </p:cNvPr>
          <p:cNvSpPr>
            <a:spLocks noGrp="1"/>
          </p:cNvSpPr>
          <p:nvPr>
            <p:ph idx="1"/>
          </p:nvPr>
        </p:nvSpPr>
        <p:spPr>
          <a:xfrm>
            <a:off x="677334" y="2491665"/>
            <a:ext cx="8596668" cy="3880773"/>
          </a:xfrm>
        </p:spPr>
        <p:txBody>
          <a:bodyPr>
            <a:normAutofit/>
          </a:bodyPr>
          <a:lstStyle/>
          <a:p>
            <a:pPr marL="0" indent="0">
              <a:buNone/>
            </a:pPr>
            <a:r>
              <a:rPr lang="en-US" sz="1400" dirty="0"/>
              <a:t>Artificial Intelligence (AI) is a broad field that encompasses different types of technologies, each with its own unique way of solving problems</a:t>
            </a:r>
          </a:p>
          <a:p>
            <a:pPr marL="0" indent="0">
              <a:buNone/>
            </a:pPr>
            <a:r>
              <a:rPr lang="en-US" sz="1400" dirty="0">
                <a:solidFill>
                  <a:srgbClr val="FF0000"/>
                </a:solidFill>
              </a:rPr>
              <a:t>Some of the AI technologies discussed in Gen AI ISTQB are</a:t>
            </a:r>
            <a:r>
              <a:rPr lang="en-US" sz="1400" dirty="0"/>
              <a:t>:</a:t>
            </a:r>
          </a:p>
          <a:p>
            <a:pPr marL="0" indent="0">
              <a:buNone/>
            </a:pPr>
            <a:r>
              <a:rPr lang="en-US" sz="1400" dirty="0"/>
              <a:t>1.Symbolic AI</a:t>
            </a:r>
          </a:p>
          <a:p>
            <a:pPr marL="0" indent="0">
              <a:buNone/>
            </a:pPr>
            <a:r>
              <a:rPr lang="en-US" sz="1400" dirty="0"/>
              <a:t>2. Classic Machine learning</a:t>
            </a:r>
          </a:p>
          <a:p>
            <a:pPr marL="0" indent="0">
              <a:buNone/>
            </a:pPr>
            <a:r>
              <a:rPr lang="en-US" sz="1400" dirty="0"/>
              <a:t>3.Deep learning</a:t>
            </a:r>
          </a:p>
          <a:p>
            <a:pPr marL="0" indent="0">
              <a:buNone/>
            </a:pPr>
            <a:r>
              <a:rPr lang="en-US" sz="1400" dirty="0"/>
              <a:t>4.Generative AI</a:t>
            </a:r>
            <a:endParaRPr lang="en-IN" sz="1400" dirty="0"/>
          </a:p>
        </p:txBody>
      </p:sp>
    </p:spTree>
    <p:extLst>
      <p:ext uri="{BB962C8B-B14F-4D97-AF65-F5344CB8AC3E}">
        <p14:creationId xmlns:p14="http://schemas.microsoft.com/office/powerpoint/2010/main" val="37178873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6BB58-9679-1409-2EE7-9E45D47FA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B35A7-254E-2B5C-5678-97EB619D1B2A}"/>
              </a:ext>
            </a:extLst>
          </p:cNvPr>
          <p:cNvSpPr>
            <a:spLocks noGrp="1"/>
          </p:cNvSpPr>
          <p:nvPr>
            <p:ph type="title"/>
          </p:nvPr>
        </p:nvSpPr>
        <p:spPr/>
        <p:txBody>
          <a:bodyPr>
            <a:normAutofit/>
          </a:bodyPr>
          <a:lstStyle/>
          <a:p>
            <a:r>
              <a:rPr lang="en-IN" dirty="0">
                <a:solidFill>
                  <a:srgbClr val="FF0000"/>
                </a:solidFill>
              </a:rPr>
              <a:t>1.1.1  - Symbolic AI</a:t>
            </a:r>
          </a:p>
        </p:txBody>
      </p:sp>
      <p:sp>
        <p:nvSpPr>
          <p:cNvPr id="4" name="Content Placeholder 3">
            <a:extLst>
              <a:ext uri="{FF2B5EF4-FFF2-40B4-BE49-F238E27FC236}">
                <a16:creationId xmlns:a16="http://schemas.microsoft.com/office/drawing/2014/main" id="{49322040-C024-BB49-7F25-553DBF149B6D}"/>
              </a:ext>
            </a:extLst>
          </p:cNvPr>
          <p:cNvSpPr>
            <a:spLocks noGrp="1"/>
          </p:cNvSpPr>
          <p:nvPr>
            <p:ph idx="1"/>
          </p:nvPr>
        </p:nvSpPr>
        <p:spPr>
          <a:xfrm>
            <a:off x="748279" y="1427493"/>
            <a:ext cx="8596668" cy="5328031"/>
          </a:xfrm>
        </p:spPr>
        <p:txBody>
          <a:bodyPr>
            <a:noAutofit/>
          </a:bodyPr>
          <a:lstStyle/>
          <a:p>
            <a:pPr marL="0" indent="0">
              <a:buNone/>
            </a:pPr>
            <a:r>
              <a:rPr lang="en-US" sz="1400" dirty="0"/>
              <a:t>Symbolic AI uses a rule-based system to mimic human decision-making. Essentially, symbolic AI represents knowledge using symbols and logical rules.</a:t>
            </a:r>
          </a:p>
          <a:p>
            <a:pPr marL="0" indent="0">
              <a:buNone/>
            </a:pPr>
            <a:endParaRPr lang="en-US" sz="1400" dirty="0"/>
          </a:p>
          <a:p>
            <a:r>
              <a:rPr lang="en-US" sz="1400" b="1" dirty="0"/>
              <a:t>Symbolic AI</a:t>
            </a:r>
            <a:r>
              <a:rPr lang="en-US" sz="1400" dirty="0"/>
              <a:t> is one of the earliest approaches to artificial intelligence where knowledge is represented using </a:t>
            </a:r>
            <a:r>
              <a:rPr lang="en-US" sz="1400" b="1" dirty="0"/>
              <a:t>symbols, rules, and logic created by humans</a:t>
            </a:r>
            <a:r>
              <a:rPr lang="en-US" sz="1400" dirty="0"/>
              <a:t>.</a:t>
            </a:r>
          </a:p>
          <a:p>
            <a:pPr marL="0" indent="0">
              <a:buNone/>
            </a:pPr>
            <a:r>
              <a:rPr lang="en-US" sz="1400" dirty="0"/>
              <a:t>In symbolic AI, computers solve problems using:</a:t>
            </a:r>
          </a:p>
          <a:p>
            <a:r>
              <a:rPr lang="en-US" sz="1400" b="1" dirty="0"/>
              <a:t>Rules</a:t>
            </a:r>
            <a:endParaRPr lang="en-US" sz="1400" dirty="0"/>
          </a:p>
          <a:p>
            <a:r>
              <a:rPr lang="en-US" sz="1400" b="1" dirty="0"/>
              <a:t>Logic and relationships</a:t>
            </a:r>
            <a:endParaRPr lang="en-US" sz="1400" dirty="0"/>
          </a:p>
          <a:p>
            <a:r>
              <a:rPr lang="en-US" sz="1400" b="1" dirty="0"/>
              <a:t>Knowledge representations</a:t>
            </a:r>
            <a:endParaRPr lang="en-US" sz="1400" dirty="0"/>
          </a:p>
          <a:p>
            <a:r>
              <a:rPr lang="en-US" sz="1400" b="1" dirty="0"/>
              <a:t>Reasoning systems</a:t>
            </a:r>
            <a:endParaRPr lang="en-US" sz="1400" dirty="0"/>
          </a:p>
          <a:p>
            <a:pPr marL="0" indent="0">
              <a:buNone/>
            </a:pPr>
            <a:r>
              <a:rPr lang="en-US" sz="1400" dirty="0"/>
              <a:t>Simple definition:</a:t>
            </a:r>
          </a:p>
          <a:p>
            <a:r>
              <a:rPr lang="en-US" sz="1400" b="1" dirty="0"/>
              <a:t>Symbolic AI = AI that works using human-defined rules and logical reasoning.</a:t>
            </a:r>
            <a:endParaRPr lang="en-US" sz="1400" dirty="0"/>
          </a:p>
          <a:p>
            <a:r>
              <a:rPr lang="en-US" sz="1400" dirty="0"/>
              <a:t>Example rule:</a:t>
            </a:r>
          </a:p>
          <a:p>
            <a:r>
              <a:rPr lang="en-US" sz="1400" dirty="0"/>
              <a:t>IF temperature &gt; 38°C</a:t>
            </a:r>
            <a:br>
              <a:rPr lang="en-US" sz="1400" dirty="0"/>
            </a:br>
            <a:r>
              <a:rPr lang="en-US" sz="1400" dirty="0"/>
              <a:t>THEN </a:t>
            </a:r>
            <a:r>
              <a:rPr lang="en-US" sz="1400" dirty="0" err="1"/>
              <a:t>patient_has_fever</a:t>
            </a:r>
            <a:r>
              <a:rPr lang="en-US" sz="1400" dirty="0"/>
              <a:t> = TRUE</a:t>
            </a:r>
          </a:p>
          <a:p>
            <a:r>
              <a:rPr lang="en-US" sz="1400" dirty="0"/>
              <a:t>The system evaluates rules like this to make decisions.</a:t>
            </a:r>
          </a:p>
          <a:p>
            <a:pPr marL="0" indent="0">
              <a:buNone/>
            </a:pPr>
            <a:r>
              <a:rPr lang="en-US" sz="1400" dirty="0"/>
              <a:t> </a:t>
            </a:r>
            <a:endParaRPr lang="en-IN" sz="1400" dirty="0"/>
          </a:p>
        </p:txBody>
      </p:sp>
    </p:spTree>
    <p:extLst>
      <p:ext uri="{BB962C8B-B14F-4D97-AF65-F5344CB8AC3E}">
        <p14:creationId xmlns:p14="http://schemas.microsoft.com/office/powerpoint/2010/main" val="1588303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6AEFE-D1B0-3AD6-6085-0E2BCE60F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6F2B6-F3EC-3172-76FA-55605A653965}"/>
              </a:ext>
            </a:extLst>
          </p:cNvPr>
          <p:cNvSpPr>
            <a:spLocks noGrp="1"/>
          </p:cNvSpPr>
          <p:nvPr>
            <p:ph type="title"/>
          </p:nvPr>
        </p:nvSpPr>
        <p:spPr/>
        <p:txBody>
          <a:bodyPr>
            <a:normAutofit/>
          </a:bodyPr>
          <a:lstStyle/>
          <a:p>
            <a:r>
              <a:rPr lang="en-IN" dirty="0">
                <a:solidFill>
                  <a:srgbClr val="FF0000"/>
                </a:solidFill>
              </a:rPr>
              <a:t>1.1.1 - Symbolic AI</a:t>
            </a:r>
          </a:p>
        </p:txBody>
      </p:sp>
      <p:sp>
        <p:nvSpPr>
          <p:cNvPr id="4" name="Content Placeholder 3">
            <a:extLst>
              <a:ext uri="{FF2B5EF4-FFF2-40B4-BE49-F238E27FC236}">
                <a16:creationId xmlns:a16="http://schemas.microsoft.com/office/drawing/2014/main" id="{C51D0985-ED7A-CD2D-C2EF-62E3D0C2D231}"/>
              </a:ext>
            </a:extLst>
          </p:cNvPr>
          <p:cNvSpPr>
            <a:spLocks noGrp="1"/>
          </p:cNvSpPr>
          <p:nvPr>
            <p:ph idx="1"/>
          </p:nvPr>
        </p:nvSpPr>
        <p:spPr>
          <a:xfrm>
            <a:off x="771927" y="1569383"/>
            <a:ext cx="8596668" cy="3880773"/>
          </a:xfrm>
        </p:spPr>
        <p:txBody>
          <a:bodyPr>
            <a:noAutofit/>
          </a:bodyPr>
          <a:lstStyle/>
          <a:p>
            <a:pPr marL="0" indent="0">
              <a:buNone/>
            </a:pPr>
            <a:r>
              <a:rPr lang="en-US" sz="1400" dirty="0"/>
              <a:t>Why it is called “Symbolic” AI</a:t>
            </a:r>
          </a:p>
          <a:p>
            <a:pPr marL="0" indent="0">
              <a:buNone/>
            </a:pPr>
            <a:r>
              <a:rPr lang="en-US" sz="1400" dirty="0"/>
              <a:t>It is called symbolic because knowledge is represented using symbols that represent real-world objects or concepts.</a:t>
            </a:r>
          </a:p>
          <a:p>
            <a:pPr marL="0" indent="0">
              <a:buNone/>
            </a:pPr>
            <a:r>
              <a:rPr lang="en-US" sz="1400" dirty="0"/>
              <a:t>Symbol	Meaning</a:t>
            </a:r>
          </a:p>
          <a:p>
            <a:pPr marL="0" indent="0">
              <a:buNone/>
            </a:pPr>
            <a:r>
              <a:rPr lang="en-US" sz="1400" dirty="0"/>
              <a:t>Fever	Patient temperature above threshold</a:t>
            </a:r>
          </a:p>
          <a:p>
            <a:pPr marL="0" indent="0">
              <a:buNone/>
            </a:pPr>
            <a:r>
              <a:rPr lang="en-US" sz="1400" dirty="0"/>
              <a:t>Rain	Weather condition</a:t>
            </a:r>
          </a:p>
          <a:p>
            <a:pPr marL="0" indent="0">
              <a:buNone/>
            </a:pPr>
            <a:r>
              <a:rPr lang="en-US" sz="1400" dirty="0" err="1"/>
              <a:t>Wet_ground</a:t>
            </a:r>
            <a:r>
              <a:rPr lang="en-US" sz="1400" dirty="0"/>
              <a:t>	Result of rain</a:t>
            </a:r>
          </a:p>
          <a:p>
            <a:pPr marL="0" indent="0">
              <a:buNone/>
            </a:pPr>
            <a:r>
              <a:rPr lang="en-US" sz="1400" dirty="0"/>
              <a:t>Example relationship:</a:t>
            </a:r>
          </a:p>
          <a:p>
            <a:pPr marL="0" indent="0">
              <a:buNone/>
            </a:pPr>
            <a:r>
              <a:rPr lang="en-US" sz="1400" dirty="0"/>
              <a:t>Rain → </a:t>
            </a:r>
            <a:r>
              <a:rPr lang="en-US" sz="1400" u="sng" dirty="0" err="1"/>
              <a:t>Wet_ground</a:t>
            </a:r>
            <a:endParaRPr lang="en-US" sz="1400" u="sng" dirty="0"/>
          </a:p>
          <a:p>
            <a:pPr marL="0" indent="0">
              <a:buNone/>
            </a:pPr>
            <a:r>
              <a:rPr lang="en-US" sz="1400" dirty="0"/>
              <a:t>The AI uses these symbols and relationships to perform reasoning.</a:t>
            </a:r>
            <a:endParaRPr lang="en-IN" sz="1400" dirty="0"/>
          </a:p>
        </p:txBody>
      </p:sp>
    </p:spTree>
    <p:extLst>
      <p:ext uri="{BB962C8B-B14F-4D97-AF65-F5344CB8AC3E}">
        <p14:creationId xmlns:p14="http://schemas.microsoft.com/office/powerpoint/2010/main" val="1806223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2E088-5106-2224-E352-4BA05FACD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88811-D970-5F39-B67B-1D75F64E9644}"/>
              </a:ext>
            </a:extLst>
          </p:cNvPr>
          <p:cNvSpPr>
            <a:spLocks noGrp="1"/>
          </p:cNvSpPr>
          <p:nvPr>
            <p:ph type="title"/>
          </p:nvPr>
        </p:nvSpPr>
        <p:spPr/>
        <p:txBody>
          <a:bodyPr>
            <a:normAutofit/>
          </a:bodyPr>
          <a:lstStyle/>
          <a:p>
            <a:r>
              <a:rPr lang="en-IN" dirty="0">
                <a:solidFill>
                  <a:srgbClr val="FF0000"/>
                </a:solidFill>
              </a:rPr>
              <a:t>1.1.1 - Symbolic AI</a:t>
            </a:r>
          </a:p>
        </p:txBody>
      </p:sp>
      <p:sp>
        <p:nvSpPr>
          <p:cNvPr id="4" name="Content Placeholder 3">
            <a:extLst>
              <a:ext uri="{FF2B5EF4-FFF2-40B4-BE49-F238E27FC236}">
                <a16:creationId xmlns:a16="http://schemas.microsoft.com/office/drawing/2014/main" id="{BC5CCDB4-F845-92C6-4586-AC0CF73A96A2}"/>
              </a:ext>
            </a:extLst>
          </p:cNvPr>
          <p:cNvSpPr>
            <a:spLocks noGrp="1"/>
          </p:cNvSpPr>
          <p:nvPr>
            <p:ph idx="1"/>
          </p:nvPr>
        </p:nvSpPr>
        <p:spPr>
          <a:xfrm>
            <a:off x="771927" y="1569383"/>
            <a:ext cx="8596668" cy="4910245"/>
          </a:xfrm>
        </p:spPr>
        <p:txBody>
          <a:bodyPr>
            <a:noAutofit/>
          </a:bodyPr>
          <a:lstStyle/>
          <a:p>
            <a:pPr marL="0" indent="0">
              <a:buNone/>
            </a:pPr>
            <a:r>
              <a:rPr lang="en-US" sz="1400" b="1" dirty="0"/>
              <a:t>Example of Symbolic AI System</a:t>
            </a:r>
          </a:p>
          <a:p>
            <a:r>
              <a:rPr lang="en-US" sz="1400" dirty="0"/>
              <a:t>Expert systems are the most famous symbolic AI systems.</a:t>
            </a:r>
          </a:p>
          <a:p>
            <a:r>
              <a:rPr lang="en-US" sz="1400" dirty="0"/>
              <a:t>They mimic </a:t>
            </a:r>
            <a:r>
              <a:rPr lang="en-US" sz="1400" b="1" dirty="0"/>
              <a:t>human expert decision-making</a:t>
            </a:r>
            <a:r>
              <a:rPr lang="en-US" sz="1400" dirty="0"/>
              <a:t>.</a:t>
            </a:r>
          </a:p>
          <a:p>
            <a:r>
              <a:rPr lang="en-US" sz="1400" dirty="0"/>
              <a:t>Example: Medical diagnosis system.</a:t>
            </a:r>
          </a:p>
          <a:p>
            <a:r>
              <a:rPr lang="en-US" sz="1400" dirty="0"/>
              <a:t>Rules:</a:t>
            </a:r>
          </a:p>
          <a:p>
            <a:r>
              <a:rPr lang="en-US" sz="1400" dirty="0"/>
              <a:t>IF fever AND cough</a:t>
            </a:r>
            <a:br>
              <a:rPr lang="en-US" sz="1400" dirty="0"/>
            </a:br>
            <a:r>
              <a:rPr lang="en-US" sz="1400" dirty="0"/>
              <a:t>THEN possible disease = flu</a:t>
            </a:r>
          </a:p>
          <a:p>
            <a:r>
              <a:rPr lang="en-US" sz="1400" dirty="0"/>
              <a:t>Input:</a:t>
            </a:r>
          </a:p>
          <a:p>
            <a:r>
              <a:rPr lang="en-US" sz="1400" dirty="0"/>
              <a:t>fever = TRUE</a:t>
            </a:r>
            <a:br>
              <a:rPr lang="en-US" sz="1400" dirty="0"/>
            </a:br>
            <a:r>
              <a:rPr lang="en-US" sz="1400" dirty="0"/>
              <a:t>cough = TRUE</a:t>
            </a:r>
          </a:p>
          <a:p>
            <a:r>
              <a:rPr lang="en-US" sz="1400" dirty="0"/>
              <a:t>Output:</a:t>
            </a:r>
          </a:p>
          <a:p>
            <a:r>
              <a:rPr lang="en-US" sz="1400" dirty="0"/>
              <a:t>Diagnosis = Flu</a:t>
            </a:r>
          </a:p>
          <a:p>
            <a:pPr marL="0" indent="0">
              <a:buNone/>
            </a:pPr>
            <a:endParaRPr lang="en-IN" sz="1400" dirty="0"/>
          </a:p>
        </p:txBody>
      </p:sp>
    </p:spTree>
    <p:extLst>
      <p:ext uri="{BB962C8B-B14F-4D97-AF65-F5344CB8AC3E}">
        <p14:creationId xmlns:p14="http://schemas.microsoft.com/office/powerpoint/2010/main" val="35546922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F7C12-A24F-C7AE-C311-42488D26D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E9945-214D-2F3B-8971-154D4315EB5D}"/>
              </a:ext>
            </a:extLst>
          </p:cNvPr>
          <p:cNvSpPr>
            <a:spLocks noGrp="1"/>
          </p:cNvSpPr>
          <p:nvPr>
            <p:ph type="title"/>
          </p:nvPr>
        </p:nvSpPr>
        <p:spPr/>
        <p:txBody>
          <a:bodyPr>
            <a:normAutofit/>
          </a:bodyPr>
          <a:lstStyle/>
          <a:p>
            <a:r>
              <a:rPr lang="en-IN" dirty="0">
                <a:solidFill>
                  <a:srgbClr val="FF0000"/>
                </a:solidFill>
              </a:rPr>
              <a:t>1.1.1  - Symbolic AI</a:t>
            </a:r>
          </a:p>
        </p:txBody>
      </p:sp>
      <p:sp>
        <p:nvSpPr>
          <p:cNvPr id="4" name="Content Placeholder 3">
            <a:extLst>
              <a:ext uri="{FF2B5EF4-FFF2-40B4-BE49-F238E27FC236}">
                <a16:creationId xmlns:a16="http://schemas.microsoft.com/office/drawing/2014/main" id="{E8B8F0C2-391E-6A79-C3BA-AC4B47D6DC83}"/>
              </a:ext>
            </a:extLst>
          </p:cNvPr>
          <p:cNvSpPr>
            <a:spLocks noGrp="1"/>
          </p:cNvSpPr>
          <p:nvPr>
            <p:ph idx="1"/>
          </p:nvPr>
        </p:nvSpPr>
        <p:spPr>
          <a:xfrm>
            <a:off x="771927" y="1569383"/>
            <a:ext cx="8596668" cy="4910245"/>
          </a:xfrm>
        </p:spPr>
        <p:txBody>
          <a:bodyPr>
            <a:noAutofit/>
          </a:bodyPr>
          <a:lstStyle/>
          <a:p>
            <a:pPr marL="0" indent="0">
              <a:buNone/>
            </a:pPr>
            <a:r>
              <a:rPr lang="en-IN" sz="1400" b="1" dirty="0"/>
              <a:t>Types of Symbolic AI</a:t>
            </a:r>
          </a:p>
          <a:p>
            <a:pPr marL="0" indent="0">
              <a:buNone/>
            </a:pPr>
            <a:r>
              <a:rPr lang="en-US" sz="1400" b="1" dirty="0">
                <a:solidFill>
                  <a:srgbClr val="FF0000"/>
                </a:solidFill>
              </a:rPr>
              <a:t>1. Rule-Based Systems (Expert Systems)</a:t>
            </a:r>
          </a:p>
          <a:p>
            <a:r>
              <a:rPr lang="en-US" sz="1400" dirty="0"/>
              <a:t>Rule-based systems use </a:t>
            </a:r>
            <a:r>
              <a:rPr lang="en-US" sz="1400" b="1" dirty="0"/>
              <a:t>IF–THEN rules</a:t>
            </a:r>
            <a:r>
              <a:rPr lang="en-US" sz="1400" dirty="0"/>
              <a:t> to make decisions.</a:t>
            </a:r>
          </a:p>
          <a:p>
            <a:r>
              <a:rPr lang="en-US" sz="1400" dirty="0"/>
              <a:t>A </a:t>
            </a:r>
            <a:r>
              <a:rPr lang="en-US" sz="1400" b="1" dirty="0"/>
              <a:t>knowledge base</a:t>
            </a:r>
            <a:r>
              <a:rPr lang="en-US" sz="1400" dirty="0"/>
              <a:t> stores rules, and an </a:t>
            </a:r>
            <a:r>
              <a:rPr lang="en-US" sz="1400" b="1" dirty="0"/>
              <a:t>inference engine</a:t>
            </a:r>
            <a:r>
              <a:rPr lang="en-US" sz="1400" dirty="0"/>
              <a:t> applies those rules to solve problems.</a:t>
            </a:r>
          </a:p>
          <a:p>
            <a:pPr marL="0" indent="0">
              <a:buNone/>
            </a:pPr>
            <a:r>
              <a:rPr lang="en-US" sz="1400" dirty="0"/>
              <a:t>Example:</a:t>
            </a:r>
          </a:p>
          <a:p>
            <a:r>
              <a:rPr lang="en-US" dirty="0"/>
              <a:t>IF patient has fever AND cough</a:t>
            </a:r>
            <a:br>
              <a:rPr lang="en-US" dirty="0"/>
            </a:br>
            <a:r>
              <a:rPr lang="en-US" dirty="0"/>
              <a:t>THEN possible disease = flu</a:t>
            </a:r>
          </a:p>
          <a:p>
            <a:pPr marL="0" indent="0">
              <a:buNone/>
            </a:pPr>
            <a:endParaRPr lang="en-US" sz="1400" dirty="0"/>
          </a:p>
          <a:p>
            <a:pPr marL="0" indent="0">
              <a:buNone/>
            </a:pPr>
            <a:r>
              <a:rPr lang="en-US" sz="1400" b="1" dirty="0"/>
              <a:t>Applications</a:t>
            </a:r>
          </a:p>
          <a:p>
            <a:r>
              <a:rPr lang="en-US" sz="1400" dirty="0"/>
              <a:t>Medical diagnosis</a:t>
            </a:r>
          </a:p>
          <a:p>
            <a:r>
              <a:rPr lang="en-US" sz="1400" dirty="0"/>
              <a:t>Financial decision systems</a:t>
            </a:r>
          </a:p>
          <a:p>
            <a:r>
              <a:rPr lang="en-US" sz="1400" dirty="0"/>
              <a:t>Customer support systems</a:t>
            </a:r>
          </a:p>
          <a:p>
            <a:r>
              <a:rPr lang="en-US" sz="1400" dirty="0"/>
              <a:t>A famous example of an early expert system was </a:t>
            </a:r>
            <a:r>
              <a:rPr lang="en-US" sz="1400" b="1" dirty="0"/>
              <a:t>MYCIN</a:t>
            </a:r>
            <a:r>
              <a:rPr lang="en-US" sz="1400" dirty="0"/>
              <a:t>.</a:t>
            </a:r>
          </a:p>
          <a:p>
            <a:pPr marL="0" indent="0">
              <a:buNone/>
            </a:pPr>
            <a:endParaRPr lang="en-US" sz="1400"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endParaRPr lang="en-US" sz="1400" b="1" dirty="0"/>
          </a:p>
          <a:p>
            <a:pPr marL="0" indent="0">
              <a:buNone/>
            </a:pPr>
            <a:r>
              <a:rPr lang="en-US" sz="1400" b="1" dirty="0"/>
              <a:t>Limitations of Symbolic AI</a:t>
            </a:r>
          </a:p>
          <a:p>
            <a:r>
              <a:rPr lang="en-US" sz="1400" b="1" dirty="0"/>
              <a:t>Cannot learn from data</a:t>
            </a:r>
          </a:p>
          <a:p>
            <a:r>
              <a:rPr lang="en-US" sz="1400" dirty="0"/>
              <a:t>All knowledge must be </a:t>
            </a:r>
            <a:r>
              <a:rPr lang="en-US" sz="1400" b="1" dirty="0"/>
              <a:t>manually programmed</a:t>
            </a:r>
            <a:r>
              <a:rPr lang="en-US" sz="1400" dirty="0"/>
              <a:t>.</a:t>
            </a:r>
          </a:p>
          <a:p>
            <a:endParaRPr lang="en-US" sz="1400" dirty="0"/>
          </a:p>
          <a:p>
            <a:pPr marL="0" indent="0">
              <a:buNone/>
            </a:pPr>
            <a:endParaRPr lang="en-IN" sz="1400" dirty="0"/>
          </a:p>
        </p:txBody>
      </p:sp>
    </p:spTree>
    <p:extLst>
      <p:ext uri="{BB962C8B-B14F-4D97-AF65-F5344CB8AC3E}">
        <p14:creationId xmlns:p14="http://schemas.microsoft.com/office/powerpoint/2010/main" val="3617876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E75F-C93E-5D45-23C4-5408B9AA5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969F8-6373-5902-7547-759D766ACE07}"/>
              </a:ext>
            </a:extLst>
          </p:cNvPr>
          <p:cNvSpPr>
            <a:spLocks noGrp="1"/>
          </p:cNvSpPr>
          <p:nvPr>
            <p:ph type="title"/>
          </p:nvPr>
        </p:nvSpPr>
        <p:spPr/>
        <p:txBody>
          <a:bodyPr>
            <a:normAutofit/>
          </a:bodyPr>
          <a:lstStyle/>
          <a:p>
            <a:r>
              <a:rPr lang="en-IN" dirty="0">
                <a:solidFill>
                  <a:srgbClr val="FF0000"/>
                </a:solidFill>
              </a:rPr>
              <a:t> 1.1.1 - Types of Symbolic AI</a:t>
            </a:r>
          </a:p>
        </p:txBody>
      </p:sp>
      <p:sp>
        <p:nvSpPr>
          <p:cNvPr id="4" name="Content Placeholder 3">
            <a:extLst>
              <a:ext uri="{FF2B5EF4-FFF2-40B4-BE49-F238E27FC236}">
                <a16:creationId xmlns:a16="http://schemas.microsoft.com/office/drawing/2014/main" id="{A210EBED-D6D6-2780-4CBF-C1D41A7FEFAF}"/>
              </a:ext>
            </a:extLst>
          </p:cNvPr>
          <p:cNvSpPr>
            <a:spLocks noGrp="1"/>
          </p:cNvSpPr>
          <p:nvPr>
            <p:ph idx="1"/>
          </p:nvPr>
        </p:nvSpPr>
        <p:spPr>
          <a:xfrm>
            <a:off x="771927" y="1569383"/>
            <a:ext cx="8596668" cy="4910245"/>
          </a:xfrm>
        </p:spPr>
        <p:txBody>
          <a:bodyPr>
            <a:noAutofit/>
          </a:bodyPr>
          <a:lstStyle/>
          <a:p>
            <a:pPr marL="0" indent="0">
              <a:buNone/>
            </a:pPr>
            <a:r>
              <a:rPr lang="en-US" sz="1400" b="1" dirty="0">
                <a:solidFill>
                  <a:srgbClr val="FF0000"/>
                </a:solidFill>
              </a:rPr>
              <a:t>2.Logic-Based AI</a:t>
            </a:r>
          </a:p>
          <a:p>
            <a:r>
              <a:rPr lang="en-US" sz="1400" dirty="0"/>
              <a:t>Logic-based AI uses </a:t>
            </a:r>
            <a:r>
              <a:rPr lang="en-US" sz="1400" b="1" dirty="0"/>
              <a:t>mathematical logic</a:t>
            </a:r>
            <a:r>
              <a:rPr lang="en-US" sz="1400" dirty="0"/>
              <a:t> to represent knowledge and perform reasoning.</a:t>
            </a:r>
          </a:p>
          <a:p>
            <a:r>
              <a:rPr lang="en-US" sz="1400" dirty="0"/>
              <a:t>It often uses </a:t>
            </a:r>
            <a:r>
              <a:rPr lang="en-US" sz="1400" b="1" dirty="0"/>
              <a:t>predicate logic</a:t>
            </a:r>
            <a:r>
              <a:rPr lang="en-US" sz="1400" dirty="0"/>
              <a:t> or </a:t>
            </a:r>
            <a:r>
              <a:rPr lang="en-US" sz="1400" b="1" dirty="0"/>
              <a:t>first-order logic</a:t>
            </a:r>
            <a:r>
              <a:rPr lang="en-US" sz="1400" dirty="0"/>
              <a:t>.</a:t>
            </a:r>
          </a:p>
          <a:p>
            <a:r>
              <a:rPr lang="en-US" sz="1400" dirty="0"/>
              <a:t>Example:</a:t>
            </a:r>
          </a:p>
          <a:p>
            <a:r>
              <a:rPr lang="en-US" sz="1400" dirty="0"/>
              <a:t>All humans are mortal</a:t>
            </a:r>
            <a:br>
              <a:rPr lang="en-US" sz="1400" dirty="0"/>
            </a:br>
            <a:r>
              <a:rPr lang="en-US" sz="1400" dirty="0"/>
              <a:t>Socrates is a human</a:t>
            </a:r>
            <a:br>
              <a:rPr lang="en-US" sz="1400" dirty="0"/>
            </a:br>
            <a:r>
              <a:rPr lang="en-US" sz="1400" dirty="0"/>
              <a:t>Therefore, Socrates is mortal</a:t>
            </a:r>
          </a:p>
          <a:p>
            <a:r>
              <a:rPr lang="en-US" sz="1400" dirty="0"/>
              <a:t>The AI uses logical rules to infer new information.</a:t>
            </a:r>
          </a:p>
          <a:p>
            <a:r>
              <a:rPr lang="en-US" sz="1400" dirty="0"/>
              <a:t>A programming language commonly used for logic-based AI is </a:t>
            </a:r>
            <a:r>
              <a:rPr lang="en-US" sz="1400" b="1" dirty="0"/>
              <a:t>Prolog</a:t>
            </a:r>
            <a:r>
              <a:rPr lang="en-US" sz="1400" dirty="0"/>
              <a:t>.</a:t>
            </a:r>
          </a:p>
          <a:p>
            <a:pPr marL="0" indent="0">
              <a:buNone/>
            </a:pPr>
            <a:r>
              <a:rPr lang="en-US" sz="1400" b="1" dirty="0"/>
              <a:t>Applications</a:t>
            </a:r>
          </a:p>
          <a:p>
            <a:r>
              <a:rPr lang="en-US" sz="1400" dirty="0"/>
              <a:t>Automated theorem proving</a:t>
            </a:r>
          </a:p>
          <a:p>
            <a:r>
              <a:rPr lang="en-US" sz="1400" dirty="0"/>
              <a:t>Knowledge reasoning systems</a:t>
            </a:r>
          </a:p>
          <a:p>
            <a:r>
              <a:rPr lang="en-US" sz="1400" dirty="0"/>
              <a:t>Natural language understanding (early systems)</a:t>
            </a:r>
          </a:p>
          <a:p>
            <a:pPr marL="0" indent="0">
              <a:buNone/>
            </a:pPr>
            <a:endParaRPr lang="en-IN" sz="1400" dirty="0"/>
          </a:p>
        </p:txBody>
      </p:sp>
    </p:spTree>
    <p:extLst>
      <p:ext uri="{BB962C8B-B14F-4D97-AF65-F5344CB8AC3E}">
        <p14:creationId xmlns:p14="http://schemas.microsoft.com/office/powerpoint/2010/main" val="21498332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1A6B9-45DC-9018-7BBE-C45E4CA16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FD1E3-2FE9-81B8-04AC-FD181A60C5D1}"/>
              </a:ext>
            </a:extLst>
          </p:cNvPr>
          <p:cNvSpPr>
            <a:spLocks noGrp="1"/>
          </p:cNvSpPr>
          <p:nvPr>
            <p:ph type="title"/>
          </p:nvPr>
        </p:nvSpPr>
        <p:spPr>
          <a:xfrm>
            <a:off x="622155" y="378372"/>
            <a:ext cx="8596668" cy="1320800"/>
          </a:xfrm>
        </p:spPr>
        <p:txBody>
          <a:bodyPr>
            <a:normAutofit/>
          </a:bodyPr>
          <a:lstStyle/>
          <a:p>
            <a:r>
              <a:rPr lang="en-IN" dirty="0">
                <a:solidFill>
                  <a:srgbClr val="FF0000"/>
                </a:solidFill>
              </a:rPr>
              <a:t>1.1.1  - Types of Symbolic AI</a:t>
            </a:r>
          </a:p>
        </p:txBody>
      </p:sp>
      <p:sp>
        <p:nvSpPr>
          <p:cNvPr id="4" name="Content Placeholder 3">
            <a:extLst>
              <a:ext uri="{FF2B5EF4-FFF2-40B4-BE49-F238E27FC236}">
                <a16:creationId xmlns:a16="http://schemas.microsoft.com/office/drawing/2014/main" id="{D933817C-BCB7-2A4C-BD01-070F9EC5F32F}"/>
              </a:ext>
            </a:extLst>
          </p:cNvPr>
          <p:cNvSpPr>
            <a:spLocks noGrp="1"/>
          </p:cNvSpPr>
          <p:nvPr>
            <p:ph idx="1"/>
          </p:nvPr>
        </p:nvSpPr>
        <p:spPr>
          <a:xfrm>
            <a:off x="700982" y="1246190"/>
            <a:ext cx="6756108" cy="4910245"/>
          </a:xfrm>
        </p:spPr>
        <p:txBody>
          <a:bodyPr>
            <a:noAutofit/>
          </a:bodyPr>
          <a:lstStyle/>
          <a:p>
            <a:pPr marL="0" indent="0">
              <a:buNone/>
            </a:pPr>
            <a:r>
              <a:rPr lang="en-US" sz="1400" b="1" dirty="0">
                <a:solidFill>
                  <a:srgbClr val="FF0000"/>
                </a:solidFill>
              </a:rPr>
              <a:t>3.Knowledge Representation Systems</a:t>
            </a:r>
          </a:p>
          <a:p>
            <a:r>
              <a:rPr lang="en-US" sz="1400" dirty="0"/>
              <a:t>These systems store knowledge in structured formats so computers can understand relationships between concepts.</a:t>
            </a:r>
          </a:p>
          <a:p>
            <a:r>
              <a:rPr lang="en-US" sz="1400" dirty="0"/>
              <a:t>Common representations include:</a:t>
            </a:r>
          </a:p>
          <a:p>
            <a:r>
              <a:rPr lang="en-US" sz="1400" b="1" dirty="0"/>
              <a:t>Semantic Networks</a:t>
            </a:r>
          </a:p>
          <a:p>
            <a:r>
              <a:rPr lang="en-US" sz="1400" dirty="0"/>
              <a:t>Information is represented as </a:t>
            </a:r>
            <a:r>
              <a:rPr lang="en-US" sz="1400" b="1" dirty="0"/>
              <a:t>nodes and relationships</a:t>
            </a:r>
            <a:r>
              <a:rPr lang="en-US" sz="1400" dirty="0"/>
              <a:t>.</a:t>
            </a:r>
          </a:p>
          <a:p>
            <a:r>
              <a:rPr lang="en-US" sz="1400" dirty="0"/>
              <a:t>Example:</a:t>
            </a:r>
          </a:p>
          <a:p>
            <a:r>
              <a:rPr lang="en-US" sz="1400" dirty="0"/>
              <a:t>Dog → is a → Animal</a:t>
            </a:r>
            <a:br>
              <a:rPr lang="en-US" sz="1400" dirty="0"/>
            </a:br>
            <a:r>
              <a:rPr lang="en-US" sz="1400" dirty="0"/>
              <a:t>Dog → has → Tail</a:t>
            </a:r>
          </a:p>
          <a:p>
            <a:r>
              <a:rPr lang="en-US" sz="1400" b="1" dirty="0"/>
              <a:t>Frames</a:t>
            </a:r>
          </a:p>
          <a:p>
            <a:r>
              <a:rPr lang="en-US" sz="1400" dirty="0"/>
              <a:t>Frames store knowledge in structured </a:t>
            </a:r>
            <a:r>
              <a:rPr lang="en-US" sz="1400" b="1" dirty="0"/>
              <a:t>objects with attributes</a:t>
            </a:r>
            <a:r>
              <a:rPr lang="en-US" sz="1400" dirty="0"/>
              <a:t>.</a:t>
            </a:r>
          </a:p>
          <a:p>
            <a:r>
              <a:rPr lang="en-US" sz="1400" dirty="0"/>
              <a:t>Example:</a:t>
            </a:r>
          </a:p>
          <a:p>
            <a:r>
              <a:rPr lang="en-US" sz="1400" dirty="0"/>
              <a:t>Frame: Car</a:t>
            </a:r>
            <a:br>
              <a:rPr lang="en-US" sz="1400" dirty="0"/>
            </a:br>
            <a:r>
              <a:rPr lang="en-US" sz="1400" dirty="0"/>
              <a:t>Attributes:</a:t>
            </a:r>
            <a:br>
              <a:rPr lang="en-US" sz="1400" dirty="0"/>
            </a:br>
            <a:r>
              <a:rPr lang="en-US" sz="1400" dirty="0"/>
              <a:t>    Wheels = 4</a:t>
            </a:r>
            <a:br>
              <a:rPr lang="en-US" sz="1400" dirty="0"/>
            </a:br>
            <a:r>
              <a:rPr lang="en-US" sz="1400" dirty="0"/>
              <a:t>    Engine = Yes</a:t>
            </a:r>
            <a:br>
              <a:rPr lang="en-US" sz="1400" dirty="0"/>
            </a:br>
            <a:r>
              <a:rPr lang="en-US" sz="1400" dirty="0"/>
              <a:t>    Fuel = Petrol/Diesel</a:t>
            </a:r>
          </a:p>
          <a:p>
            <a:pPr marL="0" indent="0">
              <a:buNone/>
            </a:pPr>
            <a:endParaRPr lang="en-IN" sz="1400" dirty="0"/>
          </a:p>
        </p:txBody>
      </p:sp>
      <p:sp>
        <p:nvSpPr>
          <p:cNvPr id="5" name="TextBox 4">
            <a:extLst>
              <a:ext uri="{FF2B5EF4-FFF2-40B4-BE49-F238E27FC236}">
                <a16:creationId xmlns:a16="http://schemas.microsoft.com/office/drawing/2014/main" id="{6C9B7299-3663-3CD7-4B8F-55EB3FC99F0A}"/>
              </a:ext>
            </a:extLst>
          </p:cNvPr>
          <p:cNvSpPr txBox="1"/>
          <p:nvPr/>
        </p:nvSpPr>
        <p:spPr>
          <a:xfrm>
            <a:off x="7220607" y="2566990"/>
            <a:ext cx="3405350" cy="954107"/>
          </a:xfrm>
          <a:prstGeom prst="rect">
            <a:avLst/>
          </a:prstGeom>
          <a:noFill/>
        </p:spPr>
        <p:txBody>
          <a:bodyPr wrap="square">
            <a:spAutoFit/>
          </a:bodyPr>
          <a:lstStyle/>
          <a:p>
            <a:pPr marL="0" indent="0">
              <a:buNone/>
            </a:pPr>
            <a:r>
              <a:rPr lang="en-US" sz="1400" b="1" dirty="0"/>
              <a:t>Applications</a:t>
            </a:r>
          </a:p>
          <a:p>
            <a:r>
              <a:rPr lang="en-US" sz="1400" dirty="0"/>
              <a:t>Knowledge graphs</a:t>
            </a:r>
          </a:p>
          <a:p>
            <a:r>
              <a:rPr lang="en-US" sz="1400" dirty="0"/>
              <a:t>Intelligent databases</a:t>
            </a:r>
          </a:p>
          <a:p>
            <a:r>
              <a:rPr lang="en-US" sz="1400" dirty="0"/>
              <a:t>Semantic web systems</a:t>
            </a:r>
          </a:p>
        </p:txBody>
      </p:sp>
    </p:spTree>
    <p:extLst>
      <p:ext uri="{BB962C8B-B14F-4D97-AF65-F5344CB8AC3E}">
        <p14:creationId xmlns:p14="http://schemas.microsoft.com/office/powerpoint/2010/main" val="271427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4B634-4EF4-C8FC-C872-151CD1360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28C6B-E186-6AD0-0E54-F1E1BAE8A101}"/>
              </a:ext>
            </a:extLst>
          </p:cNvPr>
          <p:cNvSpPr>
            <a:spLocks noGrp="1"/>
          </p:cNvSpPr>
          <p:nvPr>
            <p:ph type="title"/>
          </p:nvPr>
        </p:nvSpPr>
        <p:spPr/>
        <p:txBody>
          <a:bodyPr>
            <a:normAutofit/>
          </a:bodyPr>
          <a:lstStyle/>
          <a:p>
            <a:r>
              <a:rPr lang="en-IN" dirty="0">
                <a:solidFill>
                  <a:srgbClr val="FF0000"/>
                </a:solidFill>
              </a:rPr>
              <a:t>1.1.1 - Types of Symbolic AI</a:t>
            </a:r>
          </a:p>
        </p:txBody>
      </p:sp>
      <p:sp>
        <p:nvSpPr>
          <p:cNvPr id="4" name="Content Placeholder 3">
            <a:extLst>
              <a:ext uri="{FF2B5EF4-FFF2-40B4-BE49-F238E27FC236}">
                <a16:creationId xmlns:a16="http://schemas.microsoft.com/office/drawing/2014/main" id="{3E5D64E6-1A2D-09C6-8F9A-F612467B9AAA}"/>
              </a:ext>
            </a:extLst>
          </p:cNvPr>
          <p:cNvSpPr>
            <a:spLocks noGrp="1"/>
          </p:cNvSpPr>
          <p:nvPr>
            <p:ph idx="1"/>
          </p:nvPr>
        </p:nvSpPr>
        <p:spPr>
          <a:xfrm>
            <a:off x="740396" y="1861045"/>
            <a:ext cx="8596668" cy="4910245"/>
          </a:xfrm>
        </p:spPr>
        <p:txBody>
          <a:bodyPr>
            <a:noAutofit/>
          </a:bodyPr>
          <a:lstStyle/>
          <a:p>
            <a:pPr marL="0" indent="0">
              <a:buNone/>
            </a:pPr>
            <a:r>
              <a:rPr lang="en-US" sz="1400" b="1" dirty="0">
                <a:solidFill>
                  <a:srgbClr val="FF0000"/>
                </a:solidFill>
              </a:rPr>
              <a:t>4. Planning Systems</a:t>
            </a:r>
          </a:p>
          <a:p>
            <a:r>
              <a:rPr lang="en-US" sz="1400" dirty="0"/>
              <a:t>Planning systems help AI </a:t>
            </a:r>
            <a:r>
              <a:rPr lang="en-US" sz="1400" b="1" dirty="0"/>
              <a:t>plan sequences of actions to achieve goals</a:t>
            </a:r>
            <a:r>
              <a:rPr lang="en-US" sz="1400" dirty="0"/>
              <a:t>.</a:t>
            </a:r>
          </a:p>
          <a:p>
            <a:r>
              <a:rPr lang="en-US" sz="1400" dirty="0"/>
              <a:t>Example:</a:t>
            </a:r>
          </a:p>
          <a:p>
            <a:r>
              <a:rPr lang="en-US" sz="1400" dirty="0"/>
              <a:t>Goal: Make tea</a:t>
            </a:r>
          </a:p>
          <a:p>
            <a:r>
              <a:rPr lang="en-US" sz="1400" dirty="0"/>
              <a:t>Steps:</a:t>
            </a:r>
          </a:p>
          <a:p>
            <a:r>
              <a:rPr lang="en-US" sz="1400" dirty="0"/>
              <a:t>Boil water</a:t>
            </a:r>
          </a:p>
          <a:p>
            <a:r>
              <a:rPr lang="en-US" sz="1400" dirty="0"/>
              <a:t>Add tea leaves</a:t>
            </a:r>
          </a:p>
          <a:p>
            <a:r>
              <a:rPr lang="en-US" sz="1400" dirty="0"/>
              <a:t>Pour into cup</a:t>
            </a:r>
          </a:p>
          <a:p>
            <a:r>
              <a:rPr lang="en-US" sz="1400" dirty="0"/>
              <a:t>The AI decides the </a:t>
            </a:r>
            <a:r>
              <a:rPr lang="en-US" sz="1400" b="1" dirty="0"/>
              <a:t>best sequence of actions</a:t>
            </a:r>
            <a:r>
              <a:rPr lang="en-US" sz="1400" dirty="0"/>
              <a:t> to reach a goal.</a:t>
            </a:r>
          </a:p>
          <a:p>
            <a:pPr marL="0" indent="0">
              <a:buNone/>
            </a:pPr>
            <a:r>
              <a:rPr lang="en-US" sz="1400" b="1" dirty="0"/>
              <a:t>Applications</a:t>
            </a:r>
          </a:p>
          <a:p>
            <a:r>
              <a:rPr lang="en-US" sz="1400" dirty="0"/>
              <a:t>Robotics</a:t>
            </a:r>
          </a:p>
          <a:p>
            <a:r>
              <a:rPr lang="en-US" sz="1400" dirty="0"/>
              <a:t>Logistics planning</a:t>
            </a:r>
          </a:p>
          <a:p>
            <a:r>
              <a:rPr lang="en-US" sz="1400" dirty="0"/>
              <a:t>Automated decision systems</a:t>
            </a:r>
          </a:p>
          <a:p>
            <a:pPr marL="0" indent="0">
              <a:buNone/>
            </a:pPr>
            <a:endParaRPr lang="en-IN" sz="1400" dirty="0"/>
          </a:p>
        </p:txBody>
      </p:sp>
    </p:spTree>
    <p:extLst>
      <p:ext uri="{BB962C8B-B14F-4D97-AF65-F5344CB8AC3E}">
        <p14:creationId xmlns:p14="http://schemas.microsoft.com/office/powerpoint/2010/main" val="17645942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C408-0CD6-16DF-A15A-76E090DF1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898DD-B489-952A-C4D0-0A2640284C42}"/>
              </a:ext>
            </a:extLst>
          </p:cNvPr>
          <p:cNvSpPr>
            <a:spLocks noGrp="1"/>
          </p:cNvSpPr>
          <p:nvPr>
            <p:ph type="title"/>
          </p:nvPr>
        </p:nvSpPr>
        <p:spPr/>
        <p:txBody>
          <a:bodyPr>
            <a:normAutofit/>
          </a:bodyPr>
          <a:lstStyle/>
          <a:p>
            <a:r>
              <a:rPr lang="en-IN" dirty="0">
                <a:solidFill>
                  <a:srgbClr val="FF0000"/>
                </a:solidFill>
              </a:rPr>
              <a:t>1.1.1  - Types of Symbolic AI</a:t>
            </a:r>
          </a:p>
        </p:txBody>
      </p:sp>
      <p:sp>
        <p:nvSpPr>
          <p:cNvPr id="4" name="Content Placeholder 3">
            <a:extLst>
              <a:ext uri="{FF2B5EF4-FFF2-40B4-BE49-F238E27FC236}">
                <a16:creationId xmlns:a16="http://schemas.microsoft.com/office/drawing/2014/main" id="{A0AA8E00-E513-32D3-4292-BCA0DD6C1947}"/>
              </a:ext>
            </a:extLst>
          </p:cNvPr>
          <p:cNvSpPr>
            <a:spLocks noGrp="1"/>
          </p:cNvSpPr>
          <p:nvPr>
            <p:ph idx="1"/>
          </p:nvPr>
        </p:nvSpPr>
        <p:spPr>
          <a:xfrm>
            <a:off x="756162" y="1593031"/>
            <a:ext cx="8596668" cy="4910245"/>
          </a:xfrm>
        </p:spPr>
        <p:txBody>
          <a:bodyPr>
            <a:noAutofit/>
          </a:bodyPr>
          <a:lstStyle/>
          <a:p>
            <a:pPr marL="0" indent="0">
              <a:buNone/>
            </a:pPr>
            <a:r>
              <a:rPr lang="en-US" sz="1400" b="1" dirty="0">
                <a:solidFill>
                  <a:srgbClr val="FF0000"/>
                </a:solidFill>
              </a:rPr>
              <a:t>5.Search-Based AI</a:t>
            </a:r>
          </a:p>
          <a:p>
            <a:pPr marL="0" indent="0">
              <a:buNone/>
            </a:pPr>
            <a:r>
              <a:rPr lang="en-US" sz="1400" dirty="0"/>
              <a:t>Search-based AI finds solutions by </a:t>
            </a:r>
            <a:r>
              <a:rPr lang="en-US" sz="1400" b="1" dirty="0"/>
              <a:t>exploring possible states and paths</a:t>
            </a:r>
            <a:r>
              <a:rPr lang="en-US" sz="1400" dirty="0"/>
              <a:t>.</a:t>
            </a:r>
          </a:p>
          <a:p>
            <a:r>
              <a:rPr lang="en-US" sz="1400" dirty="0"/>
              <a:t>Example problems:</a:t>
            </a:r>
          </a:p>
          <a:p>
            <a:r>
              <a:rPr lang="en-US" sz="1400" dirty="0"/>
              <a:t>Maze solving</a:t>
            </a:r>
          </a:p>
          <a:p>
            <a:r>
              <a:rPr lang="en-US" sz="1400" dirty="0"/>
              <a:t>Chess playing</a:t>
            </a:r>
          </a:p>
          <a:p>
            <a:r>
              <a:rPr lang="en-US" sz="1400" dirty="0"/>
              <a:t>Pathfinding</a:t>
            </a:r>
          </a:p>
          <a:p>
            <a:r>
              <a:rPr lang="en-US" sz="1400" dirty="0"/>
              <a:t>Algorithms used include:</a:t>
            </a:r>
          </a:p>
          <a:p>
            <a:r>
              <a:rPr lang="en-US" sz="1400" dirty="0"/>
              <a:t>Breadth-First Search (BFS)</a:t>
            </a:r>
          </a:p>
          <a:p>
            <a:r>
              <a:rPr lang="en-US" sz="1400" dirty="0"/>
              <a:t>Depth-First Search (DFS)</a:t>
            </a:r>
          </a:p>
          <a:p>
            <a:r>
              <a:rPr lang="en-US" sz="1400" dirty="0"/>
              <a:t>A* Search</a:t>
            </a:r>
          </a:p>
          <a:p>
            <a:r>
              <a:rPr lang="en-US" sz="1400" dirty="0"/>
              <a:t>A famous symbolic AI example is </a:t>
            </a:r>
            <a:r>
              <a:rPr lang="en-US" sz="1400" b="1" dirty="0"/>
              <a:t>Deep Blue</a:t>
            </a:r>
            <a:r>
              <a:rPr lang="en-US" sz="1400" dirty="0"/>
              <a:t>, which defeated world champion </a:t>
            </a:r>
            <a:r>
              <a:rPr lang="en-US" sz="1400" b="1" dirty="0"/>
              <a:t>Garry Kasparov</a:t>
            </a:r>
            <a:r>
              <a:rPr lang="en-US" sz="1400" dirty="0"/>
              <a:t> in 1997.</a:t>
            </a:r>
          </a:p>
          <a:p>
            <a:pPr marL="0" indent="0">
              <a:buNone/>
            </a:pPr>
            <a:endParaRPr lang="en-IN" sz="1400" dirty="0"/>
          </a:p>
        </p:txBody>
      </p:sp>
    </p:spTree>
    <p:extLst>
      <p:ext uri="{BB962C8B-B14F-4D97-AF65-F5344CB8AC3E}">
        <p14:creationId xmlns:p14="http://schemas.microsoft.com/office/powerpoint/2010/main" val="29708931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47F8B-27B1-32CF-9ED4-21FBB150B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C4BFAD-ACCE-53D4-712C-7280A327AA23}"/>
              </a:ext>
            </a:extLst>
          </p:cNvPr>
          <p:cNvSpPr>
            <a:spLocks noGrp="1"/>
          </p:cNvSpPr>
          <p:nvPr>
            <p:ph type="title"/>
          </p:nvPr>
        </p:nvSpPr>
        <p:spPr/>
        <p:txBody>
          <a:bodyPr>
            <a:normAutofit/>
          </a:bodyPr>
          <a:lstStyle/>
          <a:p>
            <a:r>
              <a:rPr lang="en-IN" dirty="0">
                <a:solidFill>
                  <a:srgbClr val="FF0000"/>
                </a:solidFill>
              </a:rPr>
              <a:t>1.1.1  - Symbolic AI</a:t>
            </a:r>
          </a:p>
        </p:txBody>
      </p:sp>
      <p:sp>
        <p:nvSpPr>
          <p:cNvPr id="4" name="Content Placeholder 3">
            <a:extLst>
              <a:ext uri="{FF2B5EF4-FFF2-40B4-BE49-F238E27FC236}">
                <a16:creationId xmlns:a16="http://schemas.microsoft.com/office/drawing/2014/main" id="{BA0A92B5-EDED-3012-3FD1-296E56E17DFE}"/>
              </a:ext>
            </a:extLst>
          </p:cNvPr>
          <p:cNvSpPr>
            <a:spLocks noGrp="1"/>
          </p:cNvSpPr>
          <p:nvPr>
            <p:ph idx="1"/>
          </p:nvPr>
        </p:nvSpPr>
        <p:spPr>
          <a:xfrm>
            <a:off x="771927" y="1214659"/>
            <a:ext cx="8596668" cy="4910245"/>
          </a:xfrm>
        </p:spPr>
        <p:txBody>
          <a:bodyPr>
            <a:noAutofit/>
          </a:bodyPr>
          <a:lstStyle/>
          <a:p>
            <a:pPr marL="0" indent="0">
              <a:buNone/>
            </a:pPr>
            <a:endParaRPr lang="en-US" sz="1400" dirty="0"/>
          </a:p>
          <a:p>
            <a:pPr marL="0" indent="0">
              <a:buNone/>
            </a:pPr>
            <a:r>
              <a:rPr lang="en-US" sz="1400" b="1" dirty="0">
                <a:solidFill>
                  <a:srgbClr val="FF0000"/>
                </a:solidFill>
              </a:rPr>
              <a:t>Advantages  of Symbolic AI</a:t>
            </a:r>
          </a:p>
          <a:p>
            <a:endParaRPr lang="en-US" sz="1400" dirty="0"/>
          </a:p>
          <a:p>
            <a:r>
              <a:rPr lang="en-US" sz="1400" dirty="0"/>
              <a:t>Provides clear and explainable decision-making. </a:t>
            </a:r>
          </a:p>
          <a:p>
            <a:r>
              <a:rPr lang="en-US" sz="1400" dirty="0"/>
              <a:t>Easy to understand and interpret by humans. </a:t>
            </a:r>
          </a:p>
          <a:p>
            <a:r>
              <a:rPr lang="en-US" sz="1400" dirty="0"/>
              <a:t>Strong in logical reasoning and rule-based problem solving. </a:t>
            </a:r>
          </a:p>
          <a:p>
            <a:r>
              <a:rPr lang="en-US" sz="1400" dirty="0"/>
              <a:t>Requires very little data to operate. </a:t>
            </a:r>
          </a:p>
          <a:p>
            <a:r>
              <a:rPr lang="en-US" sz="1400" dirty="0"/>
              <a:t>Produces consistent and predictable results. </a:t>
            </a:r>
          </a:p>
          <a:p>
            <a:r>
              <a:rPr lang="en-US" sz="1400" dirty="0"/>
              <a:t>Easy to modify by updating rules.</a:t>
            </a:r>
          </a:p>
          <a:p>
            <a:pPr marL="0" indent="0">
              <a:buNone/>
            </a:pPr>
            <a:endParaRPr lang="en-IN" sz="1400" dirty="0"/>
          </a:p>
        </p:txBody>
      </p:sp>
    </p:spTree>
    <p:extLst>
      <p:ext uri="{BB962C8B-B14F-4D97-AF65-F5344CB8AC3E}">
        <p14:creationId xmlns:p14="http://schemas.microsoft.com/office/powerpoint/2010/main" val="22602213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0728-6944-C734-E154-3E5DF50D4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04209-B896-B09B-8328-21B9C9EF9897}"/>
              </a:ext>
            </a:extLst>
          </p:cNvPr>
          <p:cNvSpPr>
            <a:spLocks noGrp="1"/>
          </p:cNvSpPr>
          <p:nvPr>
            <p:ph type="title"/>
          </p:nvPr>
        </p:nvSpPr>
        <p:spPr/>
        <p:txBody>
          <a:bodyPr>
            <a:normAutofit/>
          </a:bodyPr>
          <a:lstStyle/>
          <a:p>
            <a:r>
              <a:rPr lang="en-IN" dirty="0">
                <a:solidFill>
                  <a:srgbClr val="FF0000"/>
                </a:solidFill>
              </a:rPr>
              <a:t>1.1.1  - Symbolic AI</a:t>
            </a:r>
          </a:p>
        </p:txBody>
      </p:sp>
      <p:sp>
        <p:nvSpPr>
          <p:cNvPr id="4" name="Content Placeholder 3">
            <a:extLst>
              <a:ext uri="{FF2B5EF4-FFF2-40B4-BE49-F238E27FC236}">
                <a16:creationId xmlns:a16="http://schemas.microsoft.com/office/drawing/2014/main" id="{5D1A8E2C-B7E1-9A6B-B532-CC8426789D44}"/>
              </a:ext>
            </a:extLst>
          </p:cNvPr>
          <p:cNvSpPr>
            <a:spLocks noGrp="1"/>
          </p:cNvSpPr>
          <p:nvPr>
            <p:ph idx="1"/>
          </p:nvPr>
        </p:nvSpPr>
        <p:spPr>
          <a:xfrm>
            <a:off x="771927" y="1214659"/>
            <a:ext cx="8596668" cy="4910245"/>
          </a:xfrm>
        </p:spPr>
        <p:txBody>
          <a:bodyPr>
            <a:noAutofit/>
          </a:bodyPr>
          <a:lstStyle/>
          <a:p>
            <a:pPr marL="0" indent="0">
              <a:buNone/>
            </a:pPr>
            <a:endParaRPr lang="en-US" sz="1400" dirty="0"/>
          </a:p>
          <a:p>
            <a:pPr marL="0" indent="0">
              <a:buNone/>
            </a:pPr>
            <a:r>
              <a:rPr lang="en-US" sz="1400" b="1" dirty="0">
                <a:solidFill>
                  <a:srgbClr val="FF0000"/>
                </a:solidFill>
              </a:rPr>
              <a:t>Limitations of Symbolic AI</a:t>
            </a:r>
          </a:p>
          <a:p>
            <a:r>
              <a:rPr lang="en-US" sz="1400" b="1" dirty="0"/>
              <a:t>Cannot learn from data</a:t>
            </a:r>
          </a:p>
          <a:p>
            <a:r>
              <a:rPr lang="en-US" sz="1400" dirty="0"/>
              <a:t>All knowledge must be </a:t>
            </a:r>
            <a:r>
              <a:rPr lang="en-US" sz="1400" b="1" dirty="0"/>
              <a:t>manually programmed</a:t>
            </a:r>
            <a:r>
              <a:rPr lang="en-US" sz="1400" dirty="0"/>
              <a:t>.</a:t>
            </a:r>
          </a:p>
          <a:p>
            <a:r>
              <a:rPr lang="en-US" sz="1400" dirty="0"/>
              <a:t>It struggles with vague or incomplete data.</a:t>
            </a:r>
          </a:p>
          <a:p>
            <a:r>
              <a:rPr lang="en-US" sz="1400" dirty="0"/>
              <a:t>Writing rules manually for complex systems becomes difficult.</a:t>
            </a:r>
          </a:p>
          <a:p>
            <a:endParaRPr lang="en-US" sz="1400" dirty="0"/>
          </a:p>
          <a:p>
            <a:pPr marL="0" indent="0">
              <a:buNone/>
            </a:pPr>
            <a:endParaRPr lang="en-IN" sz="1400" dirty="0"/>
          </a:p>
        </p:txBody>
      </p:sp>
      <p:pic>
        <p:nvPicPr>
          <p:cNvPr id="7" name="Picture 6">
            <a:extLst>
              <a:ext uri="{FF2B5EF4-FFF2-40B4-BE49-F238E27FC236}">
                <a16:creationId xmlns:a16="http://schemas.microsoft.com/office/drawing/2014/main" id="{B485435D-E1F4-C6BD-6AB1-E6469CC9E6E0}"/>
              </a:ext>
            </a:extLst>
          </p:cNvPr>
          <p:cNvPicPr>
            <a:picLocks noChangeAspect="1"/>
          </p:cNvPicPr>
          <p:nvPr/>
        </p:nvPicPr>
        <p:blipFill>
          <a:blip r:embed="rId2"/>
          <a:stretch>
            <a:fillRect/>
          </a:stretch>
        </p:blipFill>
        <p:spPr>
          <a:xfrm>
            <a:off x="2460843" y="3307174"/>
            <a:ext cx="5218836" cy="2490238"/>
          </a:xfrm>
          <a:prstGeom prst="rect">
            <a:avLst/>
          </a:prstGeom>
        </p:spPr>
      </p:pic>
    </p:spTree>
    <p:extLst>
      <p:ext uri="{BB962C8B-B14F-4D97-AF65-F5344CB8AC3E}">
        <p14:creationId xmlns:p14="http://schemas.microsoft.com/office/powerpoint/2010/main" val="3455636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80D04-B012-A92A-3055-AE6079441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E758FC-A2A0-25CF-12E7-70B6063643B7}"/>
              </a:ext>
            </a:extLst>
          </p:cNvPr>
          <p:cNvSpPr>
            <a:spLocks noGrp="1"/>
          </p:cNvSpPr>
          <p:nvPr>
            <p:ph type="title"/>
          </p:nvPr>
        </p:nvSpPr>
        <p:spPr/>
        <p:txBody>
          <a:bodyPr>
            <a:normAutofit/>
          </a:bodyPr>
          <a:lstStyle/>
          <a:p>
            <a:r>
              <a:rPr lang="en-IN" dirty="0">
                <a:solidFill>
                  <a:srgbClr val="FF0000"/>
                </a:solidFill>
              </a:rPr>
              <a:t>1.1.1 - Classical Machine Learning</a:t>
            </a:r>
          </a:p>
        </p:txBody>
      </p:sp>
      <p:sp>
        <p:nvSpPr>
          <p:cNvPr id="4" name="Content Placeholder 3">
            <a:extLst>
              <a:ext uri="{FF2B5EF4-FFF2-40B4-BE49-F238E27FC236}">
                <a16:creationId xmlns:a16="http://schemas.microsoft.com/office/drawing/2014/main" id="{6ADA3DE8-D8B4-AFBC-3052-52A95B0ADCB7}"/>
              </a:ext>
            </a:extLst>
          </p:cNvPr>
          <p:cNvSpPr>
            <a:spLocks noGrp="1"/>
          </p:cNvSpPr>
          <p:nvPr>
            <p:ph idx="1"/>
          </p:nvPr>
        </p:nvSpPr>
        <p:spPr>
          <a:xfrm>
            <a:off x="771927" y="1569383"/>
            <a:ext cx="8596668" cy="4910245"/>
          </a:xfrm>
        </p:spPr>
        <p:txBody>
          <a:bodyPr>
            <a:noAutofit/>
          </a:bodyPr>
          <a:lstStyle/>
          <a:p>
            <a:pPr marL="0" indent="0">
              <a:buNone/>
            </a:pPr>
            <a:r>
              <a:rPr lang="en-US" sz="1400" dirty="0"/>
              <a:t>Classical machine learning is a data-driven approach that requires data preparation, feature selection and model training, and can be used for tasks such as defect categorization and predicting software problems.</a:t>
            </a:r>
          </a:p>
          <a:p>
            <a:pPr marL="0" indent="0">
              <a:buNone/>
            </a:pPr>
            <a:endParaRPr lang="en-US" sz="1400" dirty="0"/>
          </a:p>
          <a:p>
            <a:r>
              <a:rPr lang="en-US" sz="1400" b="1" dirty="0"/>
              <a:t>Classical Machine Learning (ML)</a:t>
            </a:r>
            <a:r>
              <a:rPr lang="en-US" sz="1400" dirty="0"/>
              <a:t> is a type of artificial intelligence where computers </a:t>
            </a:r>
            <a:r>
              <a:rPr lang="en-US" sz="1400" b="1" dirty="0"/>
              <a:t>learn patterns from data instead of being explicitly programmed with rules</a:t>
            </a:r>
            <a:r>
              <a:rPr lang="en-US" sz="1400" dirty="0"/>
              <a:t>.</a:t>
            </a:r>
          </a:p>
          <a:p>
            <a:r>
              <a:rPr lang="en-US" sz="1400" dirty="0"/>
              <a:t>In </a:t>
            </a:r>
            <a:r>
              <a:rPr lang="en-US" sz="1400" b="1" dirty="0"/>
              <a:t>Symbolic AI</a:t>
            </a:r>
            <a:r>
              <a:rPr lang="en-US" sz="1400" dirty="0"/>
              <a:t>, humans write rules.</a:t>
            </a:r>
            <a:br>
              <a:rPr lang="en-US" sz="1400" dirty="0"/>
            </a:br>
            <a:r>
              <a:rPr lang="en-US" sz="1400" dirty="0"/>
              <a:t>In </a:t>
            </a:r>
            <a:r>
              <a:rPr lang="en-US" sz="1400" b="1" dirty="0"/>
              <a:t>Machine Learning</a:t>
            </a:r>
            <a:r>
              <a:rPr lang="en-US" sz="1400" dirty="0"/>
              <a:t>, the system </a:t>
            </a:r>
            <a:r>
              <a:rPr lang="en-US" sz="1400" b="1" dirty="0"/>
              <a:t>learns the rules automatically from data</a:t>
            </a:r>
            <a:r>
              <a:rPr lang="en-US" sz="1400" dirty="0"/>
              <a:t>.</a:t>
            </a:r>
          </a:p>
          <a:p>
            <a:r>
              <a:rPr lang="en-US" sz="1400" dirty="0"/>
              <a:t>Simple definition:</a:t>
            </a:r>
          </a:p>
          <a:p>
            <a:r>
              <a:rPr lang="en-US" sz="1400" b="1" dirty="0"/>
              <a:t>Classical Machine Learning = Algorithms that learn patterns from data to make predictions or decisions.</a:t>
            </a:r>
            <a:endParaRPr lang="en-US" sz="1400" dirty="0"/>
          </a:p>
          <a:p>
            <a:r>
              <a:rPr lang="en-US" sz="1400" dirty="0"/>
              <a:t>Example:</a:t>
            </a:r>
            <a:br>
              <a:rPr lang="en-US" sz="1400" dirty="0"/>
            </a:br>
            <a:r>
              <a:rPr lang="en-US" sz="1400" dirty="0"/>
              <a:t>Predict whether an email is </a:t>
            </a:r>
            <a:r>
              <a:rPr lang="en-US" sz="1400" b="1" dirty="0"/>
              <a:t>spam or not spam</a:t>
            </a:r>
            <a:r>
              <a:rPr lang="en-US" sz="1400" dirty="0"/>
              <a:t> based on previous email data.</a:t>
            </a:r>
          </a:p>
          <a:p>
            <a:pPr marL="0" indent="0">
              <a:buNone/>
            </a:pPr>
            <a:endParaRPr lang="en-IN" sz="1400" dirty="0"/>
          </a:p>
        </p:txBody>
      </p:sp>
    </p:spTree>
    <p:extLst>
      <p:ext uri="{BB962C8B-B14F-4D97-AF65-F5344CB8AC3E}">
        <p14:creationId xmlns:p14="http://schemas.microsoft.com/office/powerpoint/2010/main" val="39677971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B7CD9-013C-4D9C-408A-17EC02B6C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4F330-CFC7-6E62-D296-AC671ED771AC}"/>
              </a:ext>
            </a:extLst>
          </p:cNvPr>
          <p:cNvSpPr>
            <a:spLocks noGrp="1"/>
          </p:cNvSpPr>
          <p:nvPr>
            <p:ph type="title"/>
          </p:nvPr>
        </p:nvSpPr>
        <p:spPr>
          <a:xfrm>
            <a:off x="685216" y="459828"/>
            <a:ext cx="8596668" cy="1320800"/>
          </a:xfrm>
        </p:spPr>
        <p:txBody>
          <a:bodyPr>
            <a:normAutofit/>
          </a:bodyPr>
          <a:lstStyle/>
          <a:p>
            <a:r>
              <a:rPr lang="en-IN" dirty="0">
                <a:solidFill>
                  <a:srgbClr val="FF0000"/>
                </a:solidFill>
              </a:rPr>
              <a:t>1.1.1 - Classical Machine Learning</a:t>
            </a:r>
          </a:p>
        </p:txBody>
      </p:sp>
      <p:sp>
        <p:nvSpPr>
          <p:cNvPr id="4" name="Content Placeholder 3">
            <a:extLst>
              <a:ext uri="{FF2B5EF4-FFF2-40B4-BE49-F238E27FC236}">
                <a16:creationId xmlns:a16="http://schemas.microsoft.com/office/drawing/2014/main" id="{1A87D5D3-38AF-16CF-07EA-DB8710812759}"/>
              </a:ext>
            </a:extLst>
          </p:cNvPr>
          <p:cNvSpPr>
            <a:spLocks noGrp="1"/>
          </p:cNvSpPr>
          <p:nvPr>
            <p:ph idx="1"/>
          </p:nvPr>
        </p:nvSpPr>
        <p:spPr>
          <a:xfrm>
            <a:off x="685216" y="1301370"/>
            <a:ext cx="9049991" cy="5304382"/>
          </a:xfrm>
        </p:spPr>
        <p:txBody>
          <a:bodyPr>
            <a:noAutofit/>
          </a:bodyPr>
          <a:lstStyle/>
          <a:p>
            <a:pPr marL="0" indent="0">
              <a:buNone/>
            </a:pPr>
            <a:r>
              <a:rPr lang="en-US" sz="1400" dirty="0"/>
              <a:t>Machine learning works using three main components:</a:t>
            </a:r>
          </a:p>
          <a:p>
            <a:r>
              <a:rPr lang="en-US" sz="1400" dirty="0"/>
              <a:t>Data → Algorithm → Model → Prediction</a:t>
            </a:r>
          </a:p>
          <a:p>
            <a:r>
              <a:rPr lang="en-US" sz="1400" dirty="0"/>
              <a:t>Explanation:</a:t>
            </a:r>
          </a:p>
          <a:p>
            <a:r>
              <a:rPr lang="en-US" sz="1400" b="1" dirty="0"/>
              <a:t>Data</a:t>
            </a:r>
            <a:br>
              <a:rPr lang="en-US" sz="1400" dirty="0"/>
            </a:br>
            <a:r>
              <a:rPr lang="en-US" sz="1400" dirty="0"/>
              <a:t>Historical examples used for training.</a:t>
            </a:r>
          </a:p>
          <a:p>
            <a:r>
              <a:rPr lang="en-US" sz="1400" b="1" dirty="0"/>
              <a:t>Algorithm</a:t>
            </a:r>
            <a:br>
              <a:rPr lang="en-US" sz="1400" dirty="0"/>
            </a:br>
            <a:r>
              <a:rPr lang="en-US" sz="1400" dirty="0"/>
              <a:t>Mathematical method used to learn patterns.</a:t>
            </a:r>
          </a:p>
          <a:p>
            <a:r>
              <a:rPr lang="en-US" sz="1400" b="1" dirty="0"/>
              <a:t>Model</a:t>
            </a:r>
            <a:br>
              <a:rPr lang="en-US" sz="1400" dirty="0"/>
            </a:br>
            <a:r>
              <a:rPr lang="en-US" sz="1400" dirty="0"/>
              <a:t>The trained system that makes predictions.</a:t>
            </a:r>
          </a:p>
          <a:p>
            <a:r>
              <a:rPr lang="en-US" sz="1400" b="1" dirty="0"/>
              <a:t>Prediction</a:t>
            </a:r>
            <a:br>
              <a:rPr lang="en-US" sz="1400" dirty="0"/>
            </a:br>
            <a:r>
              <a:rPr lang="en-US" sz="1400" dirty="0"/>
              <a:t>Output generated by the model.</a:t>
            </a:r>
          </a:p>
          <a:p>
            <a:pPr marL="0" indent="0">
              <a:buNone/>
            </a:pPr>
            <a:r>
              <a:rPr lang="en-US" sz="1400" dirty="0"/>
              <a:t>Example:</a:t>
            </a:r>
          </a:p>
          <a:p>
            <a:r>
              <a:rPr lang="en-US" sz="1400" dirty="0"/>
              <a:t>Training Data: house size, location, price</a:t>
            </a:r>
            <a:br>
              <a:rPr lang="en-US" sz="1400" dirty="0"/>
            </a:br>
            <a:r>
              <a:rPr lang="en-US" sz="1400" dirty="0"/>
              <a:t>↓</a:t>
            </a:r>
            <a:br>
              <a:rPr lang="en-US" sz="1400" dirty="0"/>
            </a:br>
            <a:r>
              <a:rPr lang="en-US" sz="1400" dirty="0"/>
              <a:t>Model learns relationship</a:t>
            </a:r>
            <a:br>
              <a:rPr lang="en-US" sz="1400" dirty="0"/>
            </a:br>
            <a:r>
              <a:rPr lang="en-US" sz="1400" dirty="0"/>
              <a:t>↓</a:t>
            </a:r>
            <a:br>
              <a:rPr lang="en-US" sz="1400" dirty="0"/>
            </a:br>
            <a:r>
              <a:rPr lang="en-US" sz="1400" dirty="0"/>
              <a:t>Predict price of new house</a:t>
            </a:r>
          </a:p>
          <a:p>
            <a:pPr marL="0" indent="0">
              <a:buNone/>
            </a:pPr>
            <a:endParaRPr lang="en-IN" sz="1400" dirty="0"/>
          </a:p>
        </p:txBody>
      </p:sp>
    </p:spTree>
    <p:extLst>
      <p:ext uri="{BB962C8B-B14F-4D97-AF65-F5344CB8AC3E}">
        <p14:creationId xmlns:p14="http://schemas.microsoft.com/office/powerpoint/2010/main" val="3104717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49B49-9759-39FE-3502-0428EFF99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88D69-6FF6-D004-C117-EB81554C2FB6}"/>
              </a:ext>
            </a:extLst>
          </p:cNvPr>
          <p:cNvSpPr>
            <a:spLocks noGrp="1"/>
          </p:cNvSpPr>
          <p:nvPr>
            <p:ph type="title"/>
          </p:nvPr>
        </p:nvSpPr>
        <p:spPr>
          <a:xfrm>
            <a:off x="685216" y="459828"/>
            <a:ext cx="8596668" cy="1320800"/>
          </a:xfrm>
        </p:spPr>
        <p:txBody>
          <a:bodyPr>
            <a:normAutofit/>
          </a:bodyPr>
          <a:lstStyle/>
          <a:p>
            <a:r>
              <a:rPr lang="en-IN" sz="3200" dirty="0">
                <a:solidFill>
                  <a:srgbClr val="FF0000"/>
                </a:solidFill>
              </a:rPr>
              <a:t>1.1.1 - Types of Classical Machine Learning</a:t>
            </a:r>
          </a:p>
        </p:txBody>
      </p:sp>
      <p:sp>
        <p:nvSpPr>
          <p:cNvPr id="4" name="Content Placeholder 3">
            <a:extLst>
              <a:ext uri="{FF2B5EF4-FFF2-40B4-BE49-F238E27FC236}">
                <a16:creationId xmlns:a16="http://schemas.microsoft.com/office/drawing/2014/main" id="{CF4AFF30-91B6-7FC5-E291-001D466584C0}"/>
              </a:ext>
            </a:extLst>
          </p:cNvPr>
          <p:cNvSpPr>
            <a:spLocks noGrp="1"/>
          </p:cNvSpPr>
          <p:nvPr>
            <p:ph idx="1"/>
          </p:nvPr>
        </p:nvSpPr>
        <p:spPr>
          <a:xfrm>
            <a:off x="685216" y="1687625"/>
            <a:ext cx="8596668" cy="5304382"/>
          </a:xfrm>
        </p:spPr>
        <p:txBody>
          <a:bodyPr>
            <a:noAutofit/>
          </a:bodyPr>
          <a:lstStyle/>
          <a:p>
            <a:pPr marL="0" indent="0">
              <a:buNone/>
            </a:pPr>
            <a:r>
              <a:rPr lang="en-US" sz="1400" b="1" dirty="0">
                <a:solidFill>
                  <a:srgbClr val="FF0000"/>
                </a:solidFill>
              </a:rPr>
              <a:t>1. Supervised Learning</a:t>
            </a:r>
          </a:p>
          <a:p>
            <a:pPr marL="0" indent="0">
              <a:buNone/>
            </a:pPr>
            <a:r>
              <a:rPr lang="en-US" sz="1400" dirty="0"/>
              <a:t>In supervised learning, the model learns using labeled data.</a:t>
            </a:r>
          </a:p>
          <a:p>
            <a:pPr marL="0" indent="0">
              <a:buNone/>
            </a:pPr>
            <a:r>
              <a:rPr lang="en-US" sz="1400" dirty="0"/>
              <a:t>Labeled data means input + correct output.</a:t>
            </a:r>
          </a:p>
          <a:p>
            <a:pPr marL="0" indent="0">
              <a:buNone/>
            </a:pPr>
            <a:r>
              <a:rPr lang="en-US" sz="1400" dirty="0"/>
              <a:t>Example dataset:</a:t>
            </a:r>
          </a:p>
          <a:p>
            <a:pPr marL="0" indent="0">
              <a:buNone/>
            </a:pPr>
            <a:r>
              <a:rPr lang="en-US" sz="1400" dirty="0"/>
              <a:t>House Size	Price</a:t>
            </a:r>
          </a:p>
          <a:p>
            <a:pPr marL="0" indent="0">
              <a:buNone/>
            </a:pPr>
            <a:r>
              <a:rPr lang="en-US" sz="1400" dirty="0"/>
              <a:t>1000 sq ft	50,000</a:t>
            </a:r>
          </a:p>
          <a:p>
            <a:pPr marL="0" indent="0">
              <a:buNone/>
            </a:pPr>
            <a:endParaRPr lang="en-US" sz="1400" b="1" dirty="0"/>
          </a:p>
          <a:p>
            <a:pPr marL="0" indent="0">
              <a:buNone/>
            </a:pPr>
            <a:r>
              <a:rPr lang="en-US" sz="1400" b="1" dirty="0"/>
              <a:t>Common Algorithms</a:t>
            </a:r>
          </a:p>
          <a:p>
            <a:r>
              <a:rPr lang="en-US" sz="1400" dirty="0"/>
              <a:t>Linear Regression</a:t>
            </a:r>
          </a:p>
          <a:p>
            <a:r>
              <a:rPr lang="en-US" sz="1400" dirty="0"/>
              <a:t>Logistic Regression</a:t>
            </a:r>
          </a:p>
          <a:p>
            <a:r>
              <a:rPr lang="en-US" sz="1400" dirty="0"/>
              <a:t>Decision Trees</a:t>
            </a:r>
          </a:p>
          <a:p>
            <a:r>
              <a:rPr lang="en-US" sz="1400" dirty="0"/>
              <a:t>Support Vector M</a:t>
            </a:r>
          </a:p>
          <a:p>
            <a:pPr marL="0" indent="0">
              <a:buNone/>
            </a:pPr>
            <a:endParaRPr lang="en-US" sz="1400" dirty="0"/>
          </a:p>
        </p:txBody>
      </p:sp>
      <p:sp>
        <p:nvSpPr>
          <p:cNvPr id="7" name="TextBox 6">
            <a:extLst>
              <a:ext uri="{FF2B5EF4-FFF2-40B4-BE49-F238E27FC236}">
                <a16:creationId xmlns:a16="http://schemas.microsoft.com/office/drawing/2014/main" id="{468270CD-12CB-87FE-687C-797454BCB6FE}"/>
              </a:ext>
            </a:extLst>
          </p:cNvPr>
          <p:cNvSpPr txBox="1"/>
          <p:nvPr/>
        </p:nvSpPr>
        <p:spPr>
          <a:xfrm>
            <a:off x="6034188" y="1674674"/>
            <a:ext cx="6101254" cy="1384995"/>
          </a:xfrm>
          <a:prstGeom prst="rect">
            <a:avLst/>
          </a:prstGeom>
          <a:noFill/>
        </p:spPr>
        <p:txBody>
          <a:bodyPr wrap="square">
            <a:spAutoFit/>
          </a:bodyPr>
          <a:lstStyle/>
          <a:p>
            <a:pPr>
              <a:buNone/>
            </a:pPr>
            <a:r>
              <a:rPr lang="en-US" sz="1400" b="1" dirty="0"/>
              <a:t>Example Applications</a:t>
            </a:r>
          </a:p>
          <a:p>
            <a:pPr>
              <a:buNone/>
            </a:pPr>
            <a:endParaRPr lang="en-US" sz="1400" b="1" dirty="0"/>
          </a:p>
          <a:p>
            <a:pPr>
              <a:buFont typeface="Arial" panose="020B0604020202020204" pitchFamily="34" charset="0"/>
              <a:buChar char="•"/>
            </a:pPr>
            <a:r>
              <a:rPr lang="en-US" sz="1400" dirty="0"/>
              <a:t>Spam detection</a:t>
            </a:r>
          </a:p>
          <a:p>
            <a:pPr>
              <a:buFont typeface="Arial" panose="020B0604020202020204" pitchFamily="34" charset="0"/>
              <a:buChar char="•"/>
            </a:pPr>
            <a:r>
              <a:rPr lang="en-US" sz="1400" dirty="0"/>
              <a:t>Credit risk prediction</a:t>
            </a:r>
          </a:p>
          <a:p>
            <a:pPr>
              <a:buFont typeface="Arial" panose="020B0604020202020204" pitchFamily="34" charset="0"/>
              <a:buChar char="•"/>
            </a:pPr>
            <a:r>
              <a:rPr lang="en-US" sz="1400" dirty="0"/>
              <a:t>Medical diagnosis</a:t>
            </a:r>
          </a:p>
          <a:p>
            <a:pPr>
              <a:buFont typeface="Arial" panose="020B0604020202020204" pitchFamily="34" charset="0"/>
              <a:buChar char="•"/>
            </a:pPr>
            <a:r>
              <a:rPr lang="en-US" sz="1400" dirty="0"/>
              <a:t>Fraud detection</a:t>
            </a:r>
          </a:p>
        </p:txBody>
      </p:sp>
      <p:sp>
        <p:nvSpPr>
          <p:cNvPr id="9" name="TextBox 8">
            <a:extLst>
              <a:ext uri="{FF2B5EF4-FFF2-40B4-BE49-F238E27FC236}">
                <a16:creationId xmlns:a16="http://schemas.microsoft.com/office/drawing/2014/main" id="{A05AA700-8C21-5F77-FFE1-3E6369C9565B}"/>
              </a:ext>
            </a:extLst>
          </p:cNvPr>
          <p:cNvSpPr txBox="1"/>
          <p:nvPr/>
        </p:nvSpPr>
        <p:spPr>
          <a:xfrm>
            <a:off x="5935717" y="4342489"/>
            <a:ext cx="6101254" cy="738664"/>
          </a:xfrm>
          <a:prstGeom prst="rect">
            <a:avLst/>
          </a:prstGeom>
          <a:noFill/>
        </p:spPr>
        <p:txBody>
          <a:bodyPr wrap="square">
            <a:spAutoFit/>
          </a:bodyPr>
          <a:lstStyle/>
          <a:p>
            <a:pPr>
              <a:buNone/>
            </a:pPr>
            <a:r>
              <a:rPr lang="en-US" sz="1400" dirty="0">
                <a:latin typeface="+mj-lt"/>
              </a:rPr>
              <a:t>Example:</a:t>
            </a:r>
          </a:p>
          <a:p>
            <a:pPr rtl="0">
              <a:buNone/>
            </a:pPr>
            <a:r>
              <a:rPr lang="en-US" sz="1400" dirty="0">
                <a:latin typeface="+mj-lt"/>
              </a:rPr>
              <a:t>Input: Email text</a:t>
            </a:r>
            <a:br>
              <a:rPr lang="en-US" sz="1400" dirty="0">
                <a:latin typeface="+mj-lt"/>
              </a:rPr>
            </a:br>
            <a:r>
              <a:rPr lang="en-US" sz="1400" dirty="0">
                <a:latin typeface="+mj-lt"/>
              </a:rPr>
              <a:t>Output: Spam or Not Spam</a:t>
            </a:r>
          </a:p>
        </p:txBody>
      </p:sp>
    </p:spTree>
    <p:extLst>
      <p:ext uri="{BB962C8B-B14F-4D97-AF65-F5344CB8AC3E}">
        <p14:creationId xmlns:p14="http://schemas.microsoft.com/office/powerpoint/2010/main" val="333555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63A05-625D-4075-F56C-831412B38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6B023-7A55-BF9D-72FE-4968BE884460}"/>
              </a:ext>
            </a:extLst>
          </p:cNvPr>
          <p:cNvSpPr>
            <a:spLocks noGrp="1"/>
          </p:cNvSpPr>
          <p:nvPr>
            <p:ph type="title"/>
          </p:nvPr>
        </p:nvSpPr>
        <p:spPr>
          <a:xfrm>
            <a:off x="685216" y="459828"/>
            <a:ext cx="8596668" cy="1320800"/>
          </a:xfrm>
        </p:spPr>
        <p:txBody>
          <a:bodyPr>
            <a:normAutofit/>
          </a:bodyPr>
          <a:lstStyle/>
          <a:p>
            <a:r>
              <a:rPr lang="en-IN" sz="3200" dirty="0">
                <a:solidFill>
                  <a:srgbClr val="FF0000"/>
                </a:solidFill>
              </a:rPr>
              <a:t>1.1.1 - Types of Classical Machine Learning</a:t>
            </a:r>
          </a:p>
        </p:txBody>
      </p:sp>
      <p:sp>
        <p:nvSpPr>
          <p:cNvPr id="4" name="Content Placeholder 3">
            <a:extLst>
              <a:ext uri="{FF2B5EF4-FFF2-40B4-BE49-F238E27FC236}">
                <a16:creationId xmlns:a16="http://schemas.microsoft.com/office/drawing/2014/main" id="{3FDD5AAF-C4C4-3996-E24F-63C411E66E04}"/>
              </a:ext>
            </a:extLst>
          </p:cNvPr>
          <p:cNvSpPr>
            <a:spLocks noGrp="1"/>
          </p:cNvSpPr>
          <p:nvPr>
            <p:ph idx="1"/>
          </p:nvPr>
        </p:nvSpPr>
        <p:spPr>
          <a:xfrm>
            <a:off x="740395" y="1780628"/>
            <a:ext cx="8596668" cy="5304382"/>
          </a:xfrm>
        </p:spPr>
        <p:txBody>
          <a:bodyPr>
            <a:noAutofit/>
          </a:bodyPr>
          <a:lstStyle/>
          <a:p>
            <a:pPr marL="0" indent="0">
              <a:buNone/>
            </a:pPr>
            <a:r>
              <a:rPr lang="en-US" sz="1400" b="1" dirty="0">
                <a:solidFill>
                  <a:srgbClr val="FF0000"/>
                </a:solidFill>
              </a:rPr>
              <a:t>2. Unsupervised Learning</a:t>
            </a:r>
          </a:p>
          <a:p>
            <a:pPr marL="0" indent="0">
              <a:buNone/>
            </a:pPr>
            <a:r>
              <a:rPr lang="en-US" sz="1400" dirty="0"/>
              <a:t>In unsupervised learning, the data does not contain labels.</a:t>
            </a:r>
          </a:p>
          <a:p>
            <a:pPr marL="0" indent="0">
              <a:buNone/>
            </a:pPr>
            <a:r>
              <a:rPr lang="en-US" sz="1400" dirty="0"/>
              <a:t>The algorithm tries to discover patterns or structures in the data.</a:t>
            </a:r>
          </a:p>
          <a:p>
            <a:pPr marL="0" indent="0">
              <a:buNone/>
            </a:pPr>
            <a:r>
              <a:rPr lang="en-US" sz="1400" dirty="0"/>
              <a:t>Example dataset:</a:t>
            </a:r>
          </a:p>
          <a:p>
            <a:pPr marL="0" indent="0">
              <a:buNone/>
            </a:pPr>
            <a:r>
              <a:rPr lang="en-US" sz="1400" dirty="0"/>
              <a:t>Customer ID	Age	Purchase Amount</a:t>
            </a:r>
          </a:p>
          <a:p>
            <a:pPr marL="0" indent="0">
              <a:buNone/>
            </a:pPr>
            <a:r>
              <a:rPr lang="en-US" sz="1400" dirty="0"/>
              <a:t>1	22	500</a:t>
            </a:r>
          </a:p>
          <a:p>
            <a:pPr marL="0" indent="0">
              <a:buNone/>
            </a:pPr>
            <a:r>
              <a:rPr lang="en-US" sz="1400" dirty="0"/>
              <a:t>2	45	2000</a:t>
            </a:r>
          </a:p>
          <a:p>
            <a:pPr marL="0" indent="0">
              <a:buNone/>
            </a:pPr>
            <a:r>
              <a:rPr lang="en-US" sz="1400" dirty="0"/>
              <a:t>3	21	450</a:t>
            </a:r>
          </a:p>
          <a:p>
            <a:pPr marL="0" indent="0">
              <a:buNone/>
            </a:pPr>
            <a:r>
              <a:rPr lang="en-US" sz="1400" dirty="0"/>
              <a:t>The model groups customers with similar behavior.</a:t>
            </a:r>
          </a:p>
          <a:p>
            <a:pPr marL="0" indent="0">
              <a:buNone/>
            </a:pPr>
            <a:endParaRPr lang="en-US" sz="1400" dirty="0"/>
          </a:p>
        </p:txBody>
      </p:sp>
      <p:sp>
        <p:nvSpPr>
          <p:cNvPr id="7" name="TextBox 6">
            <a:extLst>
              <a:ext uri="{FF2B5EF4-FFF2-40B4-BE49-F238E27FC236}">
                <a16:creationId xmlns:a16="http://schemas.microsoft.com/office/drawing/2014/main" id="{2FD4BA66-3AA5-D3C4-8327-3E4CE334D71C}"/>
              </a:ext>
            </a:extLst>
          </p:cNvPr>
          <p:cNvSpPr txBox="1"/>
          <p:nvPr/>
        </p:nvSpPr>
        <p:spPr>
          <a:xfrm>
            <a:off x="6172201" y="1659285"/>
            <a:ext cx="6101254" cy="3539430"/>
          </a:xfrm>
          <a:prstGeom prst="rect">
            <a:avLst/>
          </a:prstGeom>
          <a:noFill/>
        </p:spPr>
        <p:txBody>
          <a:bodyPr wrap="square">
            <a:spAutoFit/>
          </a:bodyPr>
          <a:lstStyle/>
          <a:p>
            <a:pPr>
              <a:buNone/>
            </a:pPr>
            <a:r>
              <a:rPr lang="en-IN" sz="1400" dirty="0"/>
              <a:t>Common Algorithms</a:t>
            </a:r>
          </a:p>
          <a:p>
            <a:pPr>
              <a:buNone/>
            </a:pPr>
            <a:endParaRPr lang="en-IN" sz="1400" dirty="0"/>
          </a:p>
          <a:p>
            <a:pPr>
              <a:buFont typeface="Arial" panose="020B0604020202020204" pitchFamily="34" charset="0"/>
              <a:buChar char="•"/>
            </a:pPr>
            <a:r>
              <a:rPr lang="en-IN" sz="1400" dirty="0"/>
              <a:t>K-Means Clustering</a:t>
            </a:r>
          </a:p>
          <a:p>
            <a:pPr>
              <a:buFont typeface="Arial" panose="020B0604020202020204" pitchFamily="34" charset="0"/>
              <a:buChar char="•"/>
            </a:pPr>
            <a:r>
              <a:rPr lang="en-IN" sz="1400" dirty="0"/>
              <a:t>Hierarchical Clustering</a:t>
            </a:r>
          </a:p>
          <a:p>
            <a:pPr>
              <a:buFont typeface="Arial" panose="020B0604020202020204" pitchFamily="34" charset="0"/>
              <a:buChar char="•"/>
            </a:pPr>
            <a:r>
              <a:rPr lang="en-IN" sz="1400" dirty="0"/>
              <a:t>DBSCAN</a:t>
            </a:r>
          </a:p>
          <a:p>
            <a:pPr>
              <a:buFont typeface="Arial" panose="020B0604020202020204" pitchFamily="34" charset="0"/>
              <a:buChar char="•"/>
            </a:pPr>
            <a:r>
              <a:rPr lang="en-IN" sz="1400" dirty="0"/>
              <a:t>Principal Component Analysis (PCA)</a:t>
            </a:r>
          </a:p>
          <a:p>
            <a:pPr>
              <a:buFont typeface="Arial" panose="020B0604020202020204" pitchFamily="34" charset="0"/>
              <a:buChar char="•"/>
            </a:pPr>
            <a:endParaRPr lang="en-IN" sz="1400" dirty="0"/>
          </a:p>
          <a:p>
            <a:pPr>
              <a:buNone/>
            </a:pPr>
            <a:r>
              <a:rPr lang="en-IN" sz="1400" dirty="0"/>
              <a:t>Example Applications</a:t>
            </a:r>
          </a:p>
          <a:p>
            <a:pPr>
              <a:buNone/>
            </a:pPr>
            <a:endParaRPr lang="en-IN" sz="1400" dirty="0"/>
          </a:p>
          <a:p>
            <a:pPr>
              <a:buFont typeface="Arial" panose="020B0604020202020204" pitchFamily="34" charset="0"/>
              <a:buChar char="•"/>
            </a:pPr>
            <a:r>
              <a:rPr lang="en-IN" sz="1400" dirty="0"/>
              <a:t>Customer segmentation</a:t>
            </a:r>
          </a:p>
          <a:p>
            <a:pPr>
              <a:buFont typeface="Arial" panose="020B0604020202020204" pitchFamily="34" charset="0"/>
              <a:buChar char="•"/>
            </a:pPr>
            <a:r>
              <a:rPr lang="en-IN" sz="1400" dirty="0"/>
              <a:t>Market analysis</a:t>
            </a:r>
          </a:p>
          <a:p>
            <a:pPr>
              <a:buFont typeface="Arial" panose="020B0604020202020204" pitchFamily="34" charset="0"/>
              <a:buChar char="•"/>
            </a:pPr>
            <a:r>
              <a:rPr lang="en-IN" sz="1400" dirty="0"/>
              <a:t>Pattern discovery</a:t>
            </a:r>
          </a:p>
          <a:p>
            <a:pPr>
              <a:buFont typeface="Arial" panose="020B0604020202020204" pitchFamily="34" charset="0"/>
              <a:buChar char="•"/>
            </a:pPr>
            <a:endParaRPr lang="en-IN" sz="1400" dirty="0"/>
          </a:p>
          <a:p>
            <a:pPr>
              <a:buNone/>
            </a:pPr>
            <a:r>
              <a:rPr lang="en-IN" sz="1400" dirty="0"/>
              <a:t>Example result:</a:t>
            </a:r>
          </a:p>
          <a:p>
            <a:pPr rtl="0">
              <a:buNone/>
            </a:pPr>
            <a:r>
              <a:rPr lang="en-IN" sz="1400" dirty="0"/>
              <a:t>Group 1: Young customers</a:t>
            </a:r>
            <a:br>
              <a:rPr lang="en-IN" sz="1400" dirty="0"/>
            </a:br>
            <a:r>
              <a:rPr lang="en-IN" sz="1400" dirty="0"/>
              <a:t>Group 2: High spending customers</a:t>
            </a:r>
          </a:p>
        </p:txBody>
      </p:sp>
    </p:spTree>
    <p:extLst>
      <p:ext uri="{BB962C8B-B14F-4D97-AF65-F5344CB8AC3E}">
        <p14:creationId xmlns:p14="http://schemas.microsoft.com/office/powerpoint/2010/main" val="20939044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2A02A-A591-F8AD-3892-6EF7F4B6E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83B94-CDAE-123E-84ED-B54E5DAA1E93}"/>
              </a:ext>
            </a:extLst>
          </p:cNvPr>
          <p:cNvSpPr>
            <a:spLocks noGrp="1"/>
          </p:cNvSpPr>
          <p:nvPr>
            <p:ph type="title"/>
          </p:nvPr>
        </p:nvSpPr>
        <p:spPr>
          <a:xfrm>
            <a:off x="685216" y="459828"/>
            <a:ext cx="8596668" cy="1320800"/>
          </a:xfrm>
        </p:spPr>
        <p:txBody>
          <a:bodyPr>
            <a:normAutofit/>
          </a:bodyPr>
          <a:lstStyle/>
          <a:p>
            <a:r>
              <a:rPr lang="en-IN" sz="3200" dirty="0">
                <a:solidFill>
                  <a:srgbClr val="FF0000"/>
                </a:solidFill>
              </a:rPr>
              <a:t>1.1.1 - Types of Classical Machine Learning</a:t>
            </a:r>
          </a:p>
        </p:txBody>
      </p:sp>
      <p:sp>
        <p:nvSpPr>
          <p:cNvPr id="4" name="Content Placeholder 3">
            <a:extLst>
              <a:ext uri="{FF2B5EF4-FFF2-40B4-BE49-F238E27FC236}">
                <a16:creationId xmlns:a16="http://schemas.microsoft.com/office/drawing/2014/main" id="{26EF19AC-1CF9-F87B-E356-E7D267E08BD7}"/>
              </a:ext>
            </a:extLst>
          </p:cNvPr>
          <p:cNvSpPr>
            <a:spLocks noGrp="1"/>
          </p:cNvSpPr>
          <p:nvPr>
            <p:ph idx="1"/>
          </p:nvPr>
        </p:nvSpPr>
        <p:spPr>
          <a:xfrm>
            <a:off x="685216" y="1703391"/>
            <a:ext cx="8596668" cy="5304382"/>
          </a:xfrm>
        </p:spPr>
        <p:txBody>
          <a:bodyPr>
            <a:noAutofit/>
          </a:bodyPr>
          <a:lstStyle/>
          <a:p>
            <a:pPr marL="0" indent="0">
              <a:buNone/>
            </a:pPr>
            <a:r>
              <a:rPr lang="en-US" sz="1400" b="1" dirty="0">
                <a:solidFill>
                  <a:srgbClr val="FF0000"/>
                </a:solidFill>
              </a:rPr>
              <a:t>3. Reinforcement Learning</a:t>
            </a:r>
          </a:p>
          <a:p>
            <a:r>
              <a:rPr lang="en-US" sz="1400" dirty="0"/>
              <a:t>In </a:t>
            </a:r>
            <a:r>
              <a:rPr lang="en-US" sz="1400" b="1" dirty="0"/>
              <a:t>reinforcement learning</a:t>
            </a:r>
            <a:r>
              <a:rPr lang="en-US" sz="1400" dirty="0"/>
              <a:t>, the model learns by </a:t>
            </a:r>
            <a:r>
              <a:rPr lang="en-US" sz="1400" b="1" dirty="0"/>
              <a:t>interacting with an environment and receiving rewards or penalties</a:t>
            </a:r>
            <a:r>
              <a:rPr lang="en-US" sz="1400" dirty="0"/>
              <a:t>.</a:t>
            </a:r>
          </a:p>
          <a:p>
            <a:pPr marL="0" indent="0">
              <a:buNone/>
            </a:pPr>
            <a:r>
              <a:rPr lang="en-US" sz="1400" dirty="0"/>
              <a:t>Example:</a:t>
            </a:r>
          </a:p>
          <a:p>
            <a:pPr marL="0" indent="0">
              <a:buNone/>
            </a:pPr>
            <a:r>
              <a:rPr lang="en-US" sz="1400" dirty="0"/>
              <a:t>Action → Reward or Penalty</a:t>
            </a:r>
          </a:p>
          <a:p>
            <a:r>
              <a:rPr lang="en-US" sz="1400" dirty="0"/>
              <a:t>The goal is to </a:t>
            </a:r>
            <a:r>
              <a:rPr lang="en-US" sz="1400" b="1" dirty="0"/>
              <a:t>maximize rewards over time</a:t>
            </a:r>
            <a:r>
              <a:rPr lang="en-US" sz="1400" dirty="0"/>
              <a:t>.</a:t>
            </a:r>
          </a:p>
          <a:p>
            <a:r>
              <a:rPr lang="en-US" sz="1400" dirty="0"/>
              <a:t>Example applications:</a:t>
            </a:r>
          </a:p>
          <a:p>
            <a:r>
              <a:rPr lang="en-US" sz="1400" dirty="0"/>
              <a:t>Self-driving cars</a:t>
            </a:r>
          </a:p>
          <a:p>
            <a:r>
              <a:rPr lang="en-US" sz="1400" dirty="0"/>
              <a:t>Game-playing AI (Chess, Go)</a:t>
            </a:r>
          </a:p>
          <a:p>
            <a:r>
              <a:rPr lang="en-US" sz="1400" dirty="0"/>
              <a:t>Robotics</a:t>
            </a:r>
          </a:p>
          <a:p>
            <a:r>
              <a:rPr lang="en-US" sz="1400" dirty="0"/>
              <a:t>Example:</a:t>
            </a:r>
          </a:p>
          <a:p>
            <a:r>
              <a:rPr lang="en-US" sz="1400" dirty="0"/>
              <a:t>Move in game → reward</a:t>
            </a:r>
            <a:br>
              <a:rPr lang="en-US" sz="1400" dirty="0"/>
            </a:br>
            <a:r>
              <a:rPr lang="en-US" sz="1400" dirty="0"/>
              <a:t>Bad move → penalty</a:t>
            </a:r>
          </a:p>
          <a:p>
            <a:r>
              <a:rPr lang="en-US" sz="1400" dirty="0"/>
              <a:t>The AI gradually learns the </a:t>
            </a:r>
            <a:r>
              <a:rPr lang="en-US" sz="1400" b="1" dirty="0"/>
              <a:t>best strategy</a:t>
            </a:r>
            <a:r>
              <a:rPr lang="en-US" sz="1400" dirty="0"/>
              <a:t>.</a:t>
            </a:r>
          </a:p>
          <a:p>
            <a:pPr marL="0" indent="0">
              <a:buNone/>
            </a:pPr>
            <a:endParaRPr lang="en-US" sz="1400" dirty="0"/>
          </a:p>
        </p:txBody>
      </p:sp>
    </p:spTree>
    <p:extLst>
      <p:ext uri="{BB962C8B-B14F-4D97-AF65-F5344CB8AC3E}">
        <p14:creationId xmlns:p14="http://schemas.microsoft.com/office/powerpoint/2010/main" val="15972506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116E2-D618-D9F6-008D-9B49C053E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8063E-D9F0-91B6-6745-98F354EE2437}"/>
              </a:ext>
            </a:extLst>
          </p:cNvPr>
          <p:cNvSpPr>
            <a:spLocks noGrp="1"/>
          </p:cNvSpPr>
          <p:nvPr>
            <p:ph type="title"/>
          </p:nvPr>
        </p:nvSpPr>
        <p:spPr>
          <a:xfrm>
            <a:off x="685216" y="459828"/>
            <a:ext cx="8596668" cy="1320800"/>
          </a:xfrm>
        </p:spPr>
        <p:txBody>
          <a:bodyPr>
            <a:normAutofit/>
          </a:bodyPr>
          <a:lstStyle/>
          <a:p>
            <a:r>
              <a:rPr lang="en-IN" sz="2800" dirty="0">
                <a:solidFill>
                  <a:srgbClr val="FF0000"/>
                </a:solidFill>
              </a:rPr>
              <a:t>1.1.1  - </a:t>
            </a:r>
            <a:r>
              <a:rPr lang="en-US" sz="2800" b="1" dirty="0">
                <a:solidFill>
                  <a:srgbClr val="FF0000"/>
                </a:solidFill>
              </a:rPr>
              <a:t>Advantages of Classical Machine Learning</a:t>
            </a:r>
          </a:p>
        </p:txBody>
      </p:sp>
      <p:sp>
        <p:nvSpPr>
          <p:cNvPr id="4" name="Content Placeholder 3">
            <a:extLst>
              <a:ext uri="{FF2B5EF4-FFF2-40B4-BE49-F238E27FC236}">
                <a16:creationId xmlns:a16="http://schemas.microsoft.com/office/drawing/2014/main" id="{86BD93E9-0438-48CF-A3C0-9B3F99EB00EC}"/>
              </a:ext>
            </a:extLst>
          </p:cNvPr>
          <p:cNvSpPr>
            <a:spLocks noGrp="1"/>
          </p:cNvSpPr>
          <p:nvPr>
            <p:ph idx="1"/>
          </p:nvPr>
        </p:nvSpPr>
        <p:spPr>
          <a:xfrm>
            <a:off x="685216" y="1411729"/>
            <a:ext cx="8596668" cy="5304382"/>
          </a:xfrm>
        </p:spPr>
        <p:txBody>
          <a:bodyPr>
            <a:noAutofit/>
          </a:bodyPr>
          <a:lstStyle/>
          <a:p>
            <a:r>
              <a:rPr lang="en-US" sz="1400" b="1" dirty="0"/>
              <a:t>Learns from data</a:t>
            </a:r>
          </a:p>
          <a:p>
            <a:r>
              <a:rPr lang="en-US" sz="1400" dirty="0"/>
              <a:t>The system improves as more data becomes available.</a:t>
            </a:r>
          </a:p>
          <a:p>
            <a:r>
              <a:rPr lang="en-US" sz="1400" b="1" dirty="0"/>
              <a:t>Handles complex relationships</a:t>
            </a:r>
          </a:p>
          <a:p>
            <a:r>
              <a:rPr lang="en-US" sz="1400" dirty="0"/>
              <a:t>ML can detect patterns humans may miss.</a:t>
            </a:r>
          </a:p>
          <a:p>
            <a:r>
              <a:rPr lang="en-US" sz="1400" b="1" dirty="0"/>
              <a:t>Useful for predictive tasks</a:t>
            </a:r>
          </a:p>
          <a:p>
            <a:r>
              <a:rPr lang="en-US" sz="1400" dirty="0"/>
              <a:t>Examples:</a:t>
            </a:r>
          </a:p>
          <a:p>
            <a:r>
              <a:rPr lang="en-US" sz="1400" dirty="0"/>
              <a:t>Sales forecasting</a:t>
            </a:r>
          </a:p>
          <a:p>
            <a:r>
              <a:rPr lang="en-US" sz="1400" dirty="0"/>
              <a:t>Risk prediction</a:t>
            </a:r>
          </a:p>
          <a:p>
            <a:r>
              <a:rPr lang="en-US" sz="1400" dirty="0"/>
              <a:t>Recommendation systems</a:t>
            </a:r>
          </a:p>
          <a:p>
            <a:pPr marL="0" indent="0">
              <a:buNone/>
            </a:pPr>
            <a:endParaRPr lang="en-US" sz="1400" dirty="0"/>
          </a:p>
        </p:txBody>
      </p:sp>
    </p:spTree>
    <p:extLst>
      <p:ext uri="{BB962C8B-B14F-4D97-AF65-F5344CB8AC3E}">
        <p14:creationId xmlns:p14="http://schemas.microsoft.com/office/powerpoint/2010/main" val="40384610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974C8-7C01-6900-94C9-506F6A365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3DF06-2BC3-A6C2-29AC-9468AA1E9C4A}"/>
              </a:ext>
            </a:extLst>
          </p:cNvPr>
          <p:cNvSpPr>
            <a:spLocks noGrp="1"/>
          </p:cNvSpPr>
          <p:nvPr>
            <p:ph type="title"/>
          </p:nvPr>
        </p:nvSpPr>
        <p:spPr>
          <a:xfrm>
            <a:off x="685216" y="459828"/>
            <a:ext cx="8596668" cy="1320800"/>
          </a:xfrm>
        </p:spPr>
        <p:txBody>
          <a:bodyPr>
            <a:normAutofit/>
          </a:bodyPr>
          <a:lstStyle/>
          <a:p>
            <a:r>
              <a:rPr lang="en-IN" sz="2800" dirty="0">
                <a:solidFill>
                  <a:srgbClr val="FF0000"/>
                </a:solidFill>
              </a:rPr>
              <a:t>1.1.1 - </a:t>
            </a:r>
            <a:r>
              <a:rPr lang="en-US" sz="2800" dirty="0">
                <a:solidFill>
                  <a:srgbClr val="FF0000"/>
                </a:solidFill>
              </a:rPr>
              <a:t>Limitations of Classical Machine Learning</a:t>
            </a:r>
            <a:endParaRPr lang="en-US" sz="2800" b="1" dirty="0">
              <a:solidFill>
                <a:srgbClr val="FF0000"/>
              </a:solidFill>
            </a:endParaRPr>
          </a:p>
        </p:txBody>
      </p:sp>
      <p:sp>
        <p:nvSpPr>
          <p:cNvPr id="4" name="Content Placeholder 3">
            <a:extLst>
              <a:ext uri="{FF2B5EF4-FFF2-40B4-BE49-F238E27FC236}">
                <a16:creationId xmlns:a16="http://schemas.microsoft.com/office/drawing/2014/main" id="{E24A2151-E28A-51B4-42FC-F9BCE0CD150F}"/>
              </a:ext>
            </a:extLst>
          </p:cNvPr>
          <p:cNvSpPr>
            <a:spLocks noGrp="1"/>
          </p:cNvSpPr>
          <p:nvPr>
            <p:ph idx="1"/>
          </p:nvPr>
        </p:nvSpPr>
        <p:spPr>
          <a:xfrm>
            <a:off x="582740" y="1947756"/>
            <a:ext cx="8596668" cy="5304382"/>
          </a:xfrm>
        </p:spPr>
        <p:txBody>
          <a:bodyPr>
            <a:noAutofit/>
          </a:bodyPr>
          <a:lstStyle/>
          <a:p>
            <a:r>
              <a:rPr lang="en-US" sz="1400" b="1" dirty="0"/>
              <a:t>Requires feature engineering</a:t>
            </a:r>
          </a:p>
          <a:p>
            <a:r>
              <a:rPr lang="en-US" sz="1400" dirty="0"/>
              <a:t>Humans must manually select useful features.</a:t>
            </a:r>
          </a:p>
          <a:p>
            <a:r>
              <a:rPr lang="en-US" sz="1400" b="1" dirty="0"/>
              <a:t>Limited performance on unstructured data</a:t>
            </a:r>
          </a:p>
          <a:p>
            <a:r>
              <a:rPr lang="en-US" sz="1400" dirty="0"/>
              <a:t>Classical ML struggles with:</a:t>
            </a:r>
          </a:p>
          <a:p>
            <a:r>
              <a:rPr lang="en-US" sz="1400" dirty="0"/>
              <a:t>Images</a:t>
            </a:r>
          </a:p>
          <a:p>
            <a:r>
              <a:rPr lang="en-US" sz="1400" dirty="0"/>
              <a:t>Speech</a:t>
            </a:r>
          </a:p>
          <a:p>
            <a:r>
              <a:rPr lang="en-US" sz="1400" dirty="0"/>
              <a:t>Natural language</a:t>
            </a:r>
          </a:p>
          <a:p>
            <a:r>
              <a:rPr lang="en-US" sz="1400" dirty="0"/>
              <a:t>These tasks are better handled by </a:t>
            </a:r>
            <a:r>
              <a:rPr lang="en-US" sz="1400" b="1" dirty="0"/>
              <a:t>deep learning</a:t>
            </a:r>
            <a:r>
              <a:rPr lang="en-US" sz="1400" dirty="0"/>
              <a:t>.</a:t>
            </a:r>
          </a:p>
          <a:p>
            <a:r>
              <a:rPr lang="en-US" sz="1400" b="1" dirty="0"/>
              <a:t>Requires good quality data</a:t>
            </a:r>
          </a:p>
          <a:p>
            <a:r>
              <a:rPr lang="en-US" sz="1400" dirty="0"/>
              <a:t>Poor data leads to poor models.</a:t>
            </a:r>
          </a:p>
          <a:p>
            <a:pPr marL="0" indent="0">
              <a:buNone/>
            </a:pPr>
            <a:endParaRPr lang="en-US" sz="1400" dirty="0"/>
          </a:p>
        </p:txBody>
      </p:sp>
    </p:spTree>
    <p:extLst>
      <p:ext uri="{BB962C8B-B14F-4D97-AF65-F5344CB8AC3E}">
        <p14:creationId xmlns:p14="http://schemas.microsoft.com/office/powerpoint/2010/main" val="32930291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9E36D-73F5-B5DF-4B3A-76BE47C8F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25856-4AA4-B6A9-C7DA-97C4685AE7D7}"/>
              </a:ext>
            </a:extLst>
          </p:cNvPr>
          <p:cNvSpPr>
            <a:spLocks noGrp="1"/>
          </p:cNvSpPr>
          <p:nvPr>
            <p:ph type="title"/>
          </p:nvPr>
        </p:nvSpPr>
        <p:spPr>
          <a:xfrm>
            <a:off x="685216" y="459828"/>
            <a:ext cx="8596668" cy="1320800"/>
          </a:xfrm>
        </p:spPr>
        <p:txBody>
          <a:bodyPr>
            <a:normAutofit/>
          </a:bodyPr>
          <a:lstStyle/>
          <a:p>
            <a:r>
              <a:rPr lang="en-IN" sz="2800" dirty="0">
                <a:solidFill>
                  <a:srgbClr val="FF0000"/>
                </a:solidFill>
              </a:rPr>
              <a:t>1.1.1 - </a:t>
            </a:r>
            <a:r>
              <a:rPr lang="en-US" sz="2800" dirty="0">
                <a:solidFill>
                  <a:srgbClr val="FF0000"/>
                </a:solidFill>
              </a:rPr>
              <a:t>Deep Learning</a:t>
            </a:r>
            <a:endParaRPr lang="en-US" sz="2800" b="1" dirty="0">
              <a:solidFill>
                <a:srgbClr val="FF0000"/>
              </a:solidFill>
            </a:endParaRPr>
          </a:p>
        </p:txBody>
      </p:sp>
      <p:sp>
        <p:nvSpPr>
          <p:cNvPr id="4" name="Content Placeholder 3">
            <a:extLst>
              <a:ext uri="{FF2B5EF4-FFF2-40B4-BE49-F238E27FC236}">
                <a16:creationId xmlns:a16="http://schemas.microsoft.com/office/drawing/2014/main" id="{7C75D597-4836-ECF3-56E6-4DA72A9FA86A}"/>
              </a:ext>
            </a:extLst>
          </p:cNvPr>
          <p:cNvSpPr>
            <a:spLocks noGrp="1"/>
          </p:cNvSpPr>
          <p:nvPr>
            <p:ph idx="1"/>
          </p:nvPr>
        </p:nvSpPr>
        <p:spPr>
          <a:xfrm>
            <a:off x="685216" y="1395963"/>
            <a:ext cx="8596668" cy="5304382"/>
          </a:xfrm>
        </p:spPr>
        <p:txBody>
          <a:bodyPr>
            <a:noAutofit/>
          </a:bodyPr>
          <a:lstStyle/>
          <a:p>
            <a:pPr marL="0" indent="0">
              <a:buNone/>
            </a:pPr>
            <a:r>
              <a:rPr lang="en-US" sz="1400" dirty="0">
                <a:solidFill>
                  <a:schemeClr val="tx1"/>
                </a:solidFill>
              </a:rPr>
              <a:t>Deep learning uses machine learning structures called neural networks to automatically learn features from data. </a:t>
            </a:r>
          </a:p>
          <a:p>
            <a:pPr marL="0" indent="0">
              <a:buNone/>
            </a:pPr>
            <a:r>
              <a:rPr lang="en-US" sz="1400" dirty="0">
                <a:solidFill>
                  <a:schemeClr val="tx1"/>
                </a:solidFill>
              </a:rPr>
              <a:t>Deep learning models can find patterns in very large and complex datasets, such as images, video, audio, or text, without the need for users to manually define features, though in practice, it may still require human involvement in tasks such as data annotation, model tuning, or result validation.</a:t>
            </a:r>
          </a:p>
        </p:txBody>
      </p:sp>
      <p:sp>
        <p:nvSpPr>
          <p:cNvPr id="5" name="TextBox 4">
            <a:extLst>
              <a:ext uri="{FF2B5EF4-FFF2-40B4-BE49-F238E27FC236}">
                <a16:creationId xmlns:a16="http://schemas.microsoft.com/office/drawing/2014/main" id="{A785A893-F390-F234-D3B3-C1C85DE22BC8}"/>
              </a:ext>
            </a:extLst>
          </p:cNvPr>
          <p:cNvSpPr txBox="1"/>
          <p:nvPr/>
        </p:nvSpPr>
        <p:spPr>
          <a:xfrm>
            <a:off x="685216" y="2493882"/>
            <a:ext cx="8395723" cy="3108543"/>
          </a:xfrm>
          <a:prstGeom prst="rect">
            <a:avLst/>
          </a:prstGeom>
          <a:noFill/>
        </p:spPr>
        <p:txBody>
          <a:bodyPr wrap="square">
            <a:spAutoFit/>
          </a:bodyPr>
          <a:lstStyle/>
          <a:p>
            <a:pPr>
              <a:buNone/>
            </a:pPr>
            <a:endParaRPr lang="en-US" sz="1400" dirty="0">
              <a:latin typeface="+mj-lt"/>
            </a:endParaRPr>
          </a:p>
          <a:p>
            <a:pPr>
              <a:buNone/>
            </a:pPr>
            <a:r>
              <a:rPr lang="en-US" sz="1400" dirty="0">
                <a:latin typeface="+mj-lt"/>
              </a:rPr>
              <a:t>Deep Learning is a type of Artificial Intelligence (AI) that allows computers to learn from large amounts of data using neural networks, similar to how the human brain processes information.</a:t>
            </a:r>
          </a:p>
          <a:p>
            <a:pPr>
              <a:buNone/>
            </a:pPr>
            <a:r>
              <a:rPr lang="en-US" sz="1400" dirty="0">
                <a:latin typeface="+mj-lt"/>
              </a:rPr>
              <a:t>It is a subset of Machine Learning, which itself is part of AI.</a:t>
            </a:r>
          </a:p>
          <a:p>
            <a:pPr>
              <a:buNone/>
            </a:pPr>
            <a:endParaRPr lang="en-US" sz="1400" dirty="0">
              <a:latin typeface="+mj-lt"/>
            </a:endParaRPr>
          </a:p>
          <a:p>
            <a:pPr>
              <a:buNone/>
            </a:pPr>
            <a:r>
              <a:rPr lang="en-US" sz="1400" dirty="0">
                <a:latin typeface="+mj-lt"/>
              </a:rPr>
              <a:t>The hierarchy looks like this:</a:t>
            </a:r>
          </a:p>
          <a:p>
            <a:pPr rtl="0">
              <a:buNone/>
            </a:pPr>
            <a:r>
              <a:rPr lang="en-US" sz="1400" dirty="0">
                <a:latin typeface="+mj-lt"/>
              </a:rPr>
              <a:t>Artificial Intelligence (AI)</a:t>
            </a:r>
            <a:br>
              <a:rPr lang="en-US" sz="1400" dirty="0">
                <a:latin typeface="+mj-lt"/>
              </a:rPr>
            </a:br>
            <a:r>
              <a:rPr lang="en-US" sz="1400" dirty="0">
                <a:latin typeface="+mj-lt"/>
              </a:rPr>
              <a:t>        ↓</a:t>
            </a:r>
            <a:br>
              <a:rPr lang="en-US" sz="1400" dirty="0">
                <a:latin typeface="+mj-lt"/>
              </a:rPr>
            </a:br>
            <a:r>
              <a:rPr lang="en-US" sz="1400" dirty="0">
                <a:latin typeface="+mj-lt"/>
              </a:rPr>
              <a:t>Machine Learning (ML)</a:t>
            </a:r>
            <a:br>
              <a:rPr lang="en-US" sz="1400" dirty="0">
                <a:latin typeface="+mj-lt"/>
              </a:rPr>
            </a:br>
            <a:r>
              <a:rPr lang="en-US" sz="1400" dirty="0">
                <a:latin typeface="+mj-lt"/>
              </a:rPr>
              <a:t>        ↓</a:t>
            </a:r>
            <a:br>
              <a:rPr lang="en-US" sz="1400" dirty="0">
                <a:latin typeface="+mj-lt"/>
              </a:rPr>
            </a:br>
            <a:r>
              <a:rPr lang="en-US" sz="1400" dirty="0">
                <a:latin typeface="+mj-lt"/>
              </a:rPr>
              <a:t>Deep Learning (DL)</a:t>
            </a:r>
          </a:p>
          <a:p>
            <a:pPr rtl="0">
              <a:buNone/>
            </a:pPr>
            <a:endParaRPr lang="en-US" sz="1400" dirty="0">
              <a:latin typeface="+mj-lt"/>
            </a:endParaRPr>
          </a:p>
          <a:p>
            <a:pPr>
              <a:buNone/>
            </a:pPr>
            <a:r>
              <a:rPr lang="en-US" sz="1400" dirty="0">
                <a:latin typeface="+mj-lt"/>
              </a:rPr>
              <a:t>Deep learning uses artificial neural networks with many layers to automatically learn complex patterns from data.</a:t>
            </a:r>
          </a:p>
        </p:txBody>
      </p:sp>
    </p:spTree>
    <p:extLst>
      <p:ext uri="{BB962C8B-B14F-4D97-AF65-F5344CB8AC3E}">
        <p14:creationId xmlns:p14="http://schemas.microsoft.com/office/powerpoint/2010/main" val="1604640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46900-5F16-83EA-309F-4EE5EF10B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2FC90-8E71-D56A-5854-84332B546C76}"/>
              </a:ext>
            </a:extLst>
          </p:cNvPr>
          <p:cNvSpPr>
            <a:spLocks noGrp="1"/>
          </p:cNvSpPr>
          <p:nvPr>
            <p:ph type="title"/>
          </p:nvPr>
        </p:nvSpPr>
        <p:spPr>
          <a:xfrm>
            <a:off x="685216" y="459828"/>
            <a:ext cx="8596668" cy="1320800"/>
          </a:xfrm>
        </p:spPr>
        <p:txBody>
          <a:bodyPr>
            <a:normAutofit/>
          </a:bodyPr>
          <a:lstStyle/>
          <a:p>
            <a:r>
              <a:rPr lang="en-IN" dirty="0">
                <a:solidFill>
                  <a:srgbClr val="FF0000"/>
                </a:solidFill>
              </a:rPr>
              <a:t>1.1.1  - </a:t>
            </a:r>
            <a:r>
              <a:rPr lang="en-US" dirty="0">
                <a:solidFill>
                  <a:srgbClr val="FF0000"/>
                </a:solidFill>
              </a:rPr>
              <a:t>Deep Learning</a:t>
            </a:r>
            <a:endParaRPr lang="en-US" b="1" dirty="0">
              <a:solidFill>
                <a:srgbClr val="FF0000"/>
              </a:solidFill>
            </a:endParaRPr>
          </a:p>
        </p:txBody>
      </p:sp>
      <p:sp>
        <p:nvSpPr>
          <p:cNvPr id="4" name="Content Placeholder 3">
            <a:extLst>
              <a:ext uri="{FF2B5EF4-FFF2-40B4-BE49-F238E27FC236}">
                <a16:creationId xmlns:a16="http://schemas.microsoft.com/office/drawing/2014/main" id="{8E828E45-D33E-505D-E5B4-7F8869A906DA}"/>
              </a:ext>
            </a:extLst>
          </p:cNvPr>
          <p:cNvSpPr>
            <a:spLocks noGrp="1"/>
          </p:cNvSpPr>
          <p:nvPr>
            <p:ph idx="1"/>
          </p:nvPr>
        </p:nvSpPr>
        <p:spPr>
          <a:xfrm>
            <a:off x="685216" y="1395963"/>
            <a:ext cx="8596668" cy="5304382"/>
          </a:xfrm>
        </p:spPr>
        <p:txBody>
          <a:bodyPr>
            <a:noAutofit/>
          </a:bodyPr>
          <a:lstStyle/>
          <a:p>
            <a:pPr marL="0" indent="0">
              <a:buNone/>
            </a:pPr>
            <a:r>
              <a:rPr lang="en-US" sz="1400" b="1" dirty="0">
                <a:solidFill>
                  <a:srgbClr val="FF0000"/>
                </a:solidFill>
              </a:rPr>
              <a:t>What are Neural Networks?</a:t>
            </a:r>
          </a:p>
          <a:p>
            <a:r>
              <a:rPr lang="en-US" sz="1400" dirty="0"/>
              <a:t>Deep learning uses </a:t>
            </a:r>
            <a:r>
              <a:rPr lang="en-US" sz="1400" b="1" dirty="0"/>
              <a:t>Artificial Neural Networks (ANNs)</a:t>
            </a:r>
            <a:r>
              <a:rPr lang="en-US" sz="1400" dirty="0"/>
              <a:t>.</a:t>
            </a:r>
          </a:p>
          <a:p>
            <a:r>
              <a:rPr lang="en-US" sz="1400" dirty="0"/>
              <a:t>They are inspired by </a:t>
            </a:r>
            <a:r>
              <a:rPr lang="en-US" sz="1400" b="1" dirty="0"/>
              <a:t>neurons in the human brain</a:t>
            </a:r>
            <a:r>
              <a:rPr lang="en-US" sz="1400" dirty="0"/>
              <a:t>.</a:t>
            </a:r>
          </a:p>
          <a:p>
            <a:r>
              <a:rPr lang="en-US" sz="1400" dirty="0"/>
              <a:t>Each neuron:</a:t>
            </a:r>
          </a:p>
          <a:p>
            <a:r>
              <a:rPr lang="en-US" sz="1400" dirty="0"/>
              <a:t>Receives input</a:t>
            </a:r>
          </a:p>
          <a:p>
            <a:r>
              <a:rPr lang="en-US" sz="1400" dirty="0"/>
              <a:t>Processes the input</a:t>
            </a:r>
          </a:p>
          <a:p>
            <a:r>
              <a:rPr lang="en-US" sz="1400" dirty="0"/>
              <a:t>Sends output to the next neuron</a:t>
            </a:r>
          </a:p>
          <a:p>
            <a:r>
              <a:rPr lang="en-US" sz="1400" dirty="0"/>
              <a:t>Simple representation:</a:t>
            </a:r>
          </a:p>
          <a:p>
            <a:r>
              <a:rPr lang="en-US" sz="1400" dirty="0"/>
              <a:t>Input → Neuron → Neuron → Output</a:t>
            </a:r>
          </a:p>
          <a:p>
            <a:r>
              <a:rPr lang="en-US" sz="1400" dirty="0"/>
              <a:t>Thousands or millions of neurons work together in a deep learning model.</a:t>
            </a:r>
          </a:p>
          <a:p>
            <a:pPr marL="0" indent="0">
              <a:buNone/>
            </a:pPr>
            <a:endParaRPr lang="en-US" sz="1400" dirty="0"/>
          </a:p>
        </p:txBody>
      </p:sp>
    </p:spTree>
    <p:extLst>
      <p:ext uri="{BB962C8B-B14F-4D97-AF65-F5344CB8AC3E}">
        <p14:creationId xmlns:p14="http://schemas.microsoft.com/office/powerpoint/2010/main" val="4133652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8817F-20CC-BC88-1655-723F82ABA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005C0-D651-F9B4-887D-CEDA4BDCB9B9}"/>
              </a:ext>
            </a:extLst>
          </p:cNvPr>
          <p:cNvSpPr>
            <a:spLocks noGrp="1"/>
          </p:cNvSpPr>
          <p:nvPr>
            <p:ph type="title"/>
          </p:nvPr>
        </p:nvSpPr>
        <p:spPr>
          <a:xfrm>
            <a:off x="685216" y="459828"/>
            <a:ext cx="8596668" cy="1320800"/>
          </a:xfrm>
        </p:spPr>
        <p:txBody>
          <a:bodyPr>
            <a:normAutofit/>
          </a:bodyPr>
          <a:lstStyle/>
          <a:p>
            <a:r>
              <a:rPr lang="en-IN" sz="3200" dirty="0">
                <a:solidFill>
                  <a:srgbClr val="FF0000"/>
                </a:solidFill>
              </a:rPr>
              <a:t>1.1.1 - </a:t>
            </a:r>
            <a:r>
              <a:rPr lang="en-US" sz="3200" dirty="0">
                <a:solidFill>
                  <a:srgbClr val="FF0000"/>
                </a:solidFill>
              </a:rPr>
              <a:t>Deep Learning</a:t>
            </a:r>
            <a:endParaRPr lang="en-US" sz="3200" b="1" dirty="0">
              <a:solidFill>
                <a:srgbClr val="FF0000"/>
              </a:solidFill>
            </a:endParaRPr>
          </a:p>
        </p:txBody>
      </p:sp>
      <p:sp>
        <p:nvSpPr>
          <p:cNvPr id="4" name="Content Placeholder 3">
            <a:extLst>
              <a:ext uri="{FF2B5EF4-FFF2-40B4-BE49-F238E27FC236}">
                <a16:creationId xmlns:a16="http://schemas.microsoft.com/office/drawing/2014/main" id="{970CABA9-3469-66BA-27F5-1B20226C0423}"/>
              </a:ext>
            </a:extLst>
          </p:cNvPr>
          <p:cNvSpPr>
            <a:spLocks noGrp="1"/>
          </p:cNvSpPr>
          <p:nvPr>
            <p:ph idx="1"/>
          </p:nvPr>
        </p:nvSpPr>
        <p:spPr>
          <a:xfrm>
            <a:off x="685216" y="1261956"/>
            <a:ext cx="8596668" cy="5304382"/>
          </a:xfrm>
        </p:spPr>
        <p:txBody>
          <a:bodyPr>
            <a:noAutofit/>
          </a:bodyPr>
          <a:lstStyle/>
          <a:p>
            <a:pPr marL="0" indent="0">
              <a:buNone/>
            </a:pPr>
            <a:r>
              <a:rPr lang="en-US" sz="1400" b="1" dirty="0"/>
              <a:t>Understanding with a Simple Example</a:t>
            </a:r>
          </a:p>
          <a:p>
            <a:r>
              <a:rPr lang="en-US" sz="1400" dirty="0"/>
              <a:t>Imagine teaching a computer to recognize </a:t>
            </a:r>
            <a:r>
              <a:rPr lang="en-US" sz="1400" b="1" dirty="0"/>
              <a:t>a cat in an image</a:t>
            </a:r>
            <a:r>
              <a:rPr lang="en-US" sz="1400" dirty="0"/>
              <a:t>.</a:t>
            </a:r>
          </a:p>
          <a:p>
            <a:r>
              <a:rPr lang="en-US" sz="1400" dirty="0"/>
              <a:t>A deep learning model learns step-by-step:</a:t>
            </a:r>
          </a:p>
          <a:p>
            <a:r>
              <a:rPr lang="en-US" sz="1400" b="1" dirty="0"/>
              <a:t>Layer 1:</a:t>
            </a:r>
            <a:r>
              <a:rPr lang="en-US" sz="1400" dirty="0"/>
              <a:t> Detects simple features</a:t>
            </a:r>
          </a:p>
          <a:p>
            <a:r>
              <a:rPr lang="en-US" sz="1400" dirty="0"/>
              <a:t>edges</a:t>
            </a:r>
          </a:p>
          <a:p>
            <a:r>
              <a:rPr lang="en-US" sz="1400" dirty="0"/>
              <a:t>lines</a:t>
            </a:r>
          </a:p>
          <a:p>
            <a:r>
              <a:rPr lang="en-US" sz="1400" b="1" dirty="0"/>
              <a:t>Layer 2:</a:t>
            </a:r>
            <a:r>
              <a:rPr lang="en-US" sz="1400" dirty="0"/>
              <a:t> Detects shapes</a:t>
            </a:r>
          </a:p>
          <a:p>
            <a:r>
              <a:rPr lang="en-US" sz="1400" dirty="0"/>
              <a:t>ears</a:t>
            </a:r>
          </a:p>
          <a:p>
            <a:r>
              <a:rPr lang="en-US" sz="1400" dirty="0"/>
              <a:t>eyes</a:t>
            </a:r>
          </a:p>
          <a:p>
            <a:r>
              <a:rPr lang="en-US" sz="1400" b="1" dirty="0"/>
              <a:t>Layer 3:</a:t>
            </a:r>
            <a:r>
              <a:rPr lang="en-US" sz="1400" dirty="0"/>
              <a:t> Detects objects</a:t>
            </a:r>
          </a:p>
          <a:p>
            <a:r>
              <a:rPr lang="en-US" sz="1400" dirty="0"/>
              <a:t>face</a:t>
            </a:r>
          </a:p>
          <a:p>
            <a:r>
              <a:rPr lang="en-US" sz="1400" dirty="0"/>
              <a:t>body</a:t>
            </a:r>
          </a:p>
          <a:p>
            <a:r>
              <a:rPr lang="en-US" sz="1400" b="1" dirty="0"/>
              <a:t>Final Layer:</a:t>
            </a:r>
            <a:r>
              <a:rPr lang="en-US" sz="1400" dirty="0"/>
              <a:t> Recognizes</a:t>
            </a:r>
          </a:p>
          <a:p>
            <a:r>
              <a:rPr lang="en-US" dirty="0"/>
              <a:t>This is a CAT</a:t>
            </a:r>
          </a:p>
          <a:p>
            <a:r>
              <a:rPr lang="en-US" sz="1400" dirty="0"/>
              <a:t>So deep learning </a:t>
            </a:r>
            <a:r>
              <a:rPr lang="en-US" sz="1400" b="1" dirty="0"/>
              <a:t>builds understanding layer by layer</a:t>
            </a:r>
            <a:r>
              <a:rPr lang="en-US" sz="1400" dirty="0"/>
              <a:t>.</a:t>
            </a:r>
          </a:p>
          <a:p>
            <a:pPr marL="0" indent="0">
              <a:buNone/>
            </a:pPr>
            <a:endParaRPr lang="en-US" sz="1400" dirty="0"/>
          </a:p>
        </p:txBody>
      </p:sp>
    </p:spTree>
    <p:extLst>
      <p:ext uri="{BB962C8B-B14F-4D97-AF65-F5344CB8AC3E}">
        <p14:creationId xmlns:p14="http://schemas.microsoft.com/office/powerpoint/2010/main" val="27189251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77358-485D-FFBC-85B2-408B7A33E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C1806-AAA2-5506-E8EC-6927A94AC067}"/>
              </a:ext>
            </a:extLst>
          </p:cNvPr>
          <p:cNvSpPr>
            <a:spLocks noGrp="1"/>
          </p:cNvSpPr>
          <p:nvPr>
            <p:ph type="title"/>
          </p:nvPr>
        </p:nvSpPr>
        <p:spPr>
          <a:xfrm>
            <a:off x="685216" y="231228"/>
            <a:ext cx="8596668" cy="1320800"/>
          </a:xfrm>
        </p:spPr>
        <p:txBody>
          <a:bodyPr>
            <a:normAutofit/>
          </a:bodyPr>
          <a:lstStyle/>
          <a:p>
            <a:r>
              <a:rPr lang="en-IN" sz="3200" dirty="0">
                <a:solidFill>
                  <a:srgbClr val="FF0000"/>
                </a:solidFill>
              </a:rPr>
              <a:t>1.1.1  -</a:t>
            </a:r>
            <a:r>
              <a:rPr lang="en-US" sz="3200" dirty="0">
                <a:solidFill>
                  <a:srgbClr val="FF0000"/>
                </a:solidFill>
              </a:rPr>
              <a:t>Types of Deep Learning Networks</a:t>
            </a:r>
            <a:endParaRPr lang="en-US" sz="3200" b="1" dirty="0">
              <a:solidFill>
                <a:srgbClr val="FF0000"/>
              </a:solidFill>
            </a:endParaRPr>
          </a:p>
        </p:txBody>
      </p:sp>
      <p:sp>
        <p:nvSpPr>
          <p:cNvPr id="4" name="Content Placeholder 3">
            <a:extLst>
              <a:ext uri="{FF2B5EF4-FFF2-40B4-BE49-F238E27FC236}">
                <a16:creationId xmlns:a16="http://schemas.microsoft.com/office/drawing/2014/main" id="{163BD2F0-C45F-763C-8CF4-BFDB0781AECF}"/>
              </a:ext>
            </a:extLst>
          </p:cNvPr>
          <p:cNvSpPr>
            <a:spLocks noGrp="1"/>
          </p:cNvSpPr>
          <p:nvPr>
            <p:ph idx="1"/>
          </p:nvPr>
        </p:nvSpPr>
        <p:spPr>
          <a:xfrm>
            <a:off x="685215" y="1049120"/>
            <a:ext cx="9381067" cy="5808879"/>
          </a:xfrm>
        </p:spPr>
        <p:txBody>
          <a:bodyPr>
            <a:noAutofit/>
          </a:bodyPr>
          <a:lstStyle/>
          <a:p>
            <a:pPr marL="0" indent="0">
              <a:buNone/>
            </a:pPr>
            <a:r>
              <a:rPr lang="en-US" sz="1400" b="1" dirty="0">
                <a:solidFill>
                  <a:srgbClr val="FF0000"/>
                </a:solidFill>
              </a:rPr>
              <a:t>1. Convolutional Neural Networks (CNN)</a:t>
            </a:r>
          </a:p>
          <a:p>
            <a:r>
              <a:rPr lang="en-US" sz="1400" dirty="0"/>
              <a:t>Used for </a:t>
            </a:r>
            <a:r>
              <a:rPr lang="en-US" sz="1400" b="1" dirty="0"/>
              <a:t>image processing</a:t>
            </a:r>
            <a:r>
              <a:rPr lang="en-US" sz="1400" dirty="0"/>
              <a:t>.</a:t>
            </a:r>
          </a:p>
          <a:p>
            <a:r>
              <a:rPr lang="en-US" sz="1400" dirty="0"/>
              <a:t>Applications:</a:t>
            </a:r>
          </a:p>
          <a:p>
            <a:r>
              <a:rPr lang="en-US" sz="1400" dirty="0"/>
              <a:t>Face recognition</a:t>
            </a:r>
          </a:p>
          <a:p>
            <a:r>
              <a:rPr lang="en-US" sz="1400" dirty="0"/>
              <a:t>Medical imaging</a:t>
            </a:r>
          </a:p>
          <a:p>
            <a:r>
              <a:rPr lang="en-US" sz="1400" dirty="0"/>
              <a:t>Self-driving cars</a:t>
            </a:r>
          </a:p>
          <a:p>
            <a:pPr marL="0" indent="0">
              <a:buNone/>
            </a:pPr>
            <a:r>
              <a:rPr lang="en-US" sz="1400" b="1" dirty="0">
                <a:solidFill>
                  <a:srgbClr val="FF0000"/>
                </a:solidFill>
              </a:rPr>
              <a:t>2. Recurrent Neural Networks (RNN)</a:t>
            </a:r>
          </a:p>
          <a:p>
            <a:r>
              <a:rPr lang="en-US" sz="1400" dirty="0"/>
              <a:t>Used for </a:t>
            </a:r>
            <a:r>
              <a:rPr lang="en-US" sz="1400" b="1" dirty="0"/>
              <a:t>sequence data</a:t>
            </a:r>
            <a:r>
              <a:rPr lang="en-US" sz="1400" dirty="0"/>
              <a:t> like text or speech.</a:t>
            </a:r>
          </a:p>
          <a:p>
            <a:r>
              <a:rPr lang="en-US" sz="1400" dirty="0"/>
              <a:t>Applications:</a:t>
            </a:r>
          </a:p>
          <a:p>
            <a:r>
              <a:rPr lang="en-US" sz="1400" dirty="0"/>
              <a:t>Language translation</a:t>
            </a:r>
          </a:p>
          <a:p>
            <a:r>
              <a:rPr lang="en-US" sz="1400" dirty="0"/>
              <a:t>Speech recognition</a:t>
            </a:r>
          </a:p>
          <a:p>
            <a:pPr marL="0" indent="0">
              <a:buNone/>
            </a:pPr>
            <a:r>
              <a:rPr lang="en-US" sz="1400" b="1" dirty="0">
                <a:solidFill>
                  <a:srgbClr val="FF0000"/>
                </a:solidFill>
              </a:rPr>
              <a:t>3. Transformers</a:t>
            </a:r>
          </a:p>
          <a:p>
            <a:r>
              <a:rPr lang="en-US" sz="1400" dirty="0"/>
              <a:t>Used in modern AI systems and </a:t>
            </a:r>
            <a:r>
              <a:rPr lang="en-US" sz="1400" b="1" dirty="0"/>
              <a:t>Large Language Models</a:t>
            </a:r>
            <a:r>
              <a:rPr lang="en-US" sz="1400" dirty="0"/>
              <a:t>.</a:t>
            </a:r>
          </a:p>
          <a:p>
            <a:r>
              <a:rPr lang="en-US" sz="1400" dirty="0"/>
              <a:t>They power tools like:</a:t>
            </a:r>
          </a:p>
          <a:p>
            <a:r>
              <a:rPr lang="en-US" sz="1400" dirty="0"/>
              <a:t>ChatGPT</a:t>
            </a:r>
          </a:p>
          <a:p>
            <a:r>
              <a:rPr lang="en-US" sz="1400" dirty="0"/>
              <a:t>Gemini</a:t>
            </a:r>
          </a:p>
          <a:p>
            <a:r>
              <a:rPr lang="en-US" sz="1400" dirty="0"/>
              <a:t>Transformers are very powerful for </a:t>
            </a:r>
            <a:r>
              <a:rPr lang="en-US" sz="1400" b="1" dirty="0"/>
              <a:t>text understanding and generation</a:t>
            </a:r>
            <a:r>
              <a:rPr lang="en-US" sz="1400" dirty="0"/>
              <a:t>.</a:t>
            </a:r>
          </a:p>
          <a:p>
            <a:pPr marL="0" indent="0">
              <a:buNone/>
            </a:pPr>
            <a:endParaRPr lang="en-US" sz="1400" dirty="0"/>
          </a:p>
        </p:txBody>
      </p:sp>
    </p:spTree>
    <p:extLst>
      <p:ext uri="{BB962C8B-B14F-4D97-AF65-F5344CB8AC3E}">
        <p14:creationId xmlns:p14="http://schemas.microsoft.com/office/powerpoint/2010/main" val="678196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8987E-D714-F604-2277-B2285CC88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CA22F-754D-91EF-732D-76B72FC2D2B0}"/>
              </a:ext>
            </a:extLst>
          </p:cNvPr>
          <p:cNvSpPr>
            <a:spLocks noGrp="1"/>
          </p:cNvSpPr>
          <p:nvPr>
            <p:ph type="title"/>
          </p:nvPr>
        </p:nvSpPr>
        <p:spPr>
          <a:xfrm>
            <a:off x="685216" y="231228"/>
            <a:ext cx="8596668" cy="1320800"/>
          </a:xfrm>
        </p:spPr>
        <p:txBody>
          <a:bodyPr>
            <a:normAutofit/>
          </a:bodyPr>
          <a:lstStyle/>
          <a:p>
            <a:r>
              <a:rPr lang="en-IN" sz="3200" dirty="0">
                <a:solidFill>
                  <a:srgbClr val="FF0000"/>
                </a:solidFill>
              </a:rPr>
              <a:t>1.1.1 - </a:t>
            </a:r>
            <a:r>
              <a:rPr lang="en-US" sz="3200" dirty="0">
                <a:solidFill>
                  <a:srgbClr val="FF0000"/>
                </a:solidFill>
              </a:rPr>
              <a:t>Deep Learning</a:t>
            </a:r>
            <a:endParaRPr lang="en-US" sz="3200" b="1" dirty="0">
              <a:solidFill>
                <a:srgbClr val="FF0000"/>
              </a:solidFill>
            </a:endParaRPr>
          </a:p>
        </p:txBody>
      </p:sp>
      <p:sp>
        <p:nvSpPr>
          <p:cNvPr id="4" name="Content Placeholder 3">
            <a:extLst>
              <a:ext uri="{FF2B5EF4-FFF2-40B4-BE49-F238E27FC236}">
                <a16:creationId xmlns:a16="http://schemas.microsoft.com/office/drawing/2014/main" id="{6CEFEDC6-EF2C-69E5-63CF-3C369F6D6E68}"/>
              </a:ext>
            </a:extLst>
          </p:cNvPr>
          <p:cNvSpPr>
            <a:spLocks noGrp="1"/>
          </p:cNvSpPr>
          <p:nvPr>
            <p:ph idx="1"/>
          </p:nvPr>
        </p:nvSpPr>
        <p:spPr>
          <a:xfrm>
            <a:off x="685216" y="891628"/>
            <a:ext cx="9105170" cy="5735144"/>
          </a:xfrm>
        </p:spPr>
        <p:txBody>
          <a:bodyPr>
            <a:noAutofit/>
          </a:bodyPr>
          <a:lstStyle/>
          <a:p>
            <a:pPr marL="0" indent="0">
              <a:buNone/>
            </a:pPr>
            <a:r>
              <a:rPr lang="en-US" sz="1400" b="1" dirty="0">
                <a:solidFill>
                  <a:srgbClr val="FF0000"/>
                </a:solidFill>
              </a:rPr>
              <a:t>Applications of Deep Learning</a:t>
            </a:r>
          </a:p>
          <a:p>
            <a:r>
              <a:rPr lang="en-US" sz="1400" dirty="0"/>
              <a:t>Deep learning is used in many real-world systems.</a:t>
            </a:r>
          </a:p>
          <a:p>
            <a:r>
              <a:rPr lang="en-US" sz="1400" b="1" dirty="0"/>
              <a:t>Image Recognition</a:t>
            </a:r>
          </a:p>
          <a:p>
            <a:r>
              <a:rPr lang="en-US" sz="1400" dirty="0"/>
              <a:t>Example:</a:t>
            </a:r>
          </a:p>
          <a:p>
            <a:r>
              <a:rPr lang="en-US" sz="1400" dirty="0"/>
              <a:t>Face unlock in smartphones</a:t>
            </a:r>
          </a:p>
          <a:p>
            <a:pPr marL="0" indent="0">
              <a:buNone/>
            </a:pPr>
            <a:r>
              <a:rPr lang="en-US" sz="1400" b="1" dirty="0">
                <a:solidFill>
                  <a:srgbClr val="FF0000"/>
                </a:solidFill>
              </a:rPr>
              <a:t>Advantages of Deep Learning</a:t>
            </a:r>
          </a:p>
          <a:p>
            <a:r>
              <a:rPr lang="en-US" sz="1400" b="1" dirty="0"/>
              <a:t>Learns Automatically</a:t>
            </a:r>
          </a:p>
          <a:p>
            <a:r>
              <a:rPr lang="en-US" sz="1400" dirty="0"/>
              <a:t>Does not require manually written rules.</a:t>
            </a:r>
          </a:p>
          <a:p>
            <a:r>
              <a:rPr lang="en-US" sz="1400" b="1" dirty="0"/>
              <a:t>High Accuracy</a:t>
            </a:r>
          </a:p>
          <a:p>
            <a:r>
              <a:rPr lang="en-US" sz="1400" dirty="0"/>
              <a:t>Performs very well with large datasets.</a:t>
            </a:r>
          </a:p>
          <a:p>
            <a:r>
              <a:rPr lang="en-US" sz="1400" b="1" dirty="0"/>
              <a:t>Handles Complex Problems</a:t>
            </a:r>
          </a:p>
          <a:p>
            <a:r>
              <a:rPr lang="en-US" sz="1400" dirty="0"/>
              <a:t>Good for images, speech, and language.</a:t>
            </a:r>
          </a:p>
          <a:p>
            <a:pPr marL="0" indent="0">
              <a:buNone/>
            </a:pPr>
            <a:r>
              <a:rPr lang="en-US" sz="1400" b="1" dirty="0">
                <a:solidFill>
                  <a:srgbClr val="FF0000"/>
                </a:solidFill>
              </a:rPr>
              <a:t>Limitations of Deep Learning</a:t>
            </a:r>
          </a:p>
          <a:p>
            <a:r>
              <a:rPr lang="en-US" sz="1400" b="1" dirty="0"/>
              <a:t>Needs Large Data</a:t>
            </a:r>
          </a:p>
          <a:p>
            <a:r>
              <a:rPr lang="en-US" sz="1400" dirty="0"/>
              <a:t>Deep learning models require huge datasets.</a:t>
            </a:r>
          </a:p>
          <a:p>
            <a:r>
              <a:rPr lang="en-US" sz="1400" b="1" dirty="0"/>
              <a:t>Requires High Computing Power</a:t>
            </a:r>
          </a:p>
          <a:p>
            <a:r>
              <a:rPr lang="en-US" sz="1400" dirty="0"/>
              <a:t>Training often needs </a:t>
            </a:r>
            <a:r>
              <a:rPr lang="en-US" sz="1400" b="1" dirty="0"/>
              <a:t>GPUs or specialized hardware</a:t>
            </a:r>
            <a:r>
              <a:rPr lang="en-US" sz="1400" dirty="0"/>
              <a:t>.</a:t>
            </a:r>
          </a:p>
          <a:p>
            <a:pPr marL="0" indent="0">
              <a:buNone/>
            </a:pPr>
            <a:endParaRPr lang="en-US" sz="1400" dirty="0"/>
          </a:p>
        </p:txBody>
      </p:sp>
    </p:spTree>
    <p:extLst>
      <p:ext uri="{BB962C8B-B14F-4D97-AF65-F5344CB8AC3E}">
        <p14:creationId xmlns:p14="http://schemas.microsoft.com/office/powerpoint/2010/main" val="28548519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9D727-37C6-7C2D-7C18-64A5A5965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C7057-8E16-B9C3-1069-AC5CE17B2DC3}"/>
              </a:ext>
            </a:extLst>
          </p:cNvPr>
          <p:cNvSpPr>
            <a:spLocks noGrp="1"/>
          </p:cNvSpPr>
          <p:nvPr>
            <p:ph type="title"/>
          </p:nvPr>
        </p:nvSpPr>
        <p:spPr/>
        <p:txBody>
          <a:bodyPr>
            <a:noAutofit/>
          </a:bodyPr>
          <a:lstStyle/>
          <a:p>
            <a:r>
              <a:rPr lang="en-IN" sz="2800" dirty="0">
                <a:solidFill>
                  <a:srgbClr val="FF0000"/>
                </a:solidFill>
              </a:rPr>
              <a:t>1.1.1 - </a:t>
            </a:r>
            <a:r>
              <a:rPr lang="en-US" sz="2800" b="1" dirty="0">
                <a:solidFill>
                  <a:srgbClr val="FF0000"/>
                </a:solidFill>
              </a:rPr>
              <a:t>What is Generative AI</a:t>
            </a:r>
            <a:br>
              <a:rPr lang="en-US" sz="2800" b="1" dirty="0">
                <a:solidFill>
                  <a:srgbClr val="FF0000"/>
                </a:solidFill>
              </a:rPr>
            </a:br>
            <a:endParaRPr lang="en-IN" sz="2800" dirty="0">
              <a:solidFill>
                <a:srgbClr val="FF0000"/>
              </a:solidFill>
            </a:endParaRPr>
          </a:p>
        </p:txBody>
      </p:sp>
      <p:sp>
        <p:nvSpPr>
          <p:cNvPr id="3" name="Content Placeholder 2">
            <a:extLst>
              <a:ext uri="{FF2B5EF4-FFF2-40B4-BE49-F238E27FC236}">
                <a16:creationId xmlns:a16="http://schemas.microsoft.com/office/drawing/2014/main" id="{42AE1DA0-81B1-54B7-0ADB-2996F59CC592}"/>
              </a:ext>
            </a:extLst>
          </p:cNvPr>
          <p:cNvSpPr>
            <a:spLocks noGrp="1"/>
          </p:cNvSpPr>
          <p:nvPr>
            <p:ph idx="1"/>
          </p:nvPr>
        </p:nvSpPr>
        <p:spPr>
          <a:xfrm>
            <a:off x="677334" y="1679028"/>
            <a:ext cx="8821390" cy="4569371"/>
          </a:xfrm>
        </p:spPr>
        <p:txBody>
          <a:bodyPr>
            <a:normAutofit/>
          </a:bodyPr>
          <a:lstStyle/>
          <a:p>
            <a:pPr marL="0" indent="0">
              <a:buNone/>
            </a:pPr>
            <a:r>
              <a:rPr lang="en-US" sz="1400" dirty="0"/>
              <a:t>Generative AI is a type of artificial intelligence that </a:t>
            </a:r>
            <a:r>
              <a:rPr lang="en-US" sz="1400" b="1" dirty="0"/>
              <a:t>creates new content based on patterns learned from data</a:t>
            </a:r>
            <a:r>
              <a:rPr lang="en-US" sz="1400" dirty="0"/>
              <a:t>.</a:t>
            </a:r>
          </a:p>
          <a:p>
            <a:pPr marL="0" indent="0">
              <a:buNone/>
            </a:pPr>
            <a:r>
              <a:rPr lang="en-US" sz="1400" dirty="0">
                <a:solidFill>
                  <a:srgbClr val="FF0000"/>
                </a:solidFill>
              </a:rPr>
              <a:t>Examples of generated content:</a:t>
            </a:r>
          </a:p>
          <a:p>
            <a:r>
              <a:rPr lang="en-US" sz="1400" dirty="0"/>
              <a:t>Text</a:t>
            </a:r>
          </a:p>
          <a:p>
            <a:r>
              <a:rPr lang="en-US" sz="1400" dirty="0"/>
              <a:t>Code</a:t>
            </a:r>
          </a:p>
          <a:p>
            <a:r>
              <a:rPr lang="en-US" sz="1400" dirty="0"/>
              <a:t>Images</a:t>
            </a:r>
          </a:p>
          <a:p>
            <a:r>
              <a:rPr lang="en-US" sz="1400" dirty="0"/>
              <a:t>Audio</a:t>
            </a:r>
          </a:p>
          <a:p>
            <a:pPr marL="0" indent="0">
              <a:buNone/>
            </a:pPr>
            <a:r>
              <a:rPr lang="en-US" sz="1400" dirty="0">
                <a:solidFill>
                  <a:srgbClr val="FF0000"/>
                </a:solidFill>
              </a:rPr>
              <a:t>Examples of GenAI tools:</a:t>
            </a:r>
          </a:p>
          <a:p>
            <a:r>
              <a:rPr lang="en-US" sz="1400" dirty="0"/>
              <a:t>ChatGPT</a:t>
            </a:r>
          </a:p>
          <a:p>
            <a:r>
              <a:rPr lang="en-US" sz="1400" dirty="0"/>
              <a:t>GitHub Copilot</a:t>
            </a:r>
          </a:p>
          <a:p>
            <a:r>
              <a:rPr lang="en-US" sz="1400" dirty="0"/>
              <a:t>Bard/Gemini</a:t>
            </a:r>
          </a:p>
          <a:p>
            <a:pPr marL="0" indent="0">
              <a:buNone/>
            </a:pPr>
            <a:r>
              <a:rPr lang="en-US" sz="1400" dirty="0"/>
              <a:t>It does this by </a:t>
            </a:r>
            <a:r>
              <a:rPr lang="en-US" sz="1400" b="1" dirty="0"/>
              <a:t>learning patterns from large datasets</a:t>
            </a:r>
            <a:r>
              <a:rPr lang="en-US" sz="1400" dirty="0"/>
              <a:t> and then using those patterns to produce new content that looks similar to what humans create.</a:t>
            </a:r>
            <a:endParaRPr lang="en-IN" sz="1400" dirty="0"/>
          </a:p>
        </p:txBody>
      </p:sp>
    </p:spTree>
    <p:extLst>
      <p:ext uri="{BB962C8B-B14F-4D97-AF65-F5344CB8AC3E}">
        <p14:creationId xmlns:p14="http://schemas.microsoft.com/office/powerpoint/2010/main" val="4053161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8563E-C702-33F9-82E0-D986AF112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5FF840-8DDE-24EE-AD88-DFA9C7FEF725}"/>
              </a:ext>
            </a:extLst>
          </p:cNvPr>
          <p:cNvSpPr>
            <a:spLocks noGrp="1"/>
          </p:cNvSpPr>
          <p:nvPr>
            <p:ph type="title"/>
          </p:nvPr>
        </p:nvSpPr>
        <p:spPr/>
        <p:txBody>
          <a:bodyPr>
            <a:noAutofit/>
          </a:bodyPr>
          <a:lstStyle/>
          <a:p>
            <a:r>
              <a:rPr lang="en-IN" sz="3200" dirty="0">
                <a:solidFill>
                  <a:srgbClr val="FF0000"/>
                </a:solidFill>
              </a:rPr>
              <a:t>1.1.1 - </a:t>
            </a:r>
            <a:r>
              <a:rPr lang="en-US" sz="3200" b="1" dirty="0">
                <a:solidFill>
                  <a:srgbClr val="FF0000"/>
                </a:solidFill>
              </a:rPr>
              <a:t>What is Generative AI</a:t>
            </a:r>
            <a:br>
              <a:rPr lang="en-US" sz="3200" b="1" dirty="0">
                <a:solidFill>
                  <a:srgbClr val="FF0000"/>
                </a:solidFill>
              </a:rPr>
            </a:br>
            <a:endParaRPr lang="en-IN" sz="3200" dirty="0">
              <a:solidFill>
                <a:srgbClr val="FF0000"/>
              </a:solidFill>
            </a:endParaRPr>
          </a:p>
        </p:txBody>
      </p:sp>
      <p:pic>
        <p:nvPicPr>
          <p:cNvPr id="5" name="Content Placeholder 4">
            <a:extLst>
              <a:ext uri="{FF2B5EF4-FFF2-40B4-BE49-F238E27FC236}">
                <a16:creationId xmlns:a16="http://schemas.microsoft.com/office/drawing/2014/main" id="{6C2D2856-0C90-CBC1-609E-C93A629F675C}"/>
              </a:ext>
            </a:extLst>
          </p:cNvPr>
          <p:cNvPicPr>
            <a:picLocks noGrp="1" noChangeAspect="1"/>
          </p:cNvPicPr>
          <p:nvPr>
            <p:ph idx="1"/>
          </p:nvPr>
        </p:nvPicPr>
        <p:blipFill>
          <a:blip r:embed="rId2"/>
          <a:stretch>
            <a:fillRect/>
          </a:stretch>
        </p:blipFill>
        <p:spPr>
          <a:xfrm>
            <a:off x="472382" y="1245476"/>
            <a:ext cx="7749335" cy="4148387"/>
          </a:xfrm>
          <a:prstGeom prst="rect">
            <a:avLst/>
          </a:prstGeom>
        </p:spPr>
      </p:pic>
      <p:sp>
        <p:nvSpPr>
          <p:cNvPr id="7" name="TextBox 6">
            <a:extLst>
              <a:ext uri="{FF2B5EF4-FFF2-40B4-BE49-F238E27FC236}">
                <a16:creationId xmlns:a16="http://schemas.microsoft.com/office/drawing/2014/main" id="{72980957-81CF-D770-D357-2BC98951CA6B}"/>
              </a:ext>
            </a:extLst>
          </p:cNvPr>
          <p:cNvSpPr txBox="1"/>
          <p:nvPr/>
        </p:nvSpPr>
        <p:spPr>
          <a:xfrm>
            <a:off x="819806" y="5785973"/>
            <a:ext cx="8245365" cy="307777"/>
          </a:xfrm>
          <a:prstGeom prst="rect">
            <a:avLst/>
          </a:prstGeom>
          <a:noFill/>
        </p:spPr>
        <p:txBody>
          <a:bodyPr wrap="square">
            <a:spAutoFit/>
          </a:bodyPr>
          <a:lstStyle/>
          <a:p>
            <a:r>
              <a:rPr lang="en-US" sz="1400" dirty="0"/>
              <a:t>Some models are trained on </a:t>
            </a:r>
            <a:r>
              <a:rPr lang="en-US" sz="1400" b="1" dirty="0"/>
              <a:t>billions or trillions of words</a:t>
            </a:r>
            <a:r>
              <a:rPr lang="en-US" sz="1400" dirty="0"/>
              <a:t>.</a:t>
            </a:r>
            <a:endParaRPr lang="en-IN" sz="1400" dirty="0"/>
          </a:p>
        </p:txBody>
      </p:sp>
    </p:spTree>
    <p:extLst>
      <p:ext uri="{BB962C8B-B14F-4D97-AF65-F5344CB8AC3E}">
        <p14:creationId xmlns:p14="http://schemas.microsoft.com/office/powerpoint/2010/main" val="17414209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62A57-5BED-951B-233A-4456285D2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3C5B0-340C-E090-766D-0D4DF4CE4EE9}"/>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What is Generative AI</a:t>
            </a:r>
            <a:br>
              <a:rPr lang="en-US" sz="3200" b="1" dirty="0">
                <a:solidFill>
                  <a:srgbClr val="FF0000"/>
                </a:solidFill>
              </a:rPr>
            </a:br>
            <a:endParaRPr lang="en-IN" sz="3200" dirty="0">
              <a:solidFill>
                <a:srgbClr val="FF0000"/>
              </a:solidFill>
            </a:endParaRPr>
          </a:p>
        </p:txBody>
      </p:sp>
      <p:sp>
        <p:nvSpPr>
          <p:cNvPr id="3" name="Content Placeholder 2">
            <a:extLst>
              <a:ext uri="{FF2B5EF4-FFF2-40B4-BE49-F238E27FC236}">
                <a16:creationId xmlns:a16="http://schemas.microsoft.com/office/drawing/2014/main" id="{EC1173FE-DCD3-FA98-2D97-C492EEAB4A2B}"/>
              </a:ext>
            </a:extLst>
          </p:cNvPr>
          <p:cNvSpPr>
            <a:spLocks noGrp="1"/>
          </p:cNvSpPr>
          <p:nvPr>
            <p:ph idx="1"/>
          </p:nvPr>
        </p:nvSpPr>
        <p:spPr>
          <a:xfrm>
            <a:off x="677334" y="1488613"/>
            <a:ext cx="8596668" cy="4841242"/>
          </a:xfrm>
        </p:spPr>
        <p:txBody>
          <a:bodyPr>
            <a:normAutofit fontScale="85000" lnSpcReduction="20000"/>
          </a:bodyPr>
          <a:lstStyle/>
          <a:p>
            <a:pPr marL="0" indent="0">
              <a:buNone/>
            </a:pPr>
            <a:r>
              <a:rPr lang="en-US" b="1" dirty="0"/>
              <a:t>Understanding with a Simple Human Example</a:t>
            </a:r>
          </a:p>
          <a:p>
            <a:r>
              <a:rPr lang="en-US" dirty="0"/>
              <a:t>Imagine a child learning language.</a:t>
            </a:r>
          </a:p>
          <a:p>
            <a:r>
              <a:rPr lang="en-US" dirty="0"/>
              <a:t>A child hears sentences like:</a:t>
            </a:r>
          </a:p>
          <a:p>
            <a:r>
              <a:rPr lang="en-US" dirty="0"/>
              <a:t>“I am going to school.”</a:t>
            </a:r>
          </a:p>
          <a:p>
            <a:r>
              <a:rPr lang="en-US" dirty="0"/>
              <a:t>“She is eating food.”</a:t>
            </a:r>
          </a:p>
          <a:p>
            <a:r>
              <a:rPr lang="en-US" dirty="0"/>
              <a:t>“They are playing cricket.”</a:t>
            </a:r>
          </a:p>
          <a:p>
            <a:r>
              <a:rPr lang="en-US" dirty="0"/>
              <a:t>After hearing thousands of sentences, the child begins to </a:t>
            </a:r>
            <a:r>
              <a:rPr lang="en-US" b="1" dirty="0"/>
              <a:t>recognize patterns</a:t>
            </a:r>
            <a:r>
              <a:rPr lang="en-US" dirty="0"/>
              <a:t> such as:</a:t>
            </a:r>
          </a:p>
          <a:p>
            <a:r>
              <a:rPr lang="en-US" dirty="0"/>
              <a:t>Subject → Verb → Object</a:t>
            </a:r>
          </a:p>
          <a:p>
            <a:r>
              <a:rPr lang="en-US" dirty="0"/>
              <a:t>“is/are” used with actions</a:t>
            </a:r>
          </a:p>
          <a:p>
            <a:r>
              <a:rPr lang="en-US" dirty="0"/>
              <a:t>Certain words appear together frequently</a:t>
            </a:r>
          </a:p>
          <a:p>
            <a:r>
              <a:rPr lang="en-US" dirty="0"/>
              <a:t>Eventually the child can </a:t>
            </a:r>
            <a:r>
              <a:rPr lang="en-US" b="1" dirty="0"/>
              <a:t>create new sentences</a:t>
            </a:r>
            <a:r>
              <a:rPr lang="en-US" dirty="0"/>
              <a:t> that they have never heard before.</a:t>
            </a:r>
          </a:p>
          <a:p>
            <a:r>
              <a:rPr lang="en-US" dirty="0"/>
              <a:t>Example:</a:t>
            </a:r>
          </a:p>
          <a:p>
            <a:r>
              <a:rPr lang="en-US" dirty="0"/>
              <a:t>“I am playing football.”</a:t>
            </a:r>
          </a:p>
          <a:p>
            <a:r>
              <a:rPr lang="en-US" dirty="0"/>
              <a:t>The child learned the </a:t>
            </a:r>
            <a:r>
              <a:rPr lang="en-US" b="1" dirty="0"/>
              <a:t>pattern of sentence structure</a:t>
            </a:r>
            <a:r>
              <a:rPr lang="en-US" dirty="0"/>
              <a:t>, not just memorized sentences.</a:t>
            </a:r>
          </a:p>
          <a:p>
            <a:r>
              <a:rPr lang="en-US" dirty="0"/>
              <a:t>Generative AI works in a </a:t>
            </a:r>
            <a:r>
              <a:rPr lang="en-US" b="1" dirty="0"/>
              <a:t>similar way</a:t>
            </a:r>
            <a:r>
              <a:rPr lang="en-US" dirty="0"/>
              <a:t>.</a:t>
            </a:r>
          </a:p>
          <a:p>
            <a:endParaRPr lang="en-IN" dirty="0"/>
          </a:p>
        </p:txBody>
      </p:sp>
    </p:spTree>
    <p:extLst>
      <p:ext uri="{BB962C8B-B14F-4D97-AF65-F5344CB8AC3E}">
        <p14:creationId xmlns:p14="http://schemas.microsoft.com/office/powerpoint/2010/main" val="16596675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1A6D9-92A8-73A8-1F86-4E39BA06E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59413-82BF-6E23-DAA3-2BEFA1BAFD04}"/>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What is Generative AI</a:t>
            </a:r>
            <a:br>
              <a:rPr lang="en-US" sz="3200" b="1" dirty="0">
                <a:solidFill>
                  <a:srgbClr val="FF0000"/>
                </a:solidFill>
              </a:rPr>
            </a:br>
            <a:endParaRPr lang="en-IN" sz="3200" dirty="0">
              <a:solidFill>
                <a:srgbClr val="FF0000"/>
              </a:solidFill>
            </a:endParaRPr>
          </a:p>
        </p:txBody>
      </p:sp>
      <p:sp>
        <p:nvSpPr>
          <p:cNvPr id="3" name="Content Placeholder 2">
            <a:extLst>
              <a:ext uri="{FF2B5EF4-FFF2-40B4-BE49-F238E27FC236}">
                <a16:creationId xmlns:a16="http://schemas.microsoft.com/office/drawing/2014/main" id="{6936C0A5-AA54-7C01-9542-909D778A6852}"/>
              </a:ext>
            </a:extLst>
          </p:cNvPr>
          <p:cNvSpPr>
            <a:spLocks noGrp="1"/>
          </p:cNvSpPr>
          <p:nvPr>
            <p:ph idx="1"/>
          </p:nvPr>
        </p:nvSpPr>
        <p:spPr>
          <a:xfrm>
            <a:off x="677334" y="1488613"/>
            <a:ext cx="8596668" cy="4841242"/>
          </a:xfrm>
        </p:spPr>
        <p:txBody>
          <a:bodyPr>
            <a:normAutofit/>
          </a:bodyPr>
          <a:lstStyle/>
          <a:p>
            <a:pPr marL="0" indent="0">
              <a:buNone/>
            </a:pPr>
            <a:r>
              <a:rPr lang="en-US" sz="1400" b="1" dirty="0"/>
              <a:t> Example with Text Data</a:t>
            </a:r>
          </a:p>
          <a:p>
            <a:r>
              <a:rPr lang="en-US" sz="1400" dirty="0"/>
              <a:t>Suppose the AI is trained on millions of sentences like:</a:t>
            </a:r>
          </a:p>
          <a:p>
            <a:r>
              <a:rPr lang="en-US" sz="1400" dirty="0"/>
              <a:t>“The sky is blue.”</a:t>
            </a:r>
          </a:p>
          <a:p>
            <a:r>
              <a:rPr lang="en-US" sz="1400" dirty="0"/>
              <a:t>“The grass is green.”</a:t>
            </a:r>
          </a:p>
          <a:p>
            <a:r>
              <a:rPr lang="en-US" sz="1400" dirty="0"/>
              <a:t>“Snow is white.”</a:t>
            </a:r>
          </a:p>
          <a:p>
            <a:r>
              <a:rPr lang="en-US" sz="1400" dirty="0"/>
              <a:t>The AI learns patterns such as:</a:t>
            </a:r>
          </a:p>
          <a:p>
            <a:r>
              <a:rPr lang="en-US" sz="1400" dirty="0"/>
              <a:t>Sentence structure: </a:t>
            </a:r>
            <a:r>
              <a:rPr lang="en-US" sz="1400" b="1" dirty="0"/>
              <a:t>Subject + is + description</a:t>
            </a:r>
            <a:endParaRPr lang="en-US" sz="1400" dirty="0"/>
          </a:p>
          <a:p>
            <a:r>
              <a:rPr lang="en-US" sz="1400" dirty="0"/>
              <a:t>Certain objects are often associated with specific words.</a:t>
            </a:r>
          </a:p>
          <a:p>
            <a:r>
              <a:rPr lang="en-US" sz="1400" dirty="0"/>
              <a:t>So if you give the prompt:</a:t>
            </a:r>
          </a:p>
          <a:p>
            <a:r>
              <a:rPr lang="en-US" sz="1400" dirty="0"/>
              <a:t>The sky is</a:t>
            </a:r>
          </a:p>
          <a:p>
            <a:r>
              <a:rPr lang="en-US" sz="1400" dirty="0"/>
              <a:t>The AI predicts the most likely next word based on patterns it learned:</a:t>
            </a:r>
          </a:p>
          <a:p>
            <a:r>
              <a:rPr lang="en-US" sz="1400" dirty="0"/>
              <a:t>blue</a:t>
            </a:r>
          </a:p>
          <a:p>
            <a:endParaRPr lang="en-IN" sz="1400" dirty="0"/>
          </a:p>
        </p:txBody>
      </p:sp>
    </p:spTree>
    <p:extLst>
      <p:ext uri="{BB962C8B-B14F-4D97-AF65-F5344CB8AC3E}">
        <p14:creationId xmlns:p14="http://schemas.microsoft.com/office/powerpoint/2010/main" val="11067718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2EF34-3014-E24C-0433-145553B9C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40A9F4-BD2C-3B42-936F-AE5C64E684A8}"/>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What is Generative AI</a:t>
            </a:r>
            <a:br>
              <a:rPr lang="en-US" sz="3200" b="1" dirty="0">
                <a:solidFill>
                  <a:srgbClr val="FF0000"/>
                </a:solidFill>
              </a:rPr>
            </a:br>
            <a:endParaRPr lang="en-IN" sz="3200" dirty="0">
              <a:solidFill>
                <a:srgbClr val="FF0000"/>
              </a:solidFill>
            </a:endParaRPr>
          </a:p>
        </p:txBody>
      </p:sp>
      <p:sp>
        <p:nvSpPr>
          <p:cNvPr id="3" name="Content Placeholder 2">
            <a:extLst>
              <a:ext uri="{FF2B5EF4-FFF2-40B4-BE49-F238E27FC236}">
                <a16:creationId xmlns:a16="http://schemas.microsoft.com/office/drawing/2014/main" id="{36355264-F779-D5F3-00A9-0ED52DBB1C6D}"/>
              </a:ext>
            </a:extLst>
          </p:cNvPr>
          <p:cNvSpPr>
            <a:spLocks noGrp="1"/>
          </p:cNvSpPr>
          <p:nvPr>
            <p:ph idx="1"/>
          </p:nvPr>
        </p:nvSpPr>
        <p:spPr>
          <a:xfrm>
            <a:off x="677334" y="1488613"/>
            <a:ext cx="8596668" cy="4841242"/>
          </a:xfrm>
        </p:spPr>
        <p:txBody>
          <a:bodyPr>
            <a:normAutofit/>
          </a:bodyPr>
          <a:lstStyle/>
          <a:p>
            <a:pPr marL="0" indent="0">
              <a:buNone/>
            </a:pPr>
            <a:r>
              <a:rPr lang="en-US" sz="1400" b="1" dirty="0"/>
              <a:t>Example with Programming Code</a:t>
            </a:r>
          </a:p>
          <a:p>
            <a:r>
              <a:rPr lang="en-US" sz="1400" dirty="0"/>
              <a:t>If an AI sees millions of Python programs, it learns patterns like:</a:t>
            </a:r>
          </a:p>
          <a:p>
            <a:r>
              <a:rPr lang="en-US" sz="1400" dirty="0"/>
              <a:t>Common pattern for loops:</a:t>
            </a:r>
          </a:p>
          <a:p>
            <a:r>
              <a:rPr lang="en-US" sz="1400" dirty="0"/>
              <a:t>for </a:t>
            </a:r>
            <a:r>
              <a:rPr lang="en-US" sz="1400" dirty="0" err="1"/>
              <a:t>i</a:t>
            </a:r>
            <a:r>
              <a:rPr lang="en-US" sz="1400" dirty="0"/>
              <a:t> in range(10):</a:t>
            </a:r>
            <a:br>
              <a:rPr lang="en-US" sz="1400" dirty="0"/>
            </a:br>
            <a:r>
              <a:rPr lang="en-US" sz="1400" dirty="0"/>
              <a:t>    print(</a:t>
            </a:r>
            <a:r>
              <a:rPr lang="en-US" sz="1400" dirty="0" err="1"/>
              <a:t>i</a:t>
            </a:r>
            <a:r>
              <a:rPr lang="en-US" sz="1400" dirty="0"/>
              <a:t>)</a:t>
            </a:r>
          </a:p>
          <a:p>
            <a:r>
              <a:rPr lang="en-US" sz="1400" dirty="0"/>
              <a:t>Common pattern for functions:</a:t>
            </a:r>
          </a:p>
          <a:p>
            <a:r>
              <a:rPr lang="en-US" sz="1400" dirty="0"/>
              <a:t>def add(a, b):</a:t>
            </a:r>
            <a:br>
              <a:rPr lang="en-US" sz="1400" dirty="0"/>
            </a:br>
            <a:r>
              <a:rPr lang="en-US" sz="1400" dirty="0"/>
              <a:t>    return a + b</a:t>
            </a:r>
          </a:p>
          <a:p>
            <a:r>
              <a:rPr lang="en-US" sz="1400" dirty="0"/>
              <a:t>When a developer writes:</a:t>
            </a:r>
          </a:p>
          <a:p>
            <a:r>
              <a:rPr lang="en-US" sz="1400" dirty="0"/>
              <a:t>write a python function to add two numbers</a:t>
            </a:r>
          </a:p>
          <a:p>
            <a:r>
              <a:rPr lang="en-US" sz="1400" dirty="0"/>
              <a:t>The AI generates code because it has </a:t>
            </a:r>
            <a:r>
              <a:rPr lang="en-US" sz="1400" b="1" dirty="0"/>
              <a:t>learned the structure of Python programs</a:t>
            </a:r>
            <a:r>
              <a:rPr lang="en-US" sz="1400" dirty="0"/>
              <a:t>.</a:t>
            </a:r>
          </a:p>
          <a:p>
            <a:endParaRPr lang="en-IN" sz="1400" dirty="0"/>
          </a:p>
        </p:txBody>
      </p:sp>
    </p:spTree>
    <p:extLst>
      <p:ext uri="{BB962C8B-B14F-4D97-AF65-F5344CB8AC3E}">
        <p14:creationId xmlns:p14="http://schemas.microsoft.com/office/powerpoint/2010/main" val="1114012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B8C8D-65BC-E71E-24DE-2A4C5CD3F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B030DF-D10B-0056-631A-25AD64CDA4B1}"/>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What is Generative AI</a:t>
            </a:r>
            <a:br>
              <a:rPr lang="en-US" sz="3200" b="1" dirty="0">
                <a:solidFill>
                  <a:srgbClr val="FF0000"/>
                </a:solidFill>
              </a:rPr>
            </a:br>
            <a:endParaRPr lang="en-IN" sz="3200" dirty="0">
              <a:solidFill>
                <a:srgbClr val="FF0000"/>
              </a:solidFill>
            </a:endParaRPr>
          </a:p>
        </p:txBody>
      </p:sp>
      <p:sp>
        <p:nvSpPr>
          <p:cNvPr id="3" name="Content Placeholder 2">
            <a:extLst>
              <a:ext uri="{FF2B5EF4-FFF2-40B4-BE49-F238E27FC236}">
                <a16:creationId xmlns:a16="http://schemas.microsoft.com/office/drawing/2014/main" id="{38BC287F-C909-D3D1-BA2B-8100C5F24F74}"/>
              </a:ext>
            </a:extLst>
          </p:cNvPr>
          <p:cNvSpPr>
            <a:spLocks noGrp="1"/>
          </p:cNvSpPr>
          <p:nvPr>
            <p:ph idx="1"/>
          </p:nvPr>
        </p:nvSpPr>
        <p:spPr>
          <a:xfrm>
            <a:off x="677334" y="1488613"/>
            <a:ext cx="8596668" cy="4841242"/>
          </a:xfrm>
        </p:spPr>
        <p:txBody>
          <a:bodyPr>
            <a:normAutofit/>
          </a:bodyPr>
          <a:lstStyle/>
          <a:p>
            <a:pPr marL="0" indent="0">
              <a:buNone/>
            </a:pPr>
            <a:r>
              <a:rPr lang="en-IN" sz="1400" dirty="0"/>
              <a:t>Key note</a:t>
            </a:r>
          </a:p>
          <a:p>
            <a:r>
              <a:rPr lang="en-US" sz="1400" dirty="0"/>
              <a:t>AI studies huge amounts of data.</a:t>
            </a:r>
          </a:p>
          <a:p>
            <a:r>
              <a:rPr lang="en-US" sz="1400" dirty="0"/>
              <a:t>It identifies relationships and structures in the data.</a:t>
            </a:r>
          </a:p>
          <a:p>
            <a:r>
              <a:rPr lang="en-US" sz="1400" dirty="0"/>
              <a:t>It learns how information usually appears together.</a:t>
            </a:r>
          </a:p>
          <a:p>
            <a:r>
              <a:rPr lang="en-US" sz="1400" dirty="0"/>
              <a:t>It uses those patterns to generate new content.</a:t>
            </a:r>
            <a:endParaRPr lang="en-IN" sz="1400" dirty="0"/>
          </a:p>
        </p:txBody>
      </p:sp>
    </p:spTree>
    <p:extLst>
      <p:ext uri="{BB962C8B-B14F-4D97-AF65-F5344CB8AC3E}">
        <p14:creationId xmlns:p14="http://schemas.microsoft.com/office/powerpoint/2010/main" val="38931018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B5837-561C-3220-D4E0-9BA2C9273B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4E256C-0536-E4ED-3552-B526882CE8E7}"/>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What is Generative AI</a:t>
            </a:r>
            <a:br>
              <a:rPr lang="en-US" sz="3200" b="1" dirty="0">
                <a:solidFill>
                  <a:srgbClr val="FF0000"/>
                </a:solidFill>
              </a:rPr>
            </a:br>
            <a:endParaRPr lang="en-IN" sz="3200" dirty="0">
              <a:solidFill>
                <a:srgbClr val="FF0000"/>
              </a:solidFill>
            </a:endParaRPr>
          </a:p>
        </p:txBody>
      </p:sp>
      <p:sp>
        <p:nvSpPr>
          <p:cNvPr id="3" name="Content Placeholder 2">
            <a:extLst>
              <a:ext uri="{FF2B5EF4-FFF2-40B4-BE49-F238E27FC236}">
                <a16:creationId xmlns:a16="http://schemas.microsoft.com/office/drawing/2014/main" id="{5C49231B-6BA3-0F0D-56D4-C74F60371DAC}"/>
              </a:ext>
            </a:extLst>
          </p:cNvPr>
          <p:cNvSpPr>
            <a:spLocks noGrp="1"/>
          </p:cNvSpPr>
          <p:nvPr>
            <p:ph idx="1"/>
          </p:nvPr>
        </p:nvSpPr>
        <p:spPr>
          <a:xfrm>
            <a:off x="677334" y="1488613"/>
            <a:ext cx="8596668" cy="4841242"/>
          </a:xfrm>
        </p:spPr>
        <p:txBody>
          <a:bodyPr>
            <a:normAutofit/>
          </a:bodyPr>
          <a:lstStyle/>
          <a:p>
            <a:pPr marL="0" indent="0">
              <a:buNone/>
            </a:pPr>
            <a:r>
              <a:rPr lang="en-US" sz="1400" b="1" dirty="0">
                <a:solidFill>
                  <a:srgbClr val="FF0000"/>
                </a:solidFill>
              </a:rPr>
              <a:t>Types of Generative AI</a:t>
            </a:r>
          </a:p>
          <a:p>
            <a:pPr marL="0" indent="0">
              <a:buNone/>
            </a:pPr>
            <a:r>
              <a:rPr lang="en-US" sz="1400" b="1" dirty="0">
                <a:solidFill>
                  <a:srgbClr val="FF0000"/>
                </a:solidFill>
              </a:rPr>
              <a:t>Text Generation</a:t>
            </a:r>
          </a:p>
          <a:p>
            <a:r>
              <a:rPr lang="en-US" sz="1400" dirty="0"/>
              <a:t>Generates human-like text.</a:t>
            </a:r>
          </a:p>
          <a:p>
            <a:r>
              <a:rPr lang="en-US" sz="1400" dirty="0"/>
              <a:t>Examples:</a:t>
            </a:r>
          </a:p>
          <a:p>
            <a:r>
              <a:rPr lang="en-US" sz="1400" dirty="0"/>
              <a:t>Chatbots</a:t>
            </a:r>
          </a:p>
          <a:p>
            <a:r>
              <a:rPr lang="en-US" sz="1400" dirty="0"/>
              <a:t>Essay writing</a:t>
            </a:r>
          </a:p>
          <a:p>
            <a:r>
              <a:rPr lang="en-US" sz="1400" dirty="0"/>
              <a:t>Summaries</a:t>
            </a:r>
          </a:p>
          <a:p>
            <a:endParaRPr lang="en-US" sz="1400" dirty="0"/>
          </a:p>
          <a:p>
            <a:r>
              <a:rPr lang="en-US" sz="1400" dirty="0"/>
              <a:t>Tools:</a:t>
            </a:r>
          </a:p>
          <a:p>
            <a:r>
              <a:rPr lang="en-US" sz="1400" dirty="0"/>
              <a:t>ChatGPT</a:t>
            </a:r>
          </a:p>
          <a:p>
            <a:r>
              <a:rPr lang="en-US" sz="1400" dirty="0"/>
              <a:t>Claude</a:t>
            </a:r>
          </a:p>
          <a:p>
            <a:pPr marL="0" indent="0">
              <a:buNone/>
            </a:pPr>
            <a:endParaRPr lang="en-IN" sz="1400" dirty="0"/>
          </a:p>
        </p:txBody>
      </p:sp>
    </p:spTree>
    <p:extLst>
      <p:ext uri="{BB962C8B-B14F-4D97-AF65-F5344CB8AC3E}">
        <p14:creationId xmlns:p14="http://schemas.microsoft.com/office/powerpoint/2010/main" val="1420503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57684-3AF7-D59A-161B-5D4F747E0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0B331-EDA8-40F9-0B62-255C40EE96ED}"/>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What is Generative AI</a:t>
            </a:r>
            <a:br>
              <a:rPr lang="en-US" sz="3200" b="1" dirty="0">
                <a:solidFill>
                  <a:srgbClr val="FF0000"/>
                </a:solidFill>
              </a:rPr>
            </a:br>
            <a:endParaRPr lang="en-IN" sz="3200" dirty="0">
              <a:solidFill>
                <a:srgbClr val="FF0000"/>
              </a:solidFill>
            </a:endParaRPr>
          </a:p>
        </p:txBody>
      </p:sp>
      <p:sp>
        <p:nvSpPr>
          <p:cNvPr id="3" name="Content Placeholder 2">
            <a:extLst>
              <a:ext uri="{FF2B5EF4-FFF2-40B4-BE49-F238E27FC236}">
                <a16:creationId xmlns:a16="http://schemas.microsoft.com/office/drawing/2014/main" id="{56F8C223-C760-D742-521D-61F226A0F17C}"/>
              </a:ext>
            </a:extLst>
          </p:cNvPr>
          <p:cNvSpPr>
            <a:spLocks noGrp="1"/>
          </p:cNvSpPr>
          <p:nvPr>
            <p:ph idx="1"/>
          </p:nvPr>
        </p:nvSpPr>
        <p:spPr>
          <a:xfrm>
            <a:off x="677334" y="1488613"/>
            <a:ext cx="8596668" cy="4841242"/>
          </a:xfrm>
        </p:spPr>
        <p:txBody>
          <a:bodyPr>
            <a:normAutofit/>
          </a:bodyPr>
          <a:lstStyle/>
          <a:p>
            <a:pPr marL="0" indent="0">
              <a:buNone/>
            </a:pPr>
            <a:r>
              <a:rPr lang="en-US" sz="1400" b="1" dirty="0">
                <a:solidFill>
                  <a:srgbClr val="FF0000"/>
                </a:solidFill>
              </a:rPr>
              <a:t>Image Generation</a:t>
            </a:r>
          </a:p>
          <a:p>
            <a:r>
              <a:rPr lang="en-US" sz="1400" dirty="0"/>
              <a:t>Creates images from text descriptions.</a:t>
            </a:r>
          </a:p>
          <a:p>
            <a:r>
              <a:rPr lang="en-US" sz="1400" dirty="0"/>
              <a:t>Example prompt:</a:t>
            </a:r>
          </a:p>
          <a:p>
            <a:r>
              <a:rPr lang="en-US" sz="1400" dirty="0"/>
              <a:t>A futuristic city at sunset</a:t>
            </a:r>
          </a:p>
          <a:p>
            <a:r>
              <a:rPr lang="en-US" sz="1400" dirty="0"/>
              <a:t>Tools:</a:t>
            </a:r>
          </a:p>
          <a:p>
            <a:r>
              <a:rPr lang="en-US" sz="1400" dirty="0"/>
              <a:t>DALL·E</a:t>
            </a:r>
          </a:p>
          <a:p>
            <a:r>
              <a:rPr lang="en-US" sz="1400" dirty="0"/>
              <a:t>Midjourney</a:t>
            </a:r>
          </a:p>
          <a:p>
            <a:pPr marL="0" indent="0">
              <a:buNone/>
            </a:pPr>
            <a:r>
              <a:rPr lang="en-US" sz="1400" b="1" dirty="0">
                <a:solidFill>
                  <a:srgbClr val="FF0000"/>
                </a:solidFill>
              </a:rPr>
              <a:t>Code Generation</a:t>
            </a:r>
          </a:p>
          <a:p>
            <a:r>
              <a:rPr lang="en-US" sz="1400" dirty="0"/>
              <a:t>Generates programming code automatically.</a:t>
            </a:r>
          </a:p>
          <a:p>
            <a:r>
              <a:rPr lang="en-US" sz="1400" dirty="0"/>
              <a:t>Example prompt:</a:t>
            </a:r>
          </a:p>
          <a:p>
            <a:r>
              <a:rPr lang="en-US" sz="1400" dirty="0"/>
              <a:t>Write a Python function to add two numbers</a:t>
            </a:r>
          </a:p>
          <a:p>
            <a:r>
              <a:rPr lang="en-US" sz="1400" dirty="0"/>
              <a:t>Tools:</a:t>
            </a:r>
          </a:p>
          <a:p>
            <a:r>
              <a:rPr lang="en-US" sz="1400" dirty="0"/>
              <a:t>GitHub Copilot</a:t>
            </a:r>
          </a:p>
          <a:p>
            <a:pPr marL="0" indent="0">
              <a:buNone/>
            </a:pPr>
            <a:endParaRPr lang="en-IN" sz="1400" dirty="0"/>
          </a:p>
        </p:txBody>
      </p:sp>
    </p:spTree>
    <p:extLst>
      <p:ext uri="{BB962C8B-B14F-4D97-AF65-F5344CB8AC3E}">
        <p14:creationId xmlns:p14="http://schemas.microsoft.com/office/powerpoint/2010/main" val="32613732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37835-69E4-4342-5EC7-A9C66699E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C75027-1C79-C05B-ED00-378433B43360}"/>
              </a:ext>
            </a:extLst>
          </p:cNvPr>
          <p:cNvSpPr>
            <a:spLocks noGrp="1"/>
          </p:cNvSpPr>
          <p:nvPr>
            <p:ph type="title"/>
          </p:nvPr>
        </p:nvSpPr>
        <p:spPr/>
        <p:txBody>
          <a:bodyPr/>
          <a:lstStyle/>
          <a:p>
            <a:r>
              <a:rPr lang="en-IN" dirty="0">
                <a:solidFill>
                  <a:srgbClr val="FF0000"/>
                </a:solidFill>
              </a:rPr>
              <a:t>1.1.1 - </a:t>
            </a:r>
            <a:r>
              <a:rPr lang="en-US" b="1" dirty="0">
                <a:solidFill>
                  <a:srgbClr val="FF0000"/>
                </a:solidFill>
              </a:rPr>
              <a:t>What is Generative AI</a:t>
            </a:r>
            <a:br>
              <a:rPr lang="en-US" b="1" dirty="0"/>
            </a:br>
            <a:endParaRPr lang="en-IN" dirty="0"/>
          </a:p>
        </p:txBody>
      </p:sp>
      <p:sp>
        <p:nvSpPr>
          <p:cNvPr id="3" name="Content Placeholder 2">
            <a:extLst>
              <a:ext uri="{FF2B5EF4-FFF2-40B4-BE49-F238E27FC236}">
                <a16:creationId xmlns:a16="http://schemas.microsoft.com/office/drawing/2014/main" id="{E7A0DEAC-31D4-68CD-458B-6E2913698966}"/>
              </a:ext>
            </a:extLst>
          </p:cNvPr>
          <p:cNvSpPr>
            <a:spLocks noGrp="1"/>
          </p:cNvSpPr>
          <p:nvPr>
            <p:ph idx="1"/>
          </p:nvPr>
        </p:nvSpPr>
        <p:spPr>
          <a:xfrm>
            <a:off x="677334" y="1488613"/>
            <a:ext cx="8596668" cy="4841242"/>
          </a:xfrm>
        </p:spPr>
        <p:txBody>
          <a:bodyPr>
            <a:normAutofit/>
          </a:bodyPr>
          <a:lstStyle/>
          <a:p>
            <a:pPr marL="0" indent="0">
              <a:buNone/>
            </a:pPr>
            <a:r>
              <a:rPr lang="en-US" sz="1400" b="1" dirty="0">
                <a:solidFill>
                  <a:srgbClr val="FF0000"/>
                </a:solidFill>
              </a:rPr>
              <a:t>Audio and Video Generation</a:t>
            </a:r>
          </a:p>
          <a:p>
            <a:r>
              <a:rPr lang="en-US" sz="1400" dirty="0"/>
              <a:t>Generates:</a:t>
            </a:r>
          </a:p>
          <a:p>
            <a:r>
              <a:rPr lang="en-US" sz="1400" dirty="0"/>
              <a:t>Music</a:t>
            </a:r>
          </a:p>
          <a:p>
            <a:r>
              <a:rPr lang="en-US" sz="1400" dirty="0"/>
              <a:t>Voice</a:t>
            </a:r>
          </a:p>
          <a:p>
            <a:r>
              <a:rPr lang="en-US" sz="1400" dirty="0"/>
              <a:t>Videos</a:t>
            </a:r>
          </a:p>
          <a:p>
            <a:r>
              <a:rPr lang="en-US" sz="1400" dirty="0"/>
              <a:t>Animations</a:t>
            </a:r>
          </a:p>
          <a:p>
            <a:endParaRPr lang="en-US" sz="1400" dirty="0"/>
          </a:p>
          <a:p>
            <a:pPr marL="0" indent="0">
              <a:buNone/>
            </a:pPr>
            <a:r>
              <a:rPr lang="en-US" sz="1400" b="1" dirty="0">
                <a:solidFill>
                  <a:srgbClr val="FF0000"/>
                </a:solidFill>
              </a:rPr>
              <a:t>Applications of Generative AI</a:t>
            </a:r>
          </a:p>
          <a:p>
            <a:r>
              <a:rPr lang="en-US" sz="1400" dirty="0"/>
              <a:t>Generative AI is used in many industries.</a:t>
            </a:r>
          </a:p>
          <a:p>
            <a:r>
              <a:rPr lang="en-US" sz="1400" b="1" dirty="0"/>
              <a:t>Software Development</a:t>
            </a:r>
          </a:p>
          <a:p>
            <a:r>
              <a:rPr lang="en-US" sz="1400" dirty="0"/>
              <a:t>Code generation</a:t>
            </a:r>
          </a:p>
          <a:p>
            <a:r>
              <a:rPr lang="en-US" sz="1400" dirty="0"/>
              <a:t>Bug fixing</a:t>
            </a:r>
          </a:p>
          <a:p>
            <a:r>
              <a:rPr lang="en-US" sz="1400" dirty="0"/>
              <a:t>Documentation</a:t>
            </a:r>
          </a:p>
          <a:p>
            <a:r>
              <a:rPr lang="en-US" sz="1400" dirty="0"/>
              <a:t>Example: GitHub Copilot</a:t>
            </a:r>
          </a:p>
          <a:p>
            <a:endParaRPr lang="en-US" sz="1400" dirty="0"/>
          </a:p>
          <a:p>
            <a:pPr marL="0" indent="0">
              <a:buNone/>
            </a:pPr>
            <a:endParaRPr lang="en-IN" sz="1400" dirty="0"/>
          </a:p>
        </p:txBody>
      </p:sp>
    </p:spTree>
    <p:extLst>
      <p:ext uri="{BB962C8B-B14F-4D97-AF65-F5344CB8AC3E}">
        <p14:creationId xmlns:p14="http://schemas.microsoft.com/office/powerpoint/2010/main" val="19802963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5936-9D40-FA63-33C3-9341CE57E1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0A60A-6DAD-07C5-A1C0-3CDF780FFF03}"/>
              </a:ext>
            </a:extLst>
          </p:cNvPr>
          <p:cNvSpPr>
            <a:spLocks noGrp="1"/>
          </p:cNvSpPr>
          <p:nvPr>
            <p:ph type="title"/>
          </p:nvPr>
        </p:nvSpPr>
        <p:spPr/>
        <p:txBody>
          <a:bodyPr/>
          <a:lstStyle/>
          <a:p>
            <a:r>
              <a:rPr lang="en-IN" dirty="0">
                <a:solidFill>
                  <a:srgbClr val="FF0000"/>
                </a:solidFill>
              </a:rPr>
              <a:t>1.1.1 - </a:t>
            </a:r>
            <a:r>
              <a:rPr lang="en-US" b="1" dirty="0">
                <a:solidFill>
                  <a:srgbClr val="FF0000"/>
                </a:solidFill>
              </a:rPr>
              <a:t>What is Generative AI</a:t>
            </a:r>
            <a:br>
              <a:rPr lang="en-US" b="1" dirty="0"/>
            </a:br>
            <a:endParaRPr lang="en-IN" dirty="0"/>
          </a:p>
        </p:txBody>
      </p:sp>
      <p:sp>
        <p:nvSpPr>
          <p:cNvPr id="3" name="Content Placeholder 2">
            <a:extLst>
              <a:ext uri="{FF2B5EF4-FFF2-40B4-BE49-F238E27FC236}">
                <a16:creationId xmlns:a16="http://schemas.microsoft.com/office/drawing/2014/main" id="{4062F3FB-921B-BFDA-7A40-6A22EBD13292}"/>
              </a:ext>
            </a:extLst>
          </p:cNvPr>
          <p:cNvSpPr>
            <a:spLocks noGrp="1"/>
          </p:cNvSpPr>
          <p:nvPr>
            <p:ph idx="1"/>
          </p:nvPr>
        </p:nvSpPr>
        <p:spPr>
          <a:xfrm>
            <a:off x="677334" y="1488613"/>
            <a:ext cx="8596668" cy="4841242"/>
          </a:xfrm>
        </p:spPr>
        <p:txBody>
          <a:bodyPr>
            <a:normAutofit fontScale="70000" lnSpcReduction="20000"/>
          </a:bodyPr>
          <a:lstStyle/>
          <a:p>
            <a:pPr marL="0" indent="0">
              <a:buNone/>
            </a:pPr>
            <a:r>
              <a:rPr lang="en-US" b="1" dirty="0">
                <a:solidFill>
                  <a:srgbClr val="FF0000"/>
                </a:solidFill>
              </a:rPr>
              <a:t>Advantages of Generative AI</a:t>
            </a:r>
          </a:p>
          <a:p>
            <a:pPr marL="0" indent="0">
              <a:buNone/>
            </a:pPr>
            <a:endParaRPr lang="en-US" b="1" dirty="0"/>
          </a:p>
          <a:p>
            <a:r>
              <a:rPr lang="en-US" b="1" dirty="0"/>
              <a:t>Faster Content Creation</a:t>
            </a:r>
          </a:p>
          <a:p>
            <a:r>
              <a:rPr lang="en-US" dirty="0"/>
              <a:t>Generates text, images, or code in seconds.</a:t>
            </a:r>
          </a:p>
          <a:p>
            <a:r>
              <a:rPr lang="en-US" b="1" dirty="0"/>
              <a:t>Increased Productivity</a:t>
            </a:r>
          </a:p>
          <a:p>
            <a:r>
              <a:rPr lang="en-US" dirty="0"/>
              <a:t>Helps developers, designers, and writers work faster.</a:t>
            </a:r>
          </a:p>
          <a:p>
            <a:r>
              <a:rPr lang="en-US" b="1" dirty="0"/>
              <a:t>Creativity Support</a:t>
            </a:r>
          </a:p>
          <a:p>
            <a:r>
              <a:rPr lang="en-US" dirty="0"/>
              <a:t>Can generate ideas and creative content.</a:t>
            </a:r>
          </a:p>
          <a:p>
            <a:endParaRPr lang="en-US" dirty="0"/>
          </a:p>
          <a:p>
            <a:pPr marL="0" indent="0">
              <a:buNone/>
            </a:pPr>
            <a:r>
              <a:rPr lang="en-US" b="1" dirty="0">
                <a:solidFill>
                  <a:srgbClr val="FF0000"/>
                </a:solidFill>
              </a:rPr>
              <a:t>Limitations of Generative AI</a:t>
            </a:r>
          </a:p>
          <a:p>
            <a:pPr marL="0" indent="0">
              <a:buNone/>
            </a:pPr>
            <a:endParaRPr lang="en-US" b="1" dirty="0">
              <a:solidFill>
                <a:srgbClr val="FF0000"/>
              </a:solidFill>
            </a:endParaRPr>
          </a:p>
          <a:p>
            <a:r>
              <a:rPr lang="en-US" b="1" dirty="0"/>
              <a:t>Hallucination</a:t>
            </a:r>
          </a:p>
          <a:p>
            <a:r>
              <a:rPr lang="en-US" dirty="0"/>
              <a:t>AI sometimes produces </a:t>
            </a:r>
            <a:r>
              <a:rPr lang="en-US" b="1" dirty="0"/>
              <a:t>incorrect or fabricated information</a:t>
            </a:r>
            <a:r>
              <a:rPr lang="en-US" dirty="0"/>
              <a:t>.</a:t>
            </a:r>
          </a:p>
          <a:p>
            <a:r>
              <a:rPr lang="en-US" b="1" dirty="0"/>
              <a:t>Bias</a:t>
            </a:r>
          </a:p>
          <a:p>
            <a:r>
              <a:rPr lang="en-US" dirty="0"/>
              <a:t>If training data is biased, the output may also be biased.</a:t>
            </a:r>
          </a:p>
          <a:p>
            <a:r>
              <a:rPr lang="en-US" b="1" dirty="0"/>
              <a:t>Lack of True Understanding</a:t>
            </a:r>
          </a:p>
          <a:p>
            <a:r>
              <a:rPr lang="en-US" dirty="0"/>
              <a:t>Generative AI </a:t>
            </a:r>
            <a:r>
              <a:rPr lang="en-US" b="1" dirty="0"/>
              <a:t>predicts patterns but does not truly understand meaning like humans</a:t>
            </a:r>
            <a:r>
              <a:rPr lang="en-US" dirty="0"/>
              <a:t>.</a:t>
            </a:r>
          </a:p>
          <a:p>
            <a:endParaRPr lang="en-US" dirty="0"/>
          </a:p>
          <a:p>
            <a:pPr marL="0" indent="0">
              <a:buNone/>
            </a:pPr>
            <a:endParaRPr lang="en-IN" dirty="0"/>
          </a:p>
        </p:txBody>
      </p:sp>
    </p:spTree>
    <p:extLst>
      <p:ext uri="{BB962C8B-B14F-4D97-AF65-F5344CB8AC3E}">
        <p14:creationId xmlns:p14="http://schemas.microsoft.com/office/powerpoint/2010/main" val="29209625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00892-AC47-2B69-9538-61AC9945C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1CFB5-0B32-85E9-5190-08114EAC36B9}"/>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Key Concepts in GenAI</a:t>
            </a:r>
            <a:endParaRPr lang="en-IN" sz="3200" dirty="0">
              <a:solidFill>
                <a:srgbClr val="FF0000"/>
              </a:solidFill>
            </a:endParaRPr>
          </a:p>
        </p:txBody>
      </p:sp>
      <p:sp>
        <p:nvSpPr>
          <p:cNvPr id="3" name="Content Placeholder 2">
            <a:extLst>
              <a:ext uri="{FF2B5EF4-FFF2-40B4-BE49-F238E27FC236}">
                <a16:creationId xmlns:a16="http://schemas.microsoft.com/office/drawing/2014/main" id="{B7B1251A-232F-D0A4-958E-99E838440870}"/>
              </a:ext>
            </a:extLst>
          </p:cNvPr>
          <p:cNvSpPr>
            <a:spLocks noGrp="1"/>
          </p:cNvSpPr>
          <p:nvPr>
            <p:ph idx="1"/>
          </p:nvPr>
        </p:nvSpPr>
        <p:spPr>
          <a:xfrm>
            <a:off x="677334" y="1569382"/>
            <a:ext cx="8596668" cy="3880773"/>
          </a:xfrm>
        </p:spPr>
        <p:txBody>
          <a:bodyPr>
            <a:normAutofit/>
          </a:bodyPr>
          <a:lstStyle/>
          <a:p>
            <a:pPr marL="0" indent="0">
              <a:buNone/>
            </a:pPr>
            <a:r>
              <a:rPr lang="en-US" sz="1400" dirty="0"/>
              <a:t>1.</a:t>
            </a:r>
            <a:r>
              <a:rPr lang="en-IN" sz="1400" dirty="0"/>
              <a:t>Tokenization</a:t>
            </a:r>
          </a:p>
          <a:p>
            <a:pPr marL="0" indent="0">
              <a:buNone/>
            </a:pPr>
            <a:r>
              <a:rPr lang="en-IN" sz="1400" dirty="0"/>
              <a:t>2.Pattern Learning</a:t>
            </a:r>
          </a:p>
          <a:p>
            <a:pPr marL="0" indent="0">
              <a:buNone/>
            </a:pPr>
            <a:r>
              <a:rPr lang="en-IN" sz="1400" dirty="0"/>
              <a:t>3. Predicting the Next Token</a:t>
            </a:r>
          </a:p>
          <a:p>
            <a:pPr marL="0" indent="0">
              <a:buNone/>
            </a:pPr>
            <a:r>
              <a:rPr lang="en-IN" sz="1400" dirty="0"/>
              <a:t>4. Context Window</a:t>
            </a:r>
          </a:p>
          <a:p>
            <a:pPr marL="0" indent="0">
              <a:buNone/>
            </a:pPr>
            <a:r>
              <a:rPr lang="en-IN" sz="1400" dirty="0"/>
              <a:t>5.</a:t>
            </a:r>
            <a:r>
              <a:rPr lang="en-IN" sz="1400" dirty="0">
                <a:solidFill>
                  <a:srgbClr val="FF0000"/>
                </a:solidFill>
              </a:rPr>
              <a:t> </a:t>
            </a:r>
            <a:r>
              <a:rPr lang="en-IN" sz="1400" dirty="0">
                <a:solidFill>
                  <a:schemeClr val="tx1"/>
                </a:solidFill>
              </a:rPr>
              <a:t>Multimodal models</a:t>
            </a:r>
          </a:p>
        </p:txBody>
      </p:sp>
    </p:spTree>
    <p:extLst>
      <p:ext uri="{BB962C8B-B14F-4D97-AF65-F5344CB8AC3E}">
        <p14:creationId xmlns:p14="http://schemas.microsoft.com/office/powerpoint/2010/main" val="13311952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92418-051C-11C2-D654-0B15C0D21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AA9CD-56F7-2D8F-F9B6-B7245E5165F5}"/>
              </a:ext>
            </a:extLst>
          </p:cNvPr>
          <p:cNvSpPr>
            <a:spLocks noGrp="1"/>
          </p:cNvSpPr>
          <p:nvPr>
            <p:ph type="title"/>
          </p:nvPr>
        </p:nvSpPr>
        <p:spPr>
          <a:xfrm>
            <a:off x="677334" y="609600"/>
            <a:ext cx="8596668" cy="793531"/>
          </a:xfrm>
        </p:spPr>
        <p:txBody>
          <a:bodyPr>
            <a:normAutofit/>
          </a:bodyPr>
          <a:lstStyle/>
          <a:p>
            <a:r>
              <a:rPr lang="en-IN" sz="2800" dirty="0">
                <a:solidFill>
                  <a:srgbClr val="FF0000"/>
                </a:solidFill>
              </a:rPr>
              <a:t>1.1.1 - Tokenization</a:t>
            </a:r>
          </a:p>
        </p:txBody>
      </p:sp>
      <p:sp>
        <p:nvSpPr>
          <p:cNvPr id="3" name="Content Placeholder 2">
            <a:extLst>
              <a:ext uri="{FF2B5EF4-FFF2-40B4-BE49-F238E27FC236}">
                <a16:creationId xmlns:a16="http://schemas.microsoft.com/office/drawing/2014/main" id="{28279338-C669-988E-B8AC-F7E8A626A98C}"/>
              </a:ext>
            </a:extLst>
          </p:cNvPr>
          <p:cNvSpPr>
            <a:spLocks noGrp="1"/>
          </p:cNvSpPr>
          <p:nvPr>
            <p:ph idx="1"/>
          </p:nvPr>
        </p:nvSpPr>
        <p:spPr>
          <a:xfrm>
            <a:off x="779810" y="1488613"/>
            <a:ext cx="8596668" cy="3880773"/>
          </a:xfrm>
        </p:spPr>
        <p:txBody>
          <a:bodyPr>
            <a:normAutofit/>
          </a:bodyPr>
          <a:lstStyle/>
          <a:p>
            <a:pPr marL="0" indent="0">
              <a:buNone/>
            </a:pPr>
            <a:r>
              <a:rPr lang="en-US" sz="1400" dirty="0">
                <a:solidFill>
                  <a:srgbClr val="FF0000"/>
                </a:solidFill>
              </a:rPr>
              <a:t>Text is broken into </a:t>
            </a:r>
            <a:r>
              <a:rPr lang="en-US" sz="1400" b="1" dirty="0">
                <a:solidFill>
                  <a:srgbClr val="FF0000"/>
                </a:solidFill>
              </a:rPr>
              <a:t>tokens</a:t>
            </a:r>
            <a:r>
              <a:rPr lang="en-US" sz="1400" dirty="0">
                <a:solidFill>
                  <a:srgbClr val="FF0000"/>
                </a:solidFill>
              </a:rPr>
              <a:t> (small pieces of words).</a:t>
            </a:r>
          </a:p>
          <a:p>
            <a:r>
              <a:rPr lang="en-US" sz="1400" b="1" dirty="0"/>
              <a:t>Tokenization</a:t>
            </a:r>
            <a:r>
              <a:rPr lang="en-US" sz="1400" dirty="0"/>
              <a:t> is the process of </a:t>
            </a:r>
            <a:r>
              <a:rPr lang="en-US" sz="1400" b="1" dirty="0"/>
              <a:t>breaking text into smaller pieces called tokens</a:t>
            </a:r>
            <a:r>
              <a:rPr lang="en-US" sz="1400" dirty="0"/>
              <a:t> so that a computer or AI model can process and understand the text efficiently.</a:t>
            </a:r>
          </a:p>
          <a:p>
            <a:r>
              <a:rPr lang="en-US" sz="1400" dirty="0"/>
              <a:t>A </a:t>
            </a:r>
            <a:r>
              <a:rPr lang="en-US" sz="1400" b="1" dirty="0"/>
              <a:t>token</a:t>
            </a:r>
            <a:r>
              <a:rPr lang="en-US" sz="1400" dirty="0"/>
              <a:t> can be:</a:t>
            </a:r>
          </a:p>
          <a:p>
            <a:r>
              <a:rPr lang="en-US" sz="1400" dirty="0"/>
              <a:t>A word</a:t>
            </a:r>
          </a:p>
          <a:p>
            <a:r>
              <a:rPr lang="en-US" sz="1400" dirty="0"/>
              <a:t>A part of a word</a:t>
            </a:r>
          </a:p>
          <a:p>
            <a:r>
              <a:rPr lang="en-US" sz="1400" dirty="0"/>
              <a:t>A character</a:t>
            </a:r>
          </a:p>
          <a:p>
            <a:r>
              <a:rPr lang="en-US" sz="1400" dirty="0"/>
              <a:t>A punctuation symbol</a:t>
            </a:r>
          </a:p>
          <a:p>
            <a:r>
              <a:rPr lang="en-US" sz="1400" dirty="0"/>
              <a:t>AI models like </a:t>
            </a:r>
            <a:r>
              <a:rPr lang="en-US" sz="1400" b="1" dirty="0"/>
              <a:t>Large Language Models (LLMs)</a:t>
            </a:r>
            <a:r>
              <a:rPr lang="en-US" sz="1400" dirty="0"/>
              <a:t> do not read text like humans. Instead, they convert text into </a:t>
            </a:r>
            <a:r>
              <a:rPr lang="en-US" sz="1400" b="1" dirty="0"/>
              <a:t>tokens</a:t>
            </a:r>
            <a:r>
              <a:rPr lang="en-US" sz="1400" dirty="0"/>
              <a:t>, which makes it easier for the model to analyze patterns and generate responses.</a:t>
            </a:r>
          </a:p>
          <a:p>
            <a:endParaRPr lang="en-IN" sz="1400" dirty="0"/>
          </a:p>
        </p:txBody>
      </p:sp>
      <p:pic>
        <p:nvPicPr>
          <p:cNvPr id="6146" name="Picture 2" descr="Tokenization — A Complete Guide ...">
            <a:extLst>
              <a:ext uri="{FF2B5EF4-FFF2-40B4-BE49-F238E27FC236}">
                <a16:creationId xmlns:a16="http://schemas.microsoft.com/office/drawing/2014/main" id="{B5FCF18B-8F9E-1F15-D32B-97ED794898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868" y="4962197"/>
            <a:ext cx="284797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7127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1F148-6FEC-51A5-DD91-FC8E1B14D1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82208-2B6C-4DEF-868B-98F3F6F08CE3}"/>
              </a:ext>
            </a:extLst>
          </p:cNvPr>
          <p:cNvSpPr>
            <a:spLocks noGrp="1"/>
          </p:cNvSpPr>
          <p:nvPr>
            <p:ph type="title"/>
          </p:nvPr>
        </p:nvSpPr>
        <p:spPr/>
        <p:txBody>
          <a:bodyPr>
            <a:normAutofit/>
          </a:bodyPr>
          <a:lstStyle/>
          <a:p>
            <a:r>
              <a:rPr lang="en-IN" sz="3200" dirty="0">
                <a:solidFill>
                  <a:srgbClr val="FF0000"/>
                </a:solidFill>
              </a:rPr>
              <a:t>1.1.1 - Tokenization</a:t>
            </a:r>
            <a:endParaRPr lang="en-IN" sz="3200" dirty="0"/>
          </a:p>
        </p:txBody>
      </p:sp>
      <p:sp>
        <p:nvSpPr>
          <p:cNvPr id="3" name="Content Placeholder 2">
            <a:extLst>
              <a:ext uri="{FF2B5EF4-FFF2-40B4-BE49-F238E27FC236}">
                <a16:creationId xmlns:a16="http://schemas.microsoft.com/office/drawing/2014/main" id="{A0427765-24C2-1030-BE21-E3B64469482B}"/>
              </a:ext>
            </a:extLst>
          </p:cNvPr>
          <p:cNvSpPr>
            <a:spLocks noGrp="1"/>
          </p:cNvSpPr>
          <p:nvPr>
            <p:ph idx="1"/>
          </p:nvPr>
        </p:nvSpPr>
        <p:spPr>
          <a:xfrm>
            <a:off x="677334" y="1488613"/>
            <a:ext cx="8596668" cy="3880773"/>
          </a:xfrm>
        </p:spPr>
        <p:txBody>
          <a:bodyPr>
            <a:normAutofit/>
          </a:bodyPr>
          <a:lstStyle/>
          <a:p>
            <a:pPr marL="0" indent="0">
              <a:buNone/>
            </a:pPr>
            <a:r>
              <a:rPr lang="en-US" sz="1400" b="1" dirty="0"/>
              <a:t>Example of Tokenization</a:t>
            </a:r>
          </a:p>
          <a:p>
            <a:r>
              <a:rPr lang="en-US" sz="1400" b="1" dirty="0"/>
              <a:t>Original Sentence</a:t>
            </a:r>
          </a:p>
          <a:p>
            <a:r>
              <a:rPr lang="en-US" sz="1400" dirty="0"/>
              <a:t>"Artificial Intelligence is powerful."</a:t>
            </a:r>
          </a:p>
          <a:p>
            <a:r>
              <a:rPr lang="en-US" sz="1400" b="1" dirty="0"/>
              <a:t>After Tokenization (word level)</a:t>
            </a:r>
          </a:p>
          <a:p>
            <a:r>
              <a:rPr lang="en-US" sz="1400" dirty="0"/>
              <a:t>["Artificial", "Intelligence", "is", "powerful", "."]</a:t>
            </a:r>
          </a:p>
          <a:p>
            <a:endParaRPr lang="en-US" sz="1400" dirty="0"/>
          </a:p>
          <a:p>
            <a:pPr marL="0" indent="0">
              <a:buNone/>
            </a:pPr>
            <a:r>
              <a:rPr lang="en-US" sz="1400" b="1" dirty="0" err="1"/>
              <a:t>Subword</a:t>
            </a:r>
            <a:r>
              <a:rPr lang="en-US" sz="1400" b="1" dirty="0"/>
              <a:t> Tokenization Example</a:t>
            </a:r>
          </a:p>
          <a:p>
            <a:r>
              <a:rPr lang="en-US" sz="1400" dirty="0"/>
              <a:t>["Artificial", "Intelli", "</a:t>
            </a:r>
            <a:r>
              <a:rPr lang="en-US" sz="1400" dirty="0" err="1"/>
              <a:t>gence</a:t>
            </a:r>
            <a:r>
              <a:rPr lang="en-US" sz="1400" dirty="0"/>
              <a:t>", "is", "power", "</a:t>
            </a:r>
            <a:r>
              <a:rPr lang="en-US" sz="1400" dirty="0" err="1"/>
              <a:t>ful</a:t>
            </a:r>
            <a:r>
              <a:rPr lang="en-US" sz="1400" dirty="0"/>
              <a:t>"]</a:t>
            </a:r>
          </a:p>
          <a:p>
            <a:r>
              <a:rPr lang="en-US" sz="1400" dirty="0"/>
              <a:t>Here, words may be </a:t>
            </a:r>
            <a:r>
              <a:rPr lang="en-US" sz="1400" b="1" dirty="0"/>
              <a:t>split into smaller parts</a:t>
            </a:r>
            <a:r>
              <a:rPr lang="en-US" sz="1400" dirty="0"/>
              <a:t> so the model can understand new words it has not seen before.</a:t>
            </a:r>
          </a:p>
          <a:p>
            <a:endParaRPr lang="en-IN" sz="1400" dirty="0"/>
          </a:p>
        </p:txBody>
      </p:sp>
    </p:spTree>
    <p:extLst>
      <p:ext uri="{BB962C8B-B14F-4D97-AF65-F5344CB8AC3E}">
        <p14:creationId xmlns:p14="http://schemas.microsoft.com/office/powerpoint/2010/main" val="10616244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353B2-5E4B-2C56-0B9A-D23E0AA33D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267E4-EE77-9915-6435-B6E4A54EF170}"/>
              </a:ext>
            </a:extLst>
          </p:cNvPr>
          <p:cNvSpPr>
            <a:spLocks noGrp="1"/>
          </p:cNvSpPr>
          <p:nvPr>
            <p:ph type="title"/>
          </p:nvPr>
        </p:nvSpPr>
        <p:spPr/>
        <p:txBody>
          <a:bodyPr>
            <a:normAutofit/>
          </a:bodyPr>
          <a:lstStyle/>
          <a:p>
            <a:r>
              <a:rPr lang="en-IN" sz="3200" dirty="0">
                <a:solidFill>
                  <a:srgbClr val="FF0000"/>
                </a:solidFill>
              </a:rPr>
              <a:t>1.1.1 - Why Tokenization is important</a:t>
            </a:r>
          </a:p>
        </p:txBody>
      </p:sp>
      <p:sp>
        <p:nvSpPr>
          <p:cNvPr id="4" name="TextBox 3">
            <a:extLst>
              <a:ext uri="{FF2B5EF4-FFF2-40B4-BE49-F238E27FC236}">
                <a16:creationId xmlns:a16="http://schemas.microsoft.com/office/drawing/2014/main" id="{CC8608B0-E48A-1B88-F78C-0B9FAE109CFD}"/>
              </a:ext>
            </a:extLst>
          </p:cNvPr>
          <p:cNvSpPr txBox="1"/>
          <p:nvPr/>
        </p:nvSpPr>
        <p:spPr>
          <a:xfrm>
            <a:off x="851338" y="1537249"/>
            <a:ext cx="7606862" cy="1169551"/>
          </a:xfrm>
          <a:prstGeom prst="rect">
            <a:avLst/>
          </a:prstGeom>
          <a:noFill/>
        </p:spPr>
        <p:txBody>
          <a:bodyPr wrap="square">
            <a:spAutoFit/>
          </a:bodyPr>
          <a:lstStyle/>
          <a:p>
            <a:pPr marL="285750" indent="-285750">
              <a:buFont typeface="Wingdings" panose="05000000000000000000" pitchFamily="2" charset="2"/>
              <a:buChar char="Ø"/>
            </a:pPr>
            <a:r>
              <a:rPr lang="en-US" sz="1400" dirty="0"/>
              <a:t>Converts raw text into smaller units (tokens) that models can process. </a:t>
            </a:r>
          </a:p>
          <a:p>
            <a:pPr marL="285750" indent="-285750">
              <a:buFont typeface="Wingdings" panose="05000000000000000000" pitchFamily="2" charset="2"/>
              <a:buChar char="Ø"/>
            </a:pPr>
            <a:r>
              <a:rPr lang="en-US" sz="1400" dirty="0"/>
              <a:t>Enables machines to understand and analyze human language. </a:t>
            </a:r>
          </a:p>
          <a:p>
            <a:pPr marL="285750" indent="-285750">
              <a:buFont typeface="Wingdings" panose="05000000000000000000" pitchFamily="2" charset="2"/>
              <a:buChar char="Ø"/>
            </a:pPr>
            <a:r>
              <a:rPr lang="en-US" sz="1400" dirty="0"/>
              <a:t>Standardizes text for consistent processing. </a:t>
            </a:r>
          </a:p>
          <a:p>
            <a:pPr marL="285750" indent="-285750">
              <a:buFont typeface="Wingdings" panose="05000000000000000000" pitchFamily="2" charset="2"/>
              <a:buChar char="Ø"/>
            </a:pPr>
            <a:r>
              <a:rPr lang="en-US" sz="1400" dirty="0"/>
              <a:t>Helps in handling punctuation, spaces, and special characters. </a:t>
            </a:r>
          </a:p>
          <a:p>
            <a:pPr marL="285750" indent="-285750">
              <a:buFont typeface="Wingdings" panose="05000000000000000000" pitchFamily="2" charset="2"/>
              <a:buChar char="Ø"/>
            </a:pPr>
            <a:r>
              <a:rPr lang="en-US" sz="1400" dirty="0"/>
              <a:t>Improves efficiency of NLP models.</a:t>
            </a:r>
          </a:p>
        </p:txBody>
      </p:sp>
    </p:spTree>
    <p:extLst>
      <p:ext uri="{BB962C8B-B14F-4D97-AF65-F5344CB8AC3E}">
        <p14:creationId xmlns:p14="http://schemas.microsoft.com/office/powerpoint/2010/main" val="20283551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58C2A-3C93-1CEB-8C76-08500C1E38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1F955-0008-F50B-465B-2E5A19E87CA1}"/>
              </a:ext>
            </a:extLst>
          </p:cNvPr>
          <p:cNvSpPr>
            <a:spLocks noGrp="1"/>
          </p:cNvSpPr>
          <p:nvPr>
            <p:ph type="title"/>
          </p:nvPr>
        </p:nvSpPr>
        <p:spPr/>
        <p:txBody>
          <a:bodyPr>
            <a:normAutofit/>
          </a:bodyPr>
          <a:lstStyle/>
          <a:p>
            <a:r>
              <a:rPr lang="en-IN" sz="3200" dirty="0">
                <a:solidFill>
                  <a:srgbClr val="FF0000"/>
                </a:solidFill>
              </a:rPr>
              <a:t>1.1.1 - Types of Tokenization</a:t>
            </a:r>
          </a:p>
        </p:txBody>
      </p:sp>
      <p:pic>
        <p:nvPicPr>
          <p:cNvPr id="5" name="Content Placeholder 4">
            <a:extLst>
              <a:ext uri="{FF2B5EF4-FFF2-40B4-BE49-F238E27FC236}">
                <a16:creationId xmlns:a16="http://schemas.microsoft.com/office/drawing/2014/main" id="{7061C940-D266-2AC4-E094-ED46A7AA8A12}"/>
              </a:ext>
            </a:extLst>
          </p:cNvPr>
          <p:cNvPicPr>
            <a:picLocks noGrp="1" noChangeAspect="1"/>
          </p:cNvPicPr>
          <p:nvPr>
            <p:ph idx="1"/>
          </p:nvPr>
        </p:nvPicPr>
        <p:blipFill>
          <a:blip r:embed="rId2"/>
          <a:stretch>
            <a:fillRect/>
          </a:stretch>
        </p:blipFill>
        <p:spPr>
          <a:xfrm>
            <a:off x="489873" y="1535014"/>
            <a:ext cx="2789561" cy="2163810"/>
          </a:xfrm>
          <a:prstGeom prst="rect">
            <a:avLst/>
          </a:prstGeom>
        </p:spPr>
      </p:pic>
      <p:pic>
        <p:nvPicPr>
          <p:cNvPr id="7" name="Picture 6">
            <a:extLst>
              <a:ext uri="{FF2B5EF4-FFF2-40B4-BE49-F238E27FC236}">
                <a16:creationId xmlns:a16="http://schemas.microsoft.com/office/drawing/2014/main" id="{36B17CD9-33D5-AD36-90D1-6D951A0514E7}"/>
              </a:ext>
            </a:extLst>
          </p:cNvPr>
          <p:cNvPicPr>
            <a:picLocks noChangeAspect="1"/>
          </p:cNvPicPr>
          <p:nvPr/>
        </p:nvPicPr>
        <p:blipFill>
          <a:blip r:embed="rId3"/>
          <a:stretch>
            <a:fillRect/>
          </a:stretch>
        </p:blipFill>
        <p:spPr>
          <a:xfrm>
            <a:off x="4066047" y="2009395"/>
            <a:ext cx="3111660" cy="2019404"/>
          </a:xfrm>
          <a:prstGeom prst="rect">
            <a:avLst/>
          </a:prstGeom>
        </p:spPr>
      </p:pic>
      <p:pic>
        <p:nvPicPr>
          <p:cNvPr id="9" name="Picture 8">
            <a:extLst>
              <a:ext uri="{FF2B5EF4-FFF2-40B4-BE49-F238E27FC236}">
                <a16:creationId xmlns:a16="http://schemas.microsoft.com/office/drawing/2014/main" id="{3578D909-E213-364D-AE2D-8DDC338165DE}"/>
              </a:ext>
            </a:extLst>
          </p:cNvPr>
          <p:cNvPicPr>
            <a:picLocks noChangeAspect="1"/>
          </p:cNvPicPr>
          <p:nvPr/>
        </p:nvPicPr>
        <p:blipFill>
          <a:blip r:embed="rId4"/>
          <a:stretch>
            <a:fillRect/>
          </a:stretch>
        </p:blipFill>
        <p:spPr>
          <a:xfrm>
            <a:off x="594538" y="4179289"/>
            <a:ext cx="3471509" cy="2069111"/>
          </a:xfrm>
          <a:prstGeom prst="rect">
            <a:avLst/>
          </a:prstGeom>
        </p:spPr>
      </p:pic>
      <p:pic>
        <p:nvPicPr>
          <p:cNvPr id="11" name="Picture 10">
            <a:extLst>
              <a:ext uri="{FF2B5EF4-FFF2-40B4-BE49-F238E27FC236}">
                <a16:creationId xmlns:a16="http://schemas.microsoft.com/office/drawing/2014/main" id="{0EB308A7-1749-3F42-DA3F-EA60DBAF4301}"/>
              </a:ext>
            </a:extLst>
          </p:cNvPr>
          <p:cNvPicPr>
            <a:picLocks noChangeAspect="1"/>
          </p:cNvPicPr>
          <p:nvPr/>
        </p:nvPicPr>
        <p:blipFill>
          <a:blip r:embed="rId5"/>
          <a:stretch>
            <a:fillRect/>
          </a:stretch>
        </p:blipFill>
        <p:spPr>
          <a:xfrm>
            <a:off x="7446877" y="2009395"/>
            <a:ext cx="2006703" cy="3035456"/>
          </a:xfrm>
          <a:prstGeom prst="rect">
            <a:avLst/>
          </a:prstGeom>
        </p:spPr>
      </p:pic>
    </p:spTree>
    <p:extLst>
      <p:ext uri="{BB962C8B-B14F-4D97-AF65-F5344CB8AC3E}">
        <p14:creationId xmlns:p14="http://schemas.microsoft.com/office/powerpoint/2010/main" val="3483825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CDC0C-FFC9-D603-0ADE-29A27800C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03D99D-4A8B-6404-99F4-1121A207119D}"/>
              </a:ext>
            </a:extLst>
          </p:cNvPr>
          <p:cNvSpPr>
            <a:spLocks noGrp="1"/>
          </p:cNvSpPr>
          <p:nvPr>
            <p:ph type="title"/>
          </p:nvPr>
        </p:nvSpPr>
        <p:spPr/>
        <p:txBody>
          <a:bodyPr>
            <a:normAutofit/>
          </a:bodyPr>
          <a:lstStyle/>
          <a:p>
            <a:r>
              <a:rPr lang="en-IN" sz="3200" dirty="0">
                <a:solidFill>
                  <a:srgbClr val="FF0000"/>
                </a:solidFill>
              </a:rPr>
              <a:t>1.1.1 -Pattern Learning</a:t>
            </a:r>
            <a:br>
              <a:rPr lang="en-IN" sz="3200" dirty="0">
                <a:solidFill>
                  <a:srgbClr val="FF0000"/>
                </a:solidFill>
              </a:rPr>
            </a:br>
            <a:endParaRPr lang="en-IN" sz="3200" dirty="0">
              <a:solidFill>
                <a:srgbClr val="FF0000"/>
              </a:solidFill>
            </a:endParaRPr>
          </a:p>
        </p:txBody>
      </p:sp>
      <p:sp>
        <p:nvSpPr>
          <p:cNvPr id="3" name="Content Placeholder 2">
            <a:extLst>
              <a:ext uri="{FF2B5EF4-FFF2-40B4-BE49-F238E27FC236}">
                <a16:creationId xmlns:a16="http://schemas.microsoft.com/office/drawing/2014/main" id="{64A0E533-65D9-8B19-C4E9-5995891462B6}"/>
              </a:ext>
            </a:extLst>
          </p:cNvPr>
          <p:cNvSpPr>
            <a:spLocks noGrp="1"/>
          </p:cNvSpPr>
          <p:nvPr>
            <p:ph idx="1"/>
          </p:nvPr>
        </p:nvSpPr>
        <p:spPr>
          <a:xfrm>
            <a:off x="677334" y="1488613"/>
            <a:ext cx="8596668" cy="3880773"/>
          </a:xfrm>
        </p:spPr>
        <p:txBody>
          <a:bodyPr/>
          <a:lstStyle/>
          <a:p>
            <a:pPr marL="0" indent="0">
              <a:buNone/>
            </a:pPr>
            <a:r>
              <a:rPr lang="en-US" b="1" dirty="0">
                <a:solidFill>
                  <a:srgbClr val="FF0000"/>
                </a:solidFill>
              </a:rPr>
              <a:t>What Pattern Learning Means</a:t>
            </a:r>
          </a:p>
          <a:p>
            <a:r>
              <a:rPr lang="en-US" dirty="0"/>
              <a:t>Instead of being explicitly programmed with rules (like in symbolic AI), a machine:</a:t>
            </a:r>
          </a:p>
          <a:p>
            <a:r>
              <a:rPr lang="en-US" dirty="0"/>
              <a:t>Observes data </a:t>
            </a:r>
          </a:p>
          <a:p>
            <a:r>
              <a:rPr lang="en-US" dirty="0"/>
              <a:t>Identifies similarities and regularities </a:t>
            </a:r>
          </a:p>
          <a:p>
            <a:r>
              <a:rPr lang="en-US" dirty="0"/>
              <a:t>Learns from those patterns </a:t>
            </a:r>
          </a:p>
          <a:p>
            <a:r>
              <a:rPr lang="en-US" dirty="0"/>
              <a:t>Applies the learned knowledge to unseen situations </a:t>
            </a:r>
          </a:p>
          <a:p>
            <a:r>
              <a:rPr lang="en-US" dirty="0"/>
              <a:t>In simple terms, it’s how machines </a:t>
            </a:r>
            <a:r>
              <a:rPr lang="en-US" b="1" dirty="0"/>
              <a:t>“learn from examples.”</a:t>
            </a:r>
            <a:endParaRPr lang="en-US" dirty="0"/>
          </a:p>
          <a:p>
            <a:endParaRPr lang="en-IN" dirty="0"/>
          </a:p>
        </p:txBody>
      </p:sp>
    </p:spTree>
    <p:extLst>
      <p:ext uri="{BB962C8B-B14F-4D97-AF65-F5344CB8AC3E}">
        <p14:creationId xmlns:p14="http://schemas.microsoft.com/office/powerpoint/2010/main" val="25326395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F74BC-B9B4-668F-F705-BAABFC98AF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F5B90-A59C-E1BF-5B7D-A783E1C0AC78}"/>
              </a:ext>
            </a:extLst>
          </p:cNvPr>
          <p:cNvSpPr>
            <a:spLocks noGrp="1"/>
          </p:cNvSpPr>
          <p:nvPr>
            <p:ph type="title"/>
          </p:nvPr>
        </p:nvSpPr>
        <p:spPr/>
        <p:txBody>
          <a:bodyPr>
            <a:normAutofit/>
          </a:bodyPr>
          <a:lstStyle/>
          <a:p>
            <a:r>
              <a:rPr lang="en-IN" sz="3200" dirty="0">
                <a:solidFill>
                  <a:srgbClr val="FF0000"/>
                </a:solidFill>
              </a:rPr>
              <a:t>1.1.1 -Pattern Learning</a:t>
            </a:r>
            <a:br>
              <a:rPr lang="en-IN" sz="3200" dirty="0">
                <a:solidFill>
                  <a:srgbClr val="FF0000"/>
                </a:solidFill>
              </a:rPr>
            </a:br>
            <a:endParaRPr lang="en-IN" sz="3200" dirty="0">
              <a:solidFill>
                <a:srgbClr val="FF0000"/>
              </a:solidFill>
            </a:endParaRPr>
          </a:p>
        </p:txBody>
      </p:sp>
      <p:sp>
        <p:nvSpPr>
          <p:cNvPr id="3" name="Content Placeholder 2">
            <a:extLst>
              <a:ext uri="{FF2B5EF4-FFF2-40B4-BE49-F238E27FC236}">
                <a16:creationId xmlns:a16="http://schemas.microsoft.com/office/drawing/2014/main" id="{0B8F2D02-E83E-5126-682C-4F6399B32A6A}"/>
              </a:ext>
            </a:extLst>
          </p:cNvPr>
          <p:cNvSpPr>
            <a:spLocks noGrp="1"/>
          </p:cNvSpPr>
          <p:nvPr>
            <p:ph idx="1"/>
          </p:nvPr>
        </p:nvSpPr>
        <p:spPr>
          <a:xfrm>
            <a:off x="677334" y="1488613"/>
            <a:ext cx="8596668" cy="3880773"/>
          </a:xfrm>
        </p:spPr>
        <p:txBody>
          <a:bodyPr>
            <a:normAutofit lnSpcReduction="10000"/>
          </a:bodyPr>
          <a:lstStyle/>
          <a:p>
            <a:pPr marL="0" indent="0">
              <a:buNone/>
            </a:pPr>
            <a:r>
              <a:rPr lang="en-US" b="1" dirty="0">
                <a:solidFill>
                  <a:srgbClr val="FF0000"/>
                </a:solidFill>
              </a:rPr>
              <a:t>Examples of Pattern Learning</a:t>
            </a:r>
          </a:p>
          <a:p>
            <a:r>
              <a:rPr lang="en-US" b="1" dirty="0"/>
              <a:t>1. Spam Detection</a:t>
            </a:r>
          </a:p>
          <a:p>
            <a:r>
              <a:rPr lang="en-US" dirty="0"/>
              <a:t>Learns patterns in spam emails (keywords, structure) </a:t>
            </a:r>
          </a:p>
          <a:p>
            <a:r>
              <a:rPr lang="en-US" dirty="0"/>
              <a:t>Predicts whether a new email is spam </a:t>
            </a:r>
          </a:p>
          <a:p>
            <a:r>
              <a:rPr lang="en-US" b="1" dirty="0"/>
              <a:t>2. Image Recognition</a:t>
            </a:r>
          </a:p>
          <a:p>
            <a:r>
              <a:rPr lang="en-US" dirty="0"/>
              <a:t>Learns patterns like shapes, edges, colors </a:t>
            </a:r>
          </a:p>
          <a:p>
            <a:r>
              <a:rPr lang="en-US" dirty="0"/>
              <a:t>Identifies objects (cats, cars, etc.) </a:t>
            </a:r>
          </a:p>
          <a:p>
            <a:r>
              <a:rPr lang="en-US" b="1" dirty="0"/>
              <a:t>3. Recommendation Systems</a:t>
            </a:r>
          </a:p>
          <a:p>
            <a:r>
              <a:rPr lang="en-US" dirty="0"/>
              <a:t>Learns user behavior patterns </a:t>
            </a:r>
          </a:p>
          <a:p>
            <a:r>
              <a:rPr lang="en-US" dirty="0"/>
              <a:t>Suggests products or movies</a:t>
            </a:r>
          </a:p>
          <a:p>
            <a:endParaRPr lang="en-IN" dirty="0"/>
          </a:p>
        </p:txBody>
      </p:sp>
    </p:spTree>
    <p:extLst>
      <p:ext uri="{BB962C8B-B14F-4D97-AF65-F5344CB8AC3E}">
        <p14:creationId xmlns:p14="http://schemas.microsoft.com/office/powerpoint/2010/main" val="6455796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69F5C-6F52-0794-7D7B-8A3E07FC2D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F6E1F-F6D6-D7E0-DE6B-B4D079C10987}"/>
              </a:ext>
            </a:extLst>
          </p:cNvPr>
          <p:cNvSpPr>
            <a:spLocks noGrp="1"/>
          </p:cNvSpPr>
          <p:nvPr>
            <p:ph type="title"/>
          </p:nvPr>
        </p:nvSpPr>
        <p:spPr/>
        <p:txBody>
          <a:bodyPr>
            <a:normAutofit/>
          </a:bodyPr>
          <a:lstStyle/>
          <a:p>
            <a:r>
              <a:rPr lang="en-IN" sz="3200" dirty="0">
                <a:solidFill>
                  <a:srgbClr val="FF0000"/>
                </a:solidFill>
              </a:rPr>
              <a:t>1.1.1 -Predicting the Next Token</a:t>
            </a:r>
          </a:p>
        </p:txBody>
      </p:sp>
      <p:sp>
        <p:nvSpPr>
          <p:cNvPr id="3" name="Content Placeholder 2">
            <a:extLst>
              <a:ext uri="{FF2B5EF4-FFF2-40B4-BE49-F238E27FC236}">
                <a16:creationId xmlns:a16="http://schemas.microsoft.com/office/drawing/2014/main" id="{89CCC853-0596-E523-D699-CFDFDA14F3EB}"/>
              </a:ext>
            </a:extLst>
          </p:cNvPr>
          <p:cNvSpPr>
            <a:spLocks noGrp="1"/>
          </p:cNvSpPr>
          <p:nvPr>
            <p:ph idx="1"/>
          </p:nvPr>
        </p:nvSpPr>
        <p:spPr>
          <a:xfrm>
            <a:off x="677334" y="1488613"/>
            <a:ext cx="8596668" cy="3880773"/>
          </a:xfrm>
        </p:spPr>
        <p:txBody>
          <a:bodyPr/>
          <a:lstStyle/>
          <a:p>
            <a:r>
              <a:rPr lang="en-US" b="1" dirty="0"/>
              <a:t>Predicting the Next Token</a:t>
            </a:r>
            <a:r>
              <a:rPr lang="en-US" dirty="0"/>
              <a:t> is a core concept in modern AI language models where the system </a:t>
            </a:r>
            <a:r>
              <a:rPr lang="en-US" b="1" dirty="0"/>
              <a:t>predicts the most likely next word (or part of a word) in a sequence based on the context of previous words</a:t>
            </a:r>
            <a:r>
              <a:rPr lang="en-US" dirty="0"/>
              <a:t>.</a:t>
            </a:r>
          </a:p>
          <a:p>
            <a:endParaRPr lang="en-IN" dirty="0"/>
          </a:p>
        </p:txBody>
      </p:sp>
    </p:spTree>
    <p:extLst>
      <p:ext uri="{BB962C8B-B14F-4D97-AF65-F5344CB8AC3E}">
        <p14:creationId xmlns:p14="http://schemas.microsoft.com/office/powerpoint/2010/main" val="17140014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53A39-9235-789C-9DF1-1DC045C7A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C069E-1D99-844B-4D28-61D591DE09C2}"/>
              </a:ext>
            </a:extLst>
          </p:cNvPr>
          <p:cNvSpPr>
            <a:spLocks noGrp="1"/>
          </p:cNvSpPr>
          <p:nvPr>
            <p:ph type="title"/>
          </p:nvPr>
        </p:nvSpPr>
        <p:spPr/>
        <p:txBody>
          <a:bodyPr>
            <a:normAutofit/>
          </a:bodyPr>
          <a:lstStyle/>
          <a:p>
            <a:r>
              <a:rPr lang="en-IN" sz="3200" dirty="0">
                <a:solidFill>
                  <a:srgbClr val="FF0000"/>
                </a:solidFill>
              </a:rPr>
              <a:t>1.1.1 -Predicting the Next Token</a:t>
            </a:r>
          </a:p>
        </p:txBody>
      </p:sp>
      <p:sp>
        <p:nvSpPr>
          <p:cNvPr id="3" name="Content Placeholder 2">
            <a:extLst>
              <a:ext uri="{FF2B5EF4-FFF2-40B4-BE49-F238E27FC236}">
                <a16:creationId xmlns:a16="http://schemas.microsoft.com/office/drawing/2014/main" id="{07ADD686-BE05-E433-897E-7DED6B37B7BD}"/>
              </a:ext>
            </a:extLst>
          </p:cNvPr>
          <p:cNvSpPr>
            <a:spLocks noGrp="1"/>
          </p:cNvSpPr>
          <p:nvPr>
            <p:ph idx="1"/>
          </p:nvPr>
        </p:nvSpPr>
        <p:spPr>
          <a:xfrm>
            <a:off x="677334" y="1488613"/>
            <a:ext cx="8596668" cy="3880773"/>
          </a:xfrm>
        </p:spPr>
        <p:txBody>
          <a:bodyPr>
            <a:normAutofit fontScale="85000" lnSpcReduction="20000"/>
          </a:bodyPr>
          <a:lstStyle/>
          <a:p>
            <a:pPr marL="0" indent="0">
              <a:buNone/>
            </a:pPr>
            <a:r>
              <a:rPr lang="en-US" b="1" dirty="0"/>
              <a:t>How It Works</a:t>
            </a:r>
          </a:p>
          <a:p>
            <a:r>
              <a:rPr lang="en-US" b="1" dirty="0"/>
              <a:t>Input Sentence (Context)</a:t>
            </a:r>
            <a:br>
              <a:rPr lang="en-US" dirty="0"/>
            </a:br>
            <a:r>
              <a:rPr lang="en-US" dirty="0"/>
              <a:t>Example:</a:t>
            </a:r>
            <a:br>
              <a:rPr lang="en-US" dirty="0"/>
            </a:br>
            <a:r>
              <a:rPr lang="en-US" i="1" dirty="0"/>
              <a:t>“I am going to the”</a:t>
            </a:r>
            <a:r>
              <a:rPr lang="en-US" dirty="0"/>
              <a:t> </a:t>
            </a:r>
          </a:p>
          <a:p>
            <a:r>
              <a:rPr lang="en-US" b="1" dirty="0"/>
              <a:t>Model Analysis</a:t>
            </a:r>
            <a:br>
              <a:rPr lang="en-US" dirty="0"/>
            </a:br>
            <a:r>
              <a:rPr lang="en-US" dirty="0"/>
              <a:t>The model looks at patterns it has learned from massive text data. </a:t>
            </a:r>
          </a:p>
          <a:p>
            <a:r>
              <a:rPr lang="en-US" b="1" dirty="0"/>
              <a:t>Probability Assignment</a:t>
            </a:r>
            <a:br>
              <a:rPr lang="en-US" dirty="0"/>
            </a:br>
            <a:r>
              <a:rPr lang="en-US" dirty="0"/>
              <a:t>It assigns probabilities to possible next tokens: </a:t>
            </a:r>
          </a:p>
          <a:p>
            <a:pPr lvl="1"/>
            <a:r>
              <a:rPr lang="en-US" dirty="0"/>
              <a:t>school → 40% </a:t>
            </a:r>
          </a:p>
          <a:p>
            <a:pPr lvl="1"/>
            <a:r>
              <a:rPr lang="en-US" dirty="0"/>
              <a:t>market → 25% </a:t>
            </a:r>
          </a:p>
          <a:p>
            <a:pPr lvl="1"/>
            <a:r>
              <a:rPr lang="en-US" dirty="0"/>
              <a:t>gym → 15% </a:t>
            </a:r>
          </a:p>
          <a:p>
            <a:pPr lvl="1"/>
            <a:r>
              <a:rPr lang="en-US" dirty="0"/>
              <a:t>park → 10% </a:t>
            </a:r>
          </a:p>
          <a:p>
            <a:r>
              <a:rPr lang="en-US" b="1" dirty="0"/>
              <a:t>Prediction</a:t>
            </a:r>
            <a:br>
              <a:rPr lang="en-US" dirty="0"/>
            </a:br>
            <a:r>
              <a:rPr lang="en-US" dirty="0"/>
              <a:t>It selects the most likely (or samples one):</a:t>
            </a:r>
            <a:br>
              <a:rPr lang="en-US" dirty="0"/>
            </a:br>
            <a:r>
              <a:rPr lang="en-US" dirty="0"/>
              <a:t>→ </a:t>
            </a:r>
            <a:r>
              <a:rPr lang="en-US" i="1" dirty="0"/>
              <a:t>“school”</a:t>
            </a:r>
            <a:endParaRPr lang="en-US" dirty="0"/>
          </a:p>
        </p:txBody>
      </p:sp>
    </p:spTree>
    <p:extLst>
      <p:ext uri="{BB962C8B-B14F-4D97-AF65-F5344CB8AC3E}">
        <p14:creationId xmlns:p14="http://schemas.microsoft.com/office/powerpoint/2010/main" val="41429433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E58A7-4B57-3110-D1F7-F5DCEE870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A96A74-D312-9F28-7EA6-07803B19EDDF}"/>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Context Window</a:t>
            </a:r>
            <a:endParaRPr lang="en-IN" sz="3200" dirty="0">
              <a:solidFill>
                <a:srgbClr val="FF0000"/>
              </a:solidFill>
            </a:endParaRPr>
          </a:p>
        </p:txBody>
      </p:sp>
      <p:sp>
        <p:nvSpPr>
          <p:cNvPr id="3" name="Content Placeholder 2">
            <a:extLst>
              <a:ext uri="{FF2B5EF4-FFF2-40B4-BE49-F238E27FC236}">
                <a16:creationId xmlns:a16="http://schemas.microsoft.com/office/drawing/2014/main" id="{E33E6315-CB84-34DD-B8BD-2BD507ABE37A}"/>
              </a:ext>
            </a:extLst>
          </p:cNvPr>
          <p:cNvSpPr>
            <a:spLocks noGrp="1"/>
          </p:cNvSpPr>
          <p:nvPr>
            <p:ph idx="1"/>
          </p:nvPr>
        </p:nvSpPr>
        <p:spPr>
          <a:xfrm>
            <a:off x="677334" y="1569382"/>
            <a:ext cx="8596668" cy="3880773"/>
          </a:xfrm>
        </p:spPr>
        <p:txBody>
          <a:bodyPr>
            <a:normAutofit/>
          </a:bodyPr>
          <a:lstStyle/>
          <a:p>
            <a:r>
              <a:rPr lang="en-US" sz="1400" dirty="0"/>
              <a:t>Context Window refers to the maximum amount of text (tokens) an AI model can consider at one time while generating a response.</a:t>
            </a:r>
          </a:p>
          <a:p>
            <a:r>
              <a:rPr lang="en-US" sz="1400" dirty="0"/>
              <a:t>In simple terms, it is the memory space of the AI model during a conversation or task.</a:t>
            </a:r>
          </a:p>
          <a:p>
            <a:r>
              <a:rPr lang="en-US" sz="1400" dirty="0"/>
              <a:t>Large Language Models (LLMs) read input as tokens, and the context window defines how many tokens the model can process together to understand the context and generate relevant output.</a:t>
            </a:r>
          </a:p>
        </p:txBody>
      </p:sp>
    </p:spTree>
    <p:extLst>
      <p:ext uri="{BB962C8B-B14F-4D97-AF65-F5344CB8AC3E}">
        <p14:creationId xmlns:p14="http://schemas.microsoft.com/office/powerpoint/2010/main" val="39637171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1D6CE-318D-BA8A-BC5C-A3A7CDBF6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71154-04D6-85D0-A285-B7C74036649E}"/>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Context Window</a:t>
            </a:r>
            <a:endParaRPr lang="en-IN" sz="3200" dirty="0">
              <a:solidFill>
                <a:srgbClr val="FF0000"/>
              </a:solidFill>
            </a:endParaRPr>
          </a:p>
        </p:txBody>
      </p:sp>
      <p:sp>
        <p:nvSpPr>
          <p:cNvPr id="3" name="Content Placeholder 2">
            <a:extLst>
              <a:ext uri="{FF2B5EF4-FFF2-40B4-BE49-F238E27FC236}">
                <a16:creationId xmlns:a16="http://schemas.microsoft.com/office/drawing/2014/main" id="{566DA996-3AAF-E041-40FD-699492A89CAA}"/>
              </a:ext>
            </a:extLst>
          </p:cNvPr>
          <p:cNvSpPr>
            <a:spLocks noGrp="1"/>
          </p:cNvSpPr>
          <p:nvPr>
            <p:ph idx="1"/>
          </p:nvPr>
        </p:nvSpPr>
        <p:spPr>
          <a:xfrm>
            <a:off x="677334" y="1569382"/>
            <a:ext cx="8596668" cy="3880773"/>
          </a:xfrm>
        </p:spPr>
        <p:txBody>
          <a:bodyPr>
            <a:normAutofit/>
          </a:bodyPr>
          <a:lstStyle/>
          <a:p>
            <a:pPr marL="0" indent="0">
              <a:buNone/>
            </a:pPr>
            <a:r>
              <a:rPr lang="en-US" sz="1400" b="1" dirty="0"/>
              <a:t>Simple Example</a:t>
            </a:r>
          </a:p>
          <a:p>
            <a:r>
              <a:rPr lang="en-US" sz="1400" dirty="0"/>
              <a:t>Suppose a model has a </a:t>
            </a:r>
            <a:r>
              <a:rPr lang="en-US" sz="1400" b="1" dirty="0"/>
              <a:t>context window of 1000 tokens</a:t>
            </a:r>
            <a:r>
              <a:rPr lang="en-US" sz="1400" dirty="0"/>
              <a:t>.</a:t>
            </a:r>
          </a:p>
          <a:p>
            <a:r>
              <a:rPr lang="en-US" sz="1400" dirty="0"/>
              <a:t>That means the model can only consider </a:t>
            </a:r>
            <a:r>
              <a:rPr lang="en-US" sz="1400" b="1" dirty="0"/>
              <a:t>1000 tokens at once</a:t>
            </a:r>
            <a:r>
              <a:rPr lang="en-US" sz="1400" dirty="0"/>
              <a:t>, which may include:</a:t>
            </a:r>
          </a:p>
          <a:p>
            <a:r>
              <a:rPr lang="en-US" sz="1400" dirty="0"/>
              <a:t>User input</a:t>
            </a:r>
          </a:p>
          <a:p>
            <a:r>
              <a:rPr lang="en-US" sz="1400" dirty="0"/>
              <a:t>Previous conversation</a:t>
            </a:r>
          </a:p>
          <a:p>
            <a:r>
              <a:rPr lang="en-US" sz="1400" dirty="0"/>
              <a:t>System instructions</a:t>
            </a:r>
          </a:p>
          <a:p>
            <a:r>
              <a:rPr lang="en-US" sz="1400" dirty="0"/>
              <a:t>Generated output</a:t>
            </a:r>
          </a:p>
          <a:p>
            <a:r>
              <a:rPr lang="en-US" sz="1400" dirty="0"/>
              <a:t>If the conversation exceeds this limit, </a:t>
            </a:r>
            <a:r>
              <a:rPr lang="en-US" sz="1400" b="1" dirty="0"/>
              <a:t>older tokens are removed from the context</a:t>
            </a:r>
            <a:r>
              <a:rPr lang="en-US" sz="1400" dirty="0"/>
              <a:t>.</a:t>
            </a:r>
          </a:p>
          <a:p>
            <a:endParaRPr lang="en-US" sz="1400" dirty="0"/>
          </a:p>
        </p:txBody>
      </p:sp>
    </p:spTree>
    <p:extLst>
      <p:ext uri="{BB962C8B-B14F-4D97-AF65-F5344CB8AC3E}">
        <p14:creationId xmlns:p14="http://schemas.microsoft.com/office/powerpoint/2010/main" val="21786881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994A7-67F9-1093-40B5-83ED66DDF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847B0-AA16-02C7-F4F0-A4557BE21541}"/>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Context Window</a:t>
            </a:r>
            <a:endParaRPr lang="en-IN" sz="3200" dirty="0">
              <a:solidFill>
                <a:srgbClr val="FF0000"/>
              </a:solidFill>
            </a:endParaRPr>
          </a:p>
        </p:txBody>
      </p:sp>
      <p:pic>
        <p:nvPicPr>
          <p:cNvPr id="5" name="Picture 4">
            <a:extLst>
              <a:ext uri="{FF2B5EF4-FFF2-40B4-BE49-F238E27FC236}">
                <a16:creationId xmlns:a16="http://schemas.microsoft.com/office/drawing/2014/main" id="{E6727019-5291-0CD4-2C61-AD673751B1DE}"/>
              </a:ext>
            </a:extLst>
          </p:cNvPr>
          <p:cNvPicPr>
            <a:picLocks noChangeAspect="1"/>
          </p:cNvPicPr>
          <p:nvPr/>
        </p:nvPicPr>
        <p:blipFill>
          <a:blip r:embed="rId2"/>
          <a:stretch>
            <a:fillRect/>
          </a:stretch>
        </p:blipFill>
        <p:spPr>
          <a:xfrm>
            <a:off x="2301124" y="1818653"/>
            <a:ext cx="4919484" cy="2921150"/>
          </a:xfrm>
          <a:prstGeom prst="rect">
            <a:avLst/>
          </a:prstGeom>
        </p:spPr>
      </p:pic>
    </p:spTree>
    <p:extLst>
      <p:ext uri="{BB962C8B-B14F-4D97-AF65-F5344CB8AC3E}">
        <p14:creationId xmlns:p14="http://schemas.microsoft.com/office/powerpoint/2010/main" val="26007638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0B44F-3D39-87B8-57BE-D78EE9157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4B8F6-839A-A8C6-AE11-CDCD1E33690C}"/>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Context Window</a:t>
            </a:r>
            <a:endParaRPr lang="en-IN" sz="3200" dirty="0">
              <a:solidFill>
                <a:srgbClr val="FF0000"/>
              </a:solidFill>
            </a:endParaRPr>
          </a:p>
        </p:txBody>
      </p:sp>
      <p:sp>
        <p:nvSpPr>
          <p:cNvPr id="4" name="TextBox 3">
            <a:extLst>
              <a:ext uri="{FF2B5EF4-FFF2-40B4-BE49-F238E27FC236}">
                <a16:creationId xmlns:a16="http://schemas.microsoft.com/office/drawing/2014/main" id="{3C96B995-CF37-46AE-C73C-380C616F8878}"/>
              </a:ext>
            </a:extLst>
          </p:cNvPr>
          <p:cNvSpPr txBox="1"/>
          <p:nvPr/>
        </p:nvSpPr>
        <p:spPr>
          <a:xfrm>
            <a:off x="764628" y="1489953"/>
            <a:ext cx="7528034" cy="2677656"/>
          </a:xfrm>
          <a:prstGeom prst="rect">
            <a:avLst/>
          </a:prstGeom>
          <a:noFill/>
        </p:spPr>
        <p:txBody>
          <a:bodyPr wrap="square">
            <a:spAutoFit/>
          </a:bodyPr>
          <a:lstStyle/>
          <a:p>
            <a:pPr>
              <a:buNone/>
            </a:pPr>
            <a:r>
              <a:rPr lang="en-US" sz="1400" dirty="0"/>
              <a:t>Example in Chatbots</a:t>
            </a:r>
          </a:p>
          <a:p>
            <a:pPr>
              <a:buNone/>
            </a:pPr>
            <a:endParaRPr lang="en-US" sz="1400" dirty="0"/>
          </a:p>
          <a:p>
            <a:pPr>
              <a:buNone/>
            </a:pPr>
            <a:r>
              <a:rPr lang="en-US" sz="1400" dirty="0"/>
              <a:t>If you ask:</a:t>
            </a:r>
          </a:p>
          <a:p>
            <a:pPr>
              <a:buFont typeface="+mj-lt"/>
              <a:buAutoNum type="arabicPeriod"/>
            </a:pPr>
            <a:r>
              <a:rPr lang="en-US" sz="1400" dirty="0"/>
              <a:t>“Explain AI.”</a:t>
            </a:r>
          </a:p>
          <a:p>
            <a:pPr>
              <a:buFont typeface="+mj-lt"/>
              <a:buAutoNum type="arabicPeriod"/>
            </a:pPr>
            <a:r>
              <a:rPr lang="en-US" sz="1400" dirty="0"/>
              <a:t>“Now explain machine learning.”</a:t>
            </a:r>
          </a:p>
          <a:p>
            <a:pPr>
              <a:buFont typeface="+mj-lt"/>
              <a:buAutoNum type="arabicPeriod"/>
            </a:pPr>
            <a:r>
              <a:rPr lang="en-US" sz="1400" dirty="0"/>
              <a:t>“How are they different?”</a:t>
            </a:r>
          </a:p>
          <a:p>
            <a:pPr>
              <a:buFont typeface="+mj-lt"/>
              <a:buAutoNum type="arabicPeriod"/>
            </a:pPr>
            <a:endParaRPr lang="en-US" sz="1400" dirty="0"/>
          </a:p>
          <a:p>
            <a:pPr>
              <a:buNone/>
            </a:pPr>
            <a:r>
              <a:rPr lang="en-US" sz="1400" dirty="0"/>
              <a:t>The AI uses the context window to remember earlier questions and provide a relevant answer.</a:t>
            </a:r>
          </a:p>
          <a:p>
            <a:pPr>
              <a:buNone/>
            </a:pPr>
            <a:endParaRPr lang="en-US" sz="1400" dirty="0"/>
          </a:p>
          <a:p>
            <a:pPr>
              <a:buNone/>
            </a:pPr>
            <a:r>
              <a:rPr lang="en-US" sz="1400" dirty="0"/>
              <a:t>If the conversation becomes very long and exceeds the context limit, the AI may forget earlier parts.</a:t>
            </a:r>
          </a:p>
        </p:txBody>
      </p:sp>
    </p:spTree>
    <p:extLst>
      <p:ext uri="{BB962C8B-B14F-4D97-AF65-F5344CB8AC3E}">
        <p14:creationId xmlns:p14="http://schemas.microsoft.com/office/powerpoint/2010/main" val="40048419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DBA2C-0275-0F64-FE1E-D200BCF9E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985A5-7315-2D95-F0BA-EA0FB157091C}"/>
              </a:ext>
            </a:extLst>
          </p:cNvPr>
          <p:cNvSpPr>
            <a:spLocks noGrp="1"/>
          </p:cNvSpPr>
          <p:nvPr>
            <p:ph type="title"/>
          </p:nvPr>
        </p:nvSpPr>
        <p:spPr/>
        <p:txBody>
          <a:bodyPr>
            <a:normAutofit/>
          </a:bodyPr>
          <a:lstStyle/>
          <a:p>
            <a:r>
              <a:rPr lang="en-IN" sz="3200" dirty="0">
                <a:solidFill>
                  <a:srgbClr val="FF0000"/>
                </a:solidFill>
              </a:rPr>
              <a:t>1.1.1 - </a:t>
            </a:r>
            <a:r>
              <a:rPr lang="en-US" sz="3200" b="1" dirty="0">
                <a:solidFill>
                  <a:srgbClr val="FF0000"/>
                </a:solidFill>
              </a:rPr>
              <a:t>Context Window</a:t>
            </a:r>
            <a:endParaRPr lang="en-IN" sz="3200" dirty="0">
              <a:solidFill>
                <a:srgbClr val="FF0000"/>
              </a:solidFill>
            </a:endParaRPr>
          </a:p>
        </p:txBody>
      </p:sp>
      <p:sp>
        <p:nvSpPr>
          <p:cNvPr id="3" name="Content Placeholder 2">
            <a:extLst>
              <a:ext uri="{FF2B5EF4-FFF2-40B4-BE49-F238E27FC236}">
                <a16:creationId xmlns:a16="http://schemas.microsoft.com/office/drawing/2014/main" id="{AB166A1C-D4B0-F48A-9F74-7FD0DF9F2881}"/>
              </a:ext>
            </a:extLst>
          </p:cNvPr>
          <p:cNvSpPr>
            <a:spLocks noGrp="1"/>
          </p:cNvSpPr>
          <p:nvPr>
            <p:ph idx="1"/>
          </p:nvPr>
        </p:nvSpPr>
        <p:spPr>
          <a:xfrm>
            <a:off x="677334" y="1569382"/>
            <a:ext cx="8596668" cy="3880773"/>
          </a:xfrm>
        </p:spPr>
        <p:txBody>
          <a:bodyPr>
            <a:normAutofit/>
          </a:bodyPr>
          <a:lstStyle/>
          <a:p>
            <a:pPr marL="0" indent="0">
              <a:buNone/>
            </a:pPr>
            <a:r>
              <a:rPr lang="en-US" sz="1400" b="1" dirty="0"/>
              <a:t>Why Context Window is Important</a:t>
            </a:r>
          </a:p>
          <a:p>
            <a:r>
              <a:rPr lang="en-US" sz="1400" b="1" dirty="0"/>
              <a:t>1. How much information the AI remembers</a:t>
            </a:r>
          </a:p>
          <a:p>
            <a:r>
              <a:rPr lang="en-US" sz="1400" dirty="0"/>
              <a:t>A larger context window allows the AI to remember </a:t>
            </a:r>
            <a:r>
              <a:rPr lang="en-US" sz="1400" b="1" dirty="0"/>
              <a:t>more conversation history or document content</a:t>
            </a:r>
            <a:r>
              <a:rPr lang="en-US" sz="1400" dirty="0"/>
              <a:t>.</a:t>
            </a:r>
          </a:p>
          <a:p>
            <a:r>
              <a:rPr lang="en-US" sz="1400" b="1" dirty="0"/>
              <a:t>2. Quality of responses</a:t>
            </a:r>
          </a:p>
          <a:p>
            <a:r>
              <a:rPr lang="en-US" sz="1400" dirty="0"/>
              <a:t>More context helps the AI </a:t>
            </a:r>
            <a:r>
              <a:rPr lang="en-US" sz="1400" b="1" dirty="0"/>
              <a:t>generate more accurate and relevant responses</a:t>
            </a:r>
            <a:r>
              <a:rPr lang="en-US" sz="1400" dirty="0"/>
              <a:t>.</a:t>
            </a:r>
          </a:p>
          <a:p>
            <a:r>
              <a:rPr lang="en-US" sz="1400" b="1" dirty="0"/>
              <a:t>3. Handling long documents</a:t>
            </a:r>
          </a:p>
          <a:p>
            <a:r>
              <a:rPr lang="en-US" sz="1400" dirty="0"/>
              <a:t>Models with larger context windows can </a:t>
            </a:r>
            <a:r>
              <a:rPr lang="en-US" sz="1400" b="1" dirty="0"/>
              <a:t>analyze long articles, reports, or code files</a:t>
            </a:r>
            <a:r>
              <a:rPr lang="en-US" sz="1400" dirty="0"/>
              <a:t>.</a:t>
            </a:r>
          </a:p>
          <a:p>
            <a:endParaRPr lang="en-US" sz="1400" dirty="0"/>
          </a:p>
        </p:txBody>
      </p:sp>
    </p:spTree>
    <p:extLst>
      <p:ext uri="{BB962C8B-B14F-4D97-AF65-F5344CB8AC3E}">
        <p14:creationId xmlns:p14="http://schemas.microsoft.com/office/powerpoint/2010/main" val="31033844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C51FF-1722-2AEB-8EA3-3BF0C4C12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FB12B-1A00-5B78-16CF-08BB15D7A70D}"/>
              </a:ext>
            </a:extLst>
          </p:cNvPr>
          <p:cNvSpPr>
            <a:spLocks noGrp="1"/>
          </p:cNvSpPr>
          <p:nvPr>
            <p:ph type="title"/>
          </p:nvPr>
        </p:nvSpPr>
        <p:spPr/>
        <p:txBody>
          <a:bodyPr>
            <a:normAutofit/>
          </a:bodyPr>
          <a:lstStyle/>
          <a:p>
            <a:r>
              <a:rPr lang="en-IN" sz="3200" dirty="0">
                <a:solidFill>
                  <a:srgbClr val="FF0000"/>
                </a:solidFill>
              </a:rPr>
              <a:t>1.1.1 - Multimodal models</a:t>
            </a:r>
          </a:p>
        </p:txBody>
      </p:sp>
      <p:sp>
        <p:nvSpPr>
          <p:cNvPr id="3" name="Content Placeholder 2">
            <a:extLst>
              <a:ext uri="{FF2B5EF4-FFF2-40B4-BE49-F238E27FC236}">
                <a16:creationId xmlns:a16="http://schemas.microsoft.com/office/drawing/2014/main" id="{8AC342E3-1622-47B3-3A60-F8B7DBD59534}"/>
              </a:ext>
            </a:extLst>
          </p:cNvPr>
          <p:cNvSpPr>
            <a:spLocks noGrp="1"/>
          </p:cNvSpPr>
          <p:nvPr>
            <p:ph idx="1"/>
          </p:nvPr>
        </p:nvSpPr>
        <p:spPr>
          <a:xfrm>
            <a:off x="677334" y="1569382"/>
            <a:ext cx="8596668" cy="3880773"/>
          </a:xfrm>
        </p:spPr>
        <p:txBody>
          <a:bodyPr>
            <a:normAutofit/>
          </a:bodyPr>
          <a:lstStyle/>
          <a:p>
            <a:r>
              <a:rPr lang="en-US" sz="1400" dirty="0">
                <a:solidFill>
                  <a:schemeClr val="tx1"/>
                </a:solidFill>
              </a:rPr>
              <a:t>Multimodal models are AI systems that can process, understand, and generate information from multiple types of data (modalities) at the same time.</a:t>
            </a:r>
          </a:p>
          <a:p>
            <a:r>
              <a:rPr lang="en-US" sz="1400" dirty="0">
                <a:solidFill>
                  <a:schemeClr val="tx1"/>
                </a:solidFill>
              </a:rPr>
              <a:t>A modality refers to a type of input or data format.</a:t>
            </a:r>
          </a:p>
          <a:p>
            <a:r>
              <a:rPr lang="en-US" sz="1400" dirty="0">
                <a:solidFill>
                  <a:schemeClr val="tx1"/>
                </a:solidFill>
              </a:rPr>
              <a:t>Examples of modalities:</a:t>
            </a:r>
          </a:p>
          <a:p>
            <a:r>
              <a:rPr lang="en-US" sz="1400" dirty="0">
                <a:solidFill>
                  <a:schemeClr val="tx1"/>
                </a:solidFill>
              </a:rPr>
              <a:t>Text</a:t>
            </a:r>
          </a:p>
          <a:p>
            <a:r>
              <a:rPr lang="en-US" sz="1400" dirty="0">
                <a:solidFill>
                  <a:schemeClr val="tx1"/>
                </a:solidFill>
              </a:rPr>
              <a:t>Images</a:t>
            </a:r>
          </a:p>
          <a:p>
            <a:r>
              <a:rPr lang="en-US" sz="1400" dirty="0">
                <a:solidFill>
                  <a:schemeClr val="tx1"/>
                </a:solidFill>
              </a:rPr>
              <a:t>Audio</a:t>
            </a:r>
          </a:p>
          <a:p>
            <a:r>
              <a:rPr lang="en-US" sz="1400" dirty="0">
                <a:solidFill>
                  <a:schemeClr val="tx1"/>
                </a:solidFill>
              </a:rPr>
              <a:t>Video</a:t>
            </a:r>
          </a:p>
          <a:p>
            <a:r>
              <a:rPr lang="en-US" sz="1400" dirty="0">
                <a:solidFill>
                  <a:schemeClr val="tx1"/>
                </a:solidFill>
              </a:rPr>
              <a:t>Sensor data</a:t>
            </a:r>
          </a:p>
          <a:p>
            <a:r>
              <a:rPr lang="en-US" sz="1400" dirty="0">
                <a:solidFill>
                  <a:schemeClr val="tx1"/>
                </a:solidFill>
              </a:rPr>
              <a:t>So a multimodal model can combine these different data types to produce a single intelligent output.</a:t>
            </a:r>
          </a:p>
          <a:p>
            <a:endParaRPr lang="en-US" sz="1400" dirty="0">
              <a:solidFill>
                <a:schemeClr val="tx1"/>
              </a:solidFill>
            </a:endParaRPr>
          </a:p>
        </p:txBody>
      </p:sp>
    </p:spTree>
    <p:extLst>
      <p:ext uri="{BB962C8B-B14F-4D97-AF65-F5344CB8AC3E}">
        <p14:creationId xmlns:p14="http://schemas.microsoft.com/office/powerpoint/2010/main" val="22197103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C2412-5A89-F5EE-B718-3E31A3D91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D4764-31C8-09CF-6CB6-CD8B9BB46ADD}"/>
              </a:ext>
            </a:extLst>
          </p:cNvPr>
          <p:cNvSpPr>
            <a:spLocks noGrp="1"/>
          </p:cNvSpPr>
          <p:nvPr>
            <p:ph type="title"/>
          </p:nvPr>
        </p:nvSpPr>
        <p:spPr/>
        <p:txBody>
          <a:bodyPr>
            <a:normAutofit/>
          </a:bodyPr>
          <a:lstStyle/>
          <a:p>
            <a:r>
              <a:rPr lang="en-IN" sz="3200" dirty="0">
                <a:solidFill>
                  <a:srgbClr val="FF0000"/>
                </a:solidFill>
              </a:rPr>
              <a:t>1.1.1 - Multimodal models</a:t>
            </a:r>
          </a:p>
        </p:txBody>
      </p:sp>
      <p:sp>
        <p:nvSpPr>
          <p:cNvPr id="3" name="Content Placeholder 2">
            <a:extLst>
              <a:ext uri="{FF2B5EF4-FFF2-40B4-BE49-F238E27FC236}">
                <a16:creationId xmlns:a16="http://schemas.microsoft.com/office/drawing/2014/main" id="{FD25623B-4FB8-E197-4C59-CEB964E99FF5}"/>
              </a:ext>
            </a:extLst>
          </p:cNvPr>
          <p:cNvSpPr>
            <a:spLocks noGrp="1"/>
          </p:cNvSpPr>
          <p:nvPr>
            <p:ph idx="1"/>
          </p:nvPr>
        </p:nvSpPr>
        <p:spPr>
          <a:xfrm>
            <a:off x="677334" y="1569382"/>
            <a:ext cx="8596668" cy="3880773"/>
          </a:xfrm>
        </p:spPr>
        <p:txBody>
          <a:bodyPr>
            <a:normAutofit/>
          </a:bodyPr>
          <a:lstStyle/>
          <a:p>
            <a:pPr marL="0" indent="0">
              <a:buNone/>
            </a:pPr>
            <a:r>
              <a:rPr lang="en-US" sz="1400" b="1" dirty="0"/>
              <a:t>Simple Definition</a:t>
            </a:r>
          </a:p>
          <a:p>
            <a:r>
              <a:rPr lang="en-US" sz="1400" dirty="0"/>
              <a:t>A </a:t>
            </a:r>
            <a:r>
              <a:rPr lang="en-US" sz="1400" b="1" dirty="0"/>
              <a:t>multimodal model</a:t>
            </a:r>
            <a:r>
              <a:rPr lang="en-US" sz="1400" dirty="0"/>
              <a:t> is an AI model that can </a:t>
            </a:r>
            <a:r>
              <a:rPr lang="en-US" sz="1400" b="1" dirty="0"/>
              <a:t>take multiple types of inputs and understand relationships between them</a:t>
            </a:r>
            <a:r>
              <a:rPr lang="en-US" sz="1400" dirty="0"/>
              <a:t>.</a:t>
            </a:r>
          </a:p>
          <a:p>
            <a:r>
              <a:rPr lang="en-US" sz="1400" dirty="0"/>
              <a:t>Example:</a:t>
            </a:r>
          </a:p>
          <a:p>
            <a:r>
              <a:rPr lang="en-US" sz="1400" dirty="0"/>
              <a:t>Input:</a:t>
            </a:r>
          </a:p>
          <a:p>
            <a:r>
              <a:rPr lang="en-US" sz="1400" dirty="0"/>
              <a:t>Image of a dog</a:t>
            </a:r>
          </a:p>
          <a:p>
            <a:r>
              <a:rPr lang="en-US" sz="1400" dirty="0"/>
              <a:t>Question: </a:t>
            </a:r>
            <a:r>
              <a:rPr lang="en-US" sz="1400" i="1" dirty="0"/>
              <a:t>"What animal is in this image?"</a:t>
            </a:r>
            <a:endParaRPr lang="en-US" sz="1400" dirty="0"/>
          </a:p>
          <a:p>
            <a:r>
              <a:rPr lang="en-US" sz="1400" dirty="0"/>
              <a:t>Output:</a:t>
            </a:r>
          </a:p>
          <a:p>
            <a:r>
              <a:rPr lang="en-US" sz="1400" dirty="0"/>
              <a:t>"This is a dog."</a:t>
            </a:r>
          </a:p>
          <a:p>
            <a:r>
              <a:rPr lang="en-US" sz="1400" dirty="0"/>
              <a:t>Here the AI </a:t>
            </a:r>
            <a:r>
              <a:rPr lang="en-US" sz="1400" b="1" dirty="0"/>
              <a:t>understands both the image and the text question</a:t>
            </a:r>
            <a:r>
              <a:rPr lang="en-US" sz="1400" dirty="0"/>
              <a:t>.</a:t>
            </a:r>
          </a:p>
          <a:p>
            <a:endParaRPr lang="en-US" sz="1400" dirty="0"/>
          </a:p>
        </p:txBody>
      </p:sp>
    </p:spTree>
    <p:extLst>
      <p:ext uri="{BB962C8B-B14F-4D97-AF65-F5344CB8AC3E}">
        <p14:creationId xmlns:p14="http://schemas.microsoft.com/office/powerpoint/2010/main" val="18950863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0BC62-680E-7C82-DF45-B8A62B96C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D905E-5161-DFD2-4DE0-DE09046118D1}"/>
              </a:ext>
            </a:extLst>
          </p:cNvPr>
          <p:cNvSpPr>
            <a:spLocks noGrp="1"/>
          </p:cNvSpPr>
          <p:nvPr>
            <p:ph type="title"/>
          </p:nvPr>
        </p:nvSpPr>
        <p:spPr/>
        <p:txBody>
          <a:bodyPr>
            <a:normAutofit/>
          </a:bodyPr>
          <a:lstStyle/>
          <a:p>
            <a:r>
              <a:rPr lang="en-IN" sz="3200" dirty="0">
                <a:solidFill>
                  <a:srgbClr val="FF0000"/>
                </a:solidFill>
              </a:rPr>
              <a:t>1.1.1 - Multimodal models</a:t>
            </a:r>
          </a:p>
        </p:txBody>
      </p:sp>
      <p:pic>
        <p:nvPicPr>
          <p:cNvPr id="5" name="Content Placeholder 4">
            <a:extLst>
              <a:ext uri="{FF2B5EF4-FFF2-40B4-BE49-F238E27FC236}">
                <a16:creationId xmlns:a16="http://schemas.microsoft.com/office/drawing/2014/main" id="{9334D31A-88FF-7D1C-B13A-F4ED24815328}"/>
              </a:ext>
            </a:extLst>
          </p:cNvPr>
          <p:cNvPicPr>
            <a:picLocks noGrp="1" noChangeAspect="1"/>
          </p:cNvPicPr>
          <p:nvPr>
            <p:ph idx="1"/>
          </p:nvPr>
        </p:nvPicPr>
        <p:blipFill>
          <a:blip r:embed="rId2"/>
          <a:stretch>
            <a:fillRect/>
          </a:stretch>
        </p:blipFill>
        <p:spPr>
          <a:xfrm>
            <a:off x="299207" y="1740208"/>
            <a:ext cx="5664491" cy="2971953"/>
          </a:xfrm>
          <a:prstGeom prst="rect">
            <a:avLst/>
          </a:prstGeom>
        </p:spPr>
      </p:pic>
    </p:spTree>
    <p:extLst>
      <p:ext uri="{BB962C8B-B14F-4D97-AF65-F5344CB8AC3E}">
        <p14:creationId xmlns:p14="http://schemas.microsoft.com/office/powerpoint/2010/main" val="21500269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6F1EC-F0EF-0667-E907-6B294EE6CD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FB1F8F-3C20-692A-868C-0E1DF42A97E2}"/>
              </a:ext>
            </a:extLst>
          </p:cNvPr>
          <p:cNvSpPr>
            <a:spLocks noGrp="1"/>
          </p:cNvSpPr>
          <p:nvPr>
            <p:ph type="title"/>
          </p:nvPr>
        </p:nvSpPr>
        <p:spPr/>
        <p:txBody>
          <a:bodyPr>
            <a:normAutofit/>
          </a:bodyPr>
          <a:lstStyle/>
          <a:p>
            <a:r>
              <a:rPr lang="en-IN" sz="3200" dirty="0">
                <a:solidFill>
                  <a:srgbClr val="FF0000"/>
                </a:solidFill>
              </a:rPr>
              <a:t>1.1.1 - Multimodal models</a:t>
            </a:r>
          </a:p>
        </p:txBody>
      </p:sp>
      <p:pic>
        <p:nvPicPr>
          <p:cNvPr id="9" name="Picture 8">
            <a:extLst>
              <a:ext uri="{FF2B5EF4-FFF2-40B4-BE49-F238E27FC236}">
                <a16:creationId xmlns:a16="http://schemas.microsoft.com/office/drawing/2014/main" id="{DEF1FE9B-B225-B533-C515-BB3683F8278B}"/>
              </a:ext>
            </a:extLst>
          </p:cNvPr>
          <p:cNvPicPr>
            <a:picLocks noChangeAspect="1"/>
          </p:cNvPicPr>
          <p:nvPr/>
        </p:nvPicPr>
        <p:blipFill>
          <a:blip r:embed="rId2"/>
          <a:stretch>
            <a:fillRect/>
          </a:stretch>
        </p:blipFill>
        <p:spPr>
          <a:xfrm>
            <a:off x="106432" y="1551643"/>
            <a:ext cx="3702240" cy="2178162"/>
          </a:xfrm>
          <a:prstGeom prst="rect">
            <a:avLst/>
          </a:prstGeom>
        </p:spPr>
      </p:pic>
      <p:pic>
        <p:nvPicPr>
          <p:cNvPr id="11" name="Picture 10">
            <a:extLst>
              <a:ext uri="{FF2B5EF4-FFF2-40B4-BE49-F238E27FC236}">
                <a16:creationId xmlns:a16="http://schemas.microsoft.com/office/drawing/2014/main" id="{F6CCA0D5-B397-7B2A-358F-D4CD6D9E60ED}"/>
              </a:ext>
            </a:extLst>
          </p:cNvPr>
          <p:cNvPicPr>
            <a:picLocks noChangeAspect="1"/>
          </p:cNvPicPr>
          <p:nvPr/>
        </p:nvPicPr>
        <p:blipFill>
          <a:blip r:embed="rId3"/>
          <a:stretch>
            <a:fillRect/>
          </a:stretch>
        </p:blipFill>
        <p:spPr>
          <a:xfrm>
            <a:off x="4314965" y="1428782"/>
            <a:ext cx="2463115" cy="2364786"/>
          </a:xfrm>
          <a:prstGeom prst="rect">
            <a:avLst/>
          </a:prstGeom>
        </p:spPr>
      </p:pic>
      <p:pic>
        <p:nvPicPr>
          <p:cNvPr id="13" name="Picture 12">
            <a:extLst>
              <a:ext uri="{FF2B5EF4-FFF2-40B4-BE49-F238E27FC236}">
                <a16:creationId xmlns:a16="http://schemas.microsoft.com/office/drawing/2014/main" id="{60E77E5C-A7F2-3DB6-CBEA-C87CC95D8A6C}"/>
              </a:ext>
            </a:extLst>
          </p:cNvPr>
          <p:cNvPicPr>
            <a:picLocks noChangeAspect="1"/>
          </p:cNvPicPr>
          <p:nvPr/>
        </p:nvPicPr>
        <p:blipFill>
          <a:blip r:embed="rId4"/>
          <a:stretch>
            <a:fillRect/>
          </a:stretch>
        </p:blipFill>
        <p:spPr>
          <a:xfrm>
            <a:off x="7126719" y="1503042"/>
            <a:ext cx="2368672" cy="2446219"/>
          </a:xfrm>
          <a:prstGeom prst="rect">
            <a:avLst/>
          </a:prstGeom>
        </p:spPr>
      </p:pic>
      <p:pic>
        <p:nvPicPr>
          <p:cNvPr id="15" name="Picture 14">
            <a:extLst>
              <a:ext uri="{FF2B5EF4-FFF2-40B4-BE49-F238E27FC236}">
                <a16:creationId xmlns:a16="http://schemas.microsoft.com/office/drawing/2014/main" id="{2A52C8A4-2551-A0F0-182D-8B8791ACF8D0}"/>
              </a:ext>
            </a:extLst>
          </p:cNvPr>
          <p:cNvPicPr>
            <a:picLocks noChangeAspect="1"/>
          </p:cNvPicPr>
          <p:nvPr/>
        </p:nvPicPr>
        <p:blipFill>
          <a:blip r:embed="rId5"/>
          <a:stretch>
            <a:fillRect/>
          </a:stretch>
        </p:blipFill>
        <p:spPr>
          <a:xfrm>
            <a:off x="228974" y="4024206"/>
            <a:ext cx="2463927" cy="2025754"/>
          </a:xfrm>
          <a:prstGeom prst="rect">
            <a:avLst/>
          </a:prstGeom>
        </p:spPr>
      </p:pic>
    </p:spTree>
    <p:extLst>
      <p:ext uri="{BB962C8B-B14F-4D97-AF65-F5344CB8AC3E}">
        <p14:creationId xmlns:p14="http://schemas.microsoft.com/office/powerpoint/2010/main" val="33532600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A99F2-8F62-917F-59DC-F02B83B1C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6DE485-63AA-7120-83C3-CA61B432F110}"/>
              </a:ext>
            </a:extLst>
          </p:cNvPr>
          <p:cNvSpPr>
            <a:spLocks noGrp="1"/>
          </p:cNvSpPr>
          <p:nvPr>
            <p:ph type="title"/>
          </p:nvPr>
        </p:nvSpPr>
        <p:spPr/>
        <p:txBody>
          <a:bodyPr>
            <a:normAutofit/>
          </a:bodyPr>
          <a:lstStyle/>
          <a:p>
            <a:r>
              <a:rPr lang="en-IN" sz="3200" dirty="0">
                <a:solidFill>
                  <a:srgbClr val="FF0000"/>
                </a:solidFill>
              </a:rPr>
              <a:t>1.1.1 - Multimodal models</a:t>
            </a:r>
          </a:p>
        </p:txBody>
      </p:sp>
      <p:sp>
        <p:nvSpPr>
          <p:cNvPr id="4" name="Content Placeholder 3">
            <a:extLst>
              <a:ext uri="{FF2B5EF4-FFF2-40B4-BE49-F238E27FC236}">
                <a16:creationId xmlns:a16="http://schemas.microsoft.com/office/drawing/2014/main" id="{7E0E64D1-6B7F-C69C-98D9-F862C13CB6E9}"/>
              </a:ext>
            </a:extLst>
          </p:cNvPr>
          <p:cNvSpPr>
            <a:spLocks noGrp="1"/>
          </p:cNvSpPr>
          <p:nvPr>
            <p:ph idx="1"/>
          </p:nvPr>
        </p:nvSpPr>
        <p:spPr>
          <a:xfrm>
            <a:off x="779810" y="1488613"/>
            <a:ext cx="8596668" cy="3880773"/>
          </a:xfrm>
        </p:spPr>
        <p:txBody>
          <a:bodyPr>
            <a:normAutofit/>
          </a:bodyPr>
          <a:lstStyle/>
          <a:p>
            <a:pPr marL="0" indent="0">
              <a:buNone/>
            </a:pPr>
            <a:r>
              <a:rPr lang="en-IN" sz="1400" dirty="0">
                <a:solidFill>
                  <a:srgbClr val="FF0000"/>
                </a:solidFill>
              </a:rPr>
              <a:t>Examples of Multimodal AI Systems</a:t>
            </a:r>
          </a:p>
          <a:p>
            <a:r>
              <a:rPr lang="en-IN" sz="1400" dirty="0"/>
              <a:t>GPT-4 Vision</a:t>
            </a:r>
          </a:p>
          <a:p>
            <a:r>
              <a:rPr lang="en-IN" sz="1400" dirty="0"/>
              <a:t>Google Gemini</a:t>
            </a:r>
          </a:p>
          <a:p>
            <a:r>
              <a:rPr lang="en-IN" sz="1400" dirty="0"/>
              <a:t>OpenAI DALL·E</a:t>
            </a:r>
          </a:p>
          <a:p>
            <a:r>
              <a:rPr lang="en-IN" sz="1400" dirty="0"/>
              <a:t>Stable Diffusion</a:t>
            </a:r>
          </a:p>
          <a:p>
            <a:r>
              <a:rPr lang="en-IN" sz="1400" dirty="0"/>
              <a:t>CLIP (Contrastive Language–Image Pretraining)</a:t>
            </a:r>
          </a:p>
          <a:p>
            <a:r>
              <a:rPr lang="en-IN" sz="1400" dirty="0"/>
              <a:t>These models can understand text and images together.</a:t>
            </a:r>
          </a:p>
          <a:p>
            <a:endParaRPr lang="en-IN" sz="1400" dirty="0"/>
          </a:p>
        </p:txBody>
      </p:sp>
    </p:spTree>
    <p:extLst>
      <p:ext uri="{BB962C8B-B14F-4D97-AF65-F5344CB8AC3E}">
        <p14:creationId xmlns:p14="http://schemas.microsoft.com/office/powerpoint/2010/main" val="21460904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A8FA0-6BC7-A3F9-38D6-46535F942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872DB2-F120-83BF-38D0-9A06F059D5FD}"/>
              </a:ext>
            </a:extLst>
          </p:cNvPr>
          <p:cNvSpPr>
            <a:spLocks noGrp="1"/>
          </p:cNvSpPr>
          <p:nvPr>
            <p:ph type="title"/>
          </p:nvPr>
        </p:nvSpPr>
        <p:spPr/>
        <p:txBody>
          <a:bodyPr>
            <a:normAutofit/>
          </a:bodyPr>
          <a:lstStyle/>
          <a:p>
            <a:r>
              <a:rPr lang="en-IN" sz="3200" dirty="0">
                <a:solidFill>
                  <a:srgbClr val="FF0000"/>
                </a:solidFill>
              </a:rPr>
              <a:t>1.1.1 - </a:t>
            </a:r>
            <a:r>
              <a:rPr lang="en-IN" sz="3200" b="1" dirty="0">
                <a:solidFill>
                  <a:srgbClr val="FF0000"/>
                </a:solidFill>
              </a:rPr>
              <a:t>Applications of Multimodal AI</a:t>
            </a:r>
          </a:p>
        </p:txBody>
      </p:sp>
      <p:sp>
        <p:nvSpPr>
          <p:cNvPr id="4" name="Content Placeholder 3">
            <a:extLst>
              <a:ext uri="{FF2B5EF4-FFF2-40B4-BE49-F238E27FC236}">
                <a16:creationId xmlns:a16="http://schemas.microsoft.com/office/drawing/2014/main" id="{4C357908-D850-07DA-3631-29C4FCCD2D2C}"/>
              </a:ext>
            </a:extLst>
          </p:cNvPr>
          <p:cNvSpPr>
            <a:spLocks noGrp="1"/>
          </p:cNvSpPr>
          <p:nvPr>
            <p:ph idx="1"/>
          </p:nvPr>
        </p:nvSpPr>
        <p:spPr/>
        <p:txBody>
          <a:bodyPr>
            <a:normAutofit fontScale="92500" lnSpcReduction="20000"/>
          </a:bodyPr>
          <a:lstStyle/>
          <a:p>
            <a:r>
              <a:rPr lang="en-IN" dirty="0"/>
              <a:t>Healthcare</a:t>
            </a:r>
          </a:p>
          <a:p>
            <a:r>
              <a:rPr lang="en-IN" dirty="0" err="1"/>
              <a:t>Analyze</a:t>
            </a:r>
            <a:r>
              <a:rPr lang="en-IN" dirty="0"/>
              <a:t> medical images and patient reports together.</a:t>
            </a:r>
          </a:p>
          <a:p>
            <a:r>
              <a:rPr lang="en-IN" dirty="0"/>
              <a:t>Autonomous Vehicles</a:t>
            </a:r>
          </a:p>
          <a:p>
            <a:r>
              <a:rPr lang="en-IN" dirty="0"/>
              <a:t>Combine camera images, radar, and sensor data.</a:t>
            </a:r>
          </a:p>
          <a:p>
            <a:r>
              <a:rPr lang="en-IN" dirty="0"/>
              <a:t>Chatbots</a:t>
            </a:r>
          </a:p>
          <a:p>
            <a:r>
              <a:rPr lang="en-IN" dirty="0"/>
              <a:t>Understand images and text together.</a:t>
            </a:r>
          </a:p>
          <a:p>
            <a:r>
              <a:rPr lang="en-IN" dirty="0"/>
              <a:t>Software Testing</a:t>
            </a:r>
          </a:p>
          <a:p>
            <a:r>
              <a:rPr lang="en-IN" dirty="0"/>
              <a:t>Multimodal AI can help testers:</a:t>
            </a:r>
          </a:p>
          <a:p>
            <a:r>
              <a:rPr lang="en-IN" dirty="0"/>
              <a:t>Generate test cases from UI screenshots</a:t>
            </a:r>
          </a:p>
          <a:p>
            <a:r>
              <a:rPr lang="en-IN" dirty="0" err="1"/>
              <a:t>Analyze</a:t>
            </a:r>
            <a:r>
              <a:rPr lang="en-IN" dirty="0"/>
              <a:t> application screenshots</a:t>
            </a:r>
          </a:p>
          <a:p>
            <a:r>
              <a:rPr lang="en-IN" dirty="0"/>
              <a:t>Detect UI defects</a:t>
            </a:r>
          </a:p>
          <a:p>
            <a:endParaRPr lang="en-IN" dirty="0"/>
          </a:p>
        </p:txBody>
      </p:sp>
    </p:spTree>
    <p:extLst>
      <p:ext uri="{BB962C8B-B14F-4D97-AF65-F5344CB8AC3E}">
        <p14:creationId xmlns:p14="http://schemas.microsoft.com/office/powerpoint/2010/main" val="21032599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FA76D-D2C2-6AD4-94CB-C57F898A4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D09E85-F714-EA9F-759F-AB79FCDAF7EE}"/>
              </a:ext>
            </a:extLst>
          </p:cNvPr>
          <p:cNvSpPr>
            <a:spLocks noGrp="1"/>
          </p:cNvSpPr>
          <p:nvPr>
            <p:ph type="title"/>
          </p:nvPr>
        </p:nvSpPr>
        <p:spPr/>
        <p:txBody>
          <a:bodyPr>
            <a:normAutofit/>
          </a:bodyPr>
          <a:lstStyle/>
          <a:p>
            <a:r>
              <a:rPr lang="en-IN" sz="3200" dirty="0">
                <a:solidFill>
                  <a:srgbClr val="FF0000"/>
                </a:solidFill>
              </a:rPr>
              <a:t>1.1.1 - </a:t>
            </a:r>
            <a:r>
              <a:rPr lang="en-IN" sz="3200" b="1" dirty="0">
                <a:solidFill>
                  <a:srgbClr val="FF0000"/>
                </a:solidFill>
              </a:rPr>
              <a:t>Applications of Multimodal AI</a:t>
            </a:r>
          </a:p>
        </p:txBody>
      </p:sp>
      <p:sp>
        <p:nvSpPr>
          <p:cNvPr id="4" name="Content Placeholder 3">
            <a:extLst>
              <a:ext uri="{FF2B5EF4-FFF2-40B4-BE49-F238E27FC236}">
                <a16:creationId xmlns:a16="http://schemas.microsoft.com/office/drawing/2014/main" id="{D4B0ED30-D9C7-E5B7-1950-A1B8AE549D13}"/>
              </a:ext>
            </a:extLst>
          </p:cNvPr>
          <p:cNvSpPr>
            <a:spLocks noGrp="1"/>
          </p:cNvSpPr>
          <p:nvPr>
            <p:ph idx="1"/>
          </p:nvPr>
        </p:nvSpPr>
        <p:spPr/>
        <p:txBody>
          <a:bodyPr>
            <a:normAutofit/>
          </a:bodyPr>
          <a:lstStyle/>
          <a:p>
            <a:pPr marL="0" indent="0">
              <a:buNone/>
            </a:pPr>
            <a:r>
              <a:rPr lang="en-US" sz="1400" dirty="0"/>
              <a:t>In software testing, </a:t>
            </a:r>
          </a:p>
          <a:p>
            <a:r>
              <a:rPr lang="en-US" sz="1400" dirty="0"/>
              <a:t>LLMs can support tasks such as </a:t>
            </a:r>
          </a:p>
          <a:p>
            <a:r>
              <a:rPr lang="en-US" sz="1400" dirty="0"/>
              <a:t>Reviewing and improving acceptance criteria</a:t>
            </a:r>
          </a:p>
          <a:p>
            <a:r>
              <a:rPr lang="en-US" sz="1400" dirty="0"/>
              <a:t>Generating test cases or test scripts</a:t>
            </a:r>
          </a:p>
          <a:p>
            <a:r>
              <a:rPr lang="en-US" sz="1400" dirty="0"/>
              <a:t>Identifying potential defects</a:t>
            </a:r>
          </a:p>
          <a:p>
            <a:r>
              <a:rPr lang="en-US" sz="1400" dirty="0"/>
              <a:t>Analyzing defect patterns</a:t>
            </a:r>
          </a:p>
          <a:p>
            <a:r>
              <a:rPr lang="en-US" sz="1400" dirty="0"/>
              <a:t>Generating synthetic test data</a:t>
            </a:r>
          </a:p>
          <a:p>
            <a:r>
              <a:rPr lang="en-US" sz="1400" dirty="0"/>
              <a:t>Supporting documentation generation, across the entire test process.</a:t>
            </a:r>
            <a:endParaRPr lang="en-IN" sz="1400" dirty="0"/>
          </a:p>
        </p:txBody>
      </p:sp>
    </p:spTree>
    <p:extLst>
      <p:ext uri="{BB962C8B-B14F-4D97-AF65-F5344CB8AC3E}">
        <p14:creationId xmlns:p14="http://schemas.microsoft.com/office/powerpoint/2010/main" val="28605555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D1B3E-4A89-3515-E515-8D22E60FF4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FC7DF-733F-2247-62CD-29D68AF4257B}"/>
              </a:ext>
            </a:extLst>
          </p:cNvPr>
          <p:cNvSpPr>
            <a:spLocks noGrp="1"/>
          </p:cNvSpPr>
          <p:nvPr>
            <p:ph type="title"/>
          </p:nvPr>
        </p:nvSpPr>
        <p:spPr/>
        <p:txBody>
          <a:bodyPr>
            <a:normAutofit/>
          </a:bodyPr>
          <a:lstStyle/>
          <a:p>
            <a:r>
              <a:rPr lang="en-IN" sz="3200" dirty="0">
                <a:solidFill>
                  <a:srgbClr val="FF0000"/>
                </a:solidFill>
              </a:rPr>
              <a:t>1.1.1 - </a:t>
            </a:r>
            <a:r>
              <a:rPr lang="en-IN" sz="3200" b="1" dirty="0">
                <a:solidFill>
                  <a:srgbClr val="FF0000"/>
                </a:solidFill>
              </a:rPr>
              <a:t>Applications of Multimodal AI</a:t>
            </a:r>
          </a:p>
        </p:txBody>
      </p:sp>
      <p:sp>
        <p:nvSpPr>
          <p:cNvPr id="4" name="Content Placeholder 3">
            <a:extLst>
              <a:ext uri="{FF2B5EF4-FFF2-40B4-BE49-F238E27FC236}">
                <a16:creationId xmlns:a16="http://schemas.microsoft.com/office/drawing/2014/main" id="{B2B14514-A3A0-4129-C3D1-E70C2013102D}"/>
              </a:ext>
            </a:extLst>
          </p:cNvPr>
          <p:cNvSpPr>
            <a:spLocks noGrp="1"/>
          </p:cNvSpPr>
          <p:nvPr>
            <p:ph idx="1"/>
          </p:nvPr>
        </p:nvSpPr>
        <p:spPr>
          <a:xfrm>
            <a:off x="771927" y="1782217"/>
            <a:ext cx="8596668" cy="3880773"/>
          </a:xfrm>
        </p:spPr>
        <p:txBody>
          <a:bodyPr>
            <a:normAutofit/>
          </a:bodyPr>
          <a:lstStyle/>
          <a:p>
            <a:pPr marL="0" indent="0">
              <a:buNone/>
            </a:pPr>
            <a:r>
              <a:rPr lang="en-IN" sz="1400" b="1" dirty="0">
                <a:solidFill>
                  <a:srgbClr val="FF0000"/>
                </a:solidFill>
              </a:rPr>
              <a:t>Example in Software Testing</a:t>
            </a:r>
          </a:p>
          <a:p>
            <a:r>
              <a:rPr lang="en-IN" sz="1400" dirty="0"/>
              <a:t>Input:</a:t>
            </a:r>
            <a:br>
              <a:rPr lang="en-IN" sz="1400" dirty="0"/>
            </a:br>
            <a:r>
              <a:rPr lang="en-IN" sz="1400" dirty="0"/>
              <a:t>Screenshot of login page</a:t>
            </a:r>
          </a:p>
          <a:p>
            <a:r>
              <a:rPr lang="en-IN" sz="1400" dirty="0"/>
              <a:t>Prompt:</a:t>
            </a:r>
            <a:br>
              <a:rPr lang="en-IN" sz="1400" dirty="0"/>
            </a:br>
            <a:r>
              <a:rPr lang="en-IN" sz="1400" dirty="0"/>
              <a:t>"Generate test cases for this login UI."</a:t>
            </a:r>
          </a:p>
          <a:p>
            <a:r>
              <a:rPr lang="en-IN" sz="1400" dirty="0"/>
              <a:t>Output:</a:t>
            </a:r>
            <a:br>
              <a:rPr lang="en-IN" sz="1400" dirty="0"/>
            </a:br>
            <a:r>
              <a:rPr lang="en-IN" sz="1400" dirty="0"/>
              <a:t>AI generates test cases such as:</a:t>
            </a:r>
          </a:p>
          <a:p>
            <a:r>
              <a:rPr lang="en-IN" sz="1400" dirty="0"/>
              <a:t>Valid login</a:t>
            </a:r>
          </a:p>
          <a:p>
            <a:r>
              <a:rPr lang="en-IN" sz="1400" dirty="0"/>
              <a:t>Invalid password</a:t>
            </a:r>
          </a:p>
          <a:p>
            <a:r>
              <a:rPr lang="en-IN" sz="1400" dirty="0"/>
              <a:t>Empty username</a:t>
            </a:r>
          </a:p>
          <a:p>
            <a:r>
              <a:rPr lang="en-IN" sz="1400" dirty="0"/>
              <a:t>Password length validation</a:t>
            </a:r>
          </a:p>
          <a:p>
            <a:endParaRPr lang="en-IN" sz="1400" dirty="0"/>
          </a:p>
        </p:txBody>
      </p:sp>
    </p:spTree>
    <p:extLst>
      <p:ext uri="{BB962C8B-B14F-4D97-AF65-F5344CB8AC3E}">
        <p14:creationId xmlns:p14="http://schemas.microsoft.com/office/powerpoint/2010/main" val="22017988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BCC22-06FE-2313-85E2-0EC1E90368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294EA-B009-DF8E-4EEF-68B48CEEA979}"/>
              </a:ext>
            </a:extLst>
          </p:cNvPr>
          <p:cNvSpPr>
            <a:spLocks noGrp="1"/>
          </p:cNvSpPr>
          <p:nvPr>
            <p:ph type="title"/>
          </p:nvPr>
        </p:nvSpPr>
        <p:spPr/>
        <p:txBody>
          <a:bodyPr>
            <a:normAutofit/>
          </a:bodyPr>
          <a:lstStyle/>
          <a:p>
            <a:r>
              <a:rPr lang="en-IN" sz="3200" dirty="0">
                <a:solidFill>
                  <a:srgbClr val="FF0000"/>
                </a:solidFill>
              </a:rPr>
              <a:t>1.1.1 - </a:t>
            </a:r>
            <a:r>
              <a:rPr lang="en-IN" sz="3200" b="1" dirty="0">
                <a:solidFill>
                  <a:srgbClr val="FF0000"/>
                </a:solidFill>
              </a:rPr>
              <a:t>Applications of Multimodal AI</a:t>
            </a:r>
          </a:p>
        </p:txBody>
      </p:sp>
      <p:sp>
        <p:nvSpPr>
          <p:cNvPr id="4" name="Content Placeholder 3">
            <a:extLst>
              <a:ext uri="{FF2B5EF4-FFF2-40B4-BE49-F238E27FC236}">
                <a16:creationId xmlns:a16="http://schemas.microsoft.com/office/drawing/2014/main" id="{2CDF80AF-152A-A39D-7CAA-82A5D9D8961F}"/>
              </a:ext>
            </a:extLst>
          </p:cNvPr>
          <p:cNvSpPr>
            <a:spLocks noGrp="1"/>
          </p:cNvSpPr>
          <p:nvPr>
            <p:ph idx="1"/>
          </p:nvPr>
        </p:nvSpPr>
        <p:spPr>
          <a:xfrm>
            <a:off x="771927" y="1782217"/>
            <a:ext cx="8596668" cy="3880773"/>
          </a:xfrm>
        </p:spPr>
        <p:txBody>
          <a:bodyPr>
            <a:normAutofit/>
          </a:bodyPr>
          <a:lstStyle/>
          <a:p>
            <a:pPr marL="0" indent="0">
              <a:buNone/>
            </a:pPr>
            <a:r>
              <a:rPr lang="en-US" sz="1400" b="1" dirty="0">
                <a:solidFill>
                  <a:srgbClr val="FF0000"/>
                </a:solidFill>
              </a:rPr>
              <a:t>Challenges of Multimodal Models</a:t>
            </a:r>
          </a:p>
          <a:p>
            <a:r>
              <a:rPr lang="en-US" sz="1400" dirty="0"/>
              <a:t>High computational cost</a:t>
            </a:r>
          </a:p>
          <a:p>
            <a:r>
              <a:rPr lang="en-US" sz="1400" dirty="0"/>
              <a:t>Complex training</a:t>
            </a:r>
          </a:p>
          <a:p>
            <a:r>
              <a:rPr lang="en-US" sz="1400" dirty="0"/>
              <a:t>Large datasets required</a:t>
            </a:r>
          </a:p>
          <a:p>
            <a:r>
              <a:rPr lang="en-US" sz="1400" dirty="0"/>
              <a:t>Alignment between modalities is difficult</a:t>
            </a:r>
          </a:p>
          <a:p>
            <a:endParaRPr lang="en-IN" sz="1400" dirty="0"/>
          </a:p>
        </p:txBody>
      </p:sp>
    </p:spTree>
    <p:extLst>
      <p:ext uri="{BB962C8B-B14F-4D97-AF65-F5344CB8AC3E}">
        <p14:creationId xmlns:p14="http://schemas.microsoft.com/office/powerpoint/2010/main" val="107031084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B5981-CD21-E9A8-4AD1-271831673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A2B264-098E-C9AD-03C8-249D2F204387}"/>
              </a:ext>
            </a:extLst>
          </p:cNvPr>
          <p:cNvSpPr>
            <a:spLocks noGrp="1"/>
          </p:cNvSpPr>
          <p:nvPr>
            <p:ph type="title"/>
          </p:nvPr>
        </p:nvSpPr>
        <p:spPr/>
        <p:txBody>
          <a:bodyPr>
            <a:normAutofit/>
          </a:bodyPr>
          <a:lstStyle/>
          <a:p>
            <a:r>
              <a:rPr lang="en-IN" sz="3200" dirty="0">
                <a:solidFill>
                  <a:srgbClr val="FF0000"/>
                </a:solidFill>
              </a:rPr>
              <a:t>1.1.2- </a:t>
            </a:r>
            <a:r>
              <a:rPr lang="en-US" sz="3200" b="1" dirty="0">
                <a:solidFill>
                  <a:srgbClr val="FF0000"/>
                </a:solidFill>
              </a:rPr>
              <a:t>Basics of Generative AI and LLM’s</a:t>
            </a:r>
            <a:endParaRPr lang="en-IN" sz="3200" dirty="0">
              <a:solidFill>
                <a:srgbClr val="FF0000"/>
              </a:solidFill>
            </a:endParaRPr>
          </a:p>
        </p:txBody>
      </p:sp>
      <p:sp>
        <p:nvSpPr>
          <p:cNvPr id="3" name="Content Placeholder 2">
            <a:extLst>
              <a:ext uri="{FF2B5EF4-FFF2-40B4-BE49-F238E27FC236}">
                <a16:creationId xmlns:a16="http://schemas.microsoft.com/office/drawing/2014/main" id="{30127218-27EB-D29D-C4CD-433B20002404}"/>
              </a:ext>
            </a:extLst>
          </p:cNvPr>
          <p:cNvSpPr>
            <a:spLocks noGrp="1"/>
          </p:cNvSpPr>
          <p:nvPr>
            <p:ph idx="1"/>
          </p:nvPr>
        </p:nvSpPr>
        <p:spPr>
          <a:xfrm>
            <a:off x="677334" y="1569382"/>
            <a:ext cx="8596668" cy="3880773"/>
          </a:xfrm>
        </p:spPr>
        <p:txBody>
          <a:bodyPr>
            <a:normAutofit/>
          </a:bodyPr>
          <a:lstStyle/>
          <a:p>
            <a:pPr marL="0" indent="0">
              <a:buNone/>
            </a:pPr>
            <a:endParaRPr lang="en-US" sz="1400" dirty="0"/>
          </a:p>
          <a:p>
            <a:r>
              <a:rPr lang="en-US" sz="1400" dirty="0"/>
              <a:t>LLMs are trained on very large datasets, including books, articles, and websites.</a:t>
            </a:r>
          </a:p>
          <a:p>
            <a:r>
              <a:rPr lang="en-US" sz="1400" b="1" dirty="0"/>
              <a:t>LLMs (Large Language Models)</a:t>
            </a:r>
            <a:r>
              <a:rPr lang="en-US" sz="1400" dirty="0"/>
              <a:t> are a type of </a:t>
            </a:r>
            <a:r>
              <a:rPr lang="en-US" sz="1400" b="1" dirty="0"/>
              <a:t>Artificial Intelligence model designed to understand and generate human language</a:t>
            </a:r>
            <a:r>
              <a:rPr lang="en-US" sz="1400" dirty="0"/>
              <a:t>.</a:t>
            </a:r>
          </a:p>
          <a:p>
            <a:r>
              <a:rPr lang="en-US" sz="1400" dirty="0"/>
              <a:t>They are called </a:t>
            </a:r>
            <a:r>
              <a:rPr lang="en-US" sz="1400" b="1" dirty="0"/>
              <a:t>“large”</a:t>
            </a:r>
            <a:r>
              <a:rPr lang="en-US" sz="1400" dirty="0"/>
              <a:t> because they are trained on </a:t>
            </a:r>
            <a:r>
              <a:rPr lang="en-US" sz="1400" b="1" dirty="0"/>
              <a:t>very large datasets</a:t>
            </a:r>
            <a:r>
              <a:rPr lang="en-US" sz="1400" dirty="0"/>
              <a:t> (billions or trillions of words) and contain </a:t>
            </a:r>
            <a:r>
              <a:rPr lang="en-US" sz="1400" b="1" dirty="0"/>
              <a:t>millions or billions of parameters</a:t>
            </a:r>
            <a:r>
              <a:rPr lang="en-US" sz="1400" dirty="0"/>
              <a:t> that help the model understand language patterns.</a:t>
            </a:r>
          </a:p>
          <a:p>
            <a:r>
              <a:rPr lang="en-US" sz="1400" dirty="0"/>
              <a:t>LLMs are the technology behind modern AI chatbots like </a:t>
            </a:r>
            <a:r>
              <a:rPr lang="en-US" sz="1400" b="1" dirty="0"/>
              <a:t>ChatGPT</a:t>
            </a:r>
            <a:r>
              <a:rPr lang="en-US" sz="1400" dirty="0"/>
              <a:t>, </a:t>
            </a:r>
            <a:r>
              <a:rPr lang="en-US" sz="1400" b="1" dirty="0"/>
              <a:t>Gemini</a:t>
            </a:r>
            <a:r>
              <a:rPr lang="en-US" sz="1400" dirty="0"/>
              <a:t>, and </a:t>
            </a:r>
            <a:r>
              <a:rPr lang="en-US" sz="1400" b="1" dirty="0"/>
              <a:t>Claude</a:t>
            </a:r>
            <a:r>
              <a:rPr lang="en-US" sz="1400" dirty="0"/>
              <a:t>.</a:t>
            </a:r>
          </a:p>
          <a:p>
            <a:pPr marL="0" indent="0">
              <a:buNone/>
            </a:pPr>
            <a:endParaRPr lang="en-US" sz="1400" dirty="0"/>
          </a:p>
          <a:p>
            <a:pPr marL="0" indent="0">
              <a:buNone/>
            </a:pPr>
            <a:endParaRPr lang="en-US" sz="1400" dirty="0"/>
          </a:p>
          <a:p>
            <a:pPr marL="0" indent="0">
              <a:buNone/>
            </a:pPr>
            <a:endParaRPr lang="en-IN" sz="1400" dirty="0"/>
          </a:p>
        </p:txBody>
      </p:sp>
    </p:spTree>
    <p:extLst>
      <p:ext uri="{BB962C8B-B14F-4D97-AF65-F5344CB8AC3E}">
        <p14:creationId xmlns:p14="http://schemas.microsoft.com/office/powerpoint/2010/main" val="39522597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1E237-D34C-CD55-F947-129CB6B13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9CEB8-9853-289F-054D-6A657E8F49A6}"/>
              </a:ext>
            </a:extLst>
          </p:cNvPr>
          <p:cNvSpPr>
            <a:spLocks noGrp="1"/>
          </p:cNvSpPr>
          <p:nvPr>
            <p:ph type="title"/>
          </p:nvPr>
        </p:nvSpPr>
        <p:spPr>
          <a:xfrm>
            <a:off x="677334" y="609600"/>
            <a:ext cx="8596668" cy="706821"/>
          </a:xfrm>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5" name="TextBox 4">
            <a:extLst>
              <a:ext uri="{FF2B5EF4-FFF2-40B4-BE49-F238E27FC236}">
                <a16:creationId xmlns:a16="http://schemas.microsoft.com/office/drawing/2014/main" id="{AE9CC2EA-5FF2-1713-2841-8BD781F9E6C4}"/>
              </a:ext>
            </a:extLst>
          </p:cNvPr>
          <p:cNvSpPr txBox="1"/>
          <p:nvPr/>
        </p:nvSpPr>
        <p:spPr>
          <a:xfrm>
            <a:off x="779811" y="1411890"/>
            <a:ext cx="6101254" cy="1600438"/>
          </a:xfrm>
          <a:prstGeom prst="rect">
            <a:avLst/>
          </a:prstGeom>
          <a:noFill/>
        </p:spPr>
        <p:txBody>
          <a:bodyPr wrap="square">
            <a:spAutoFit/>
          </a:bodyPr>
          <a:lstStyle/>
          <a:p>
            <a:pPr>
              <a:buNone/>
            </a:pPr>
            <a:r>
              <a:rPr lang="en-US" sz="1400" dirty="0"/>
              <a:t>These models can:</a:t>
            </a:r>
          </a:p>
          <a:p>
            <a:pPr>
              <a:buNone/>
            </a:pPr>
            <a:endParaRPr lang="en-US" sz="1400" dirty="0"/>
          </a:p>
          <a:p>
            <a:pPr>
              <a:buFont typeface="Arial" panose="020B0604020202020204" pitchFamily="34" charset="0"/>
              <a:buChar char="•"/>
            </a:pPr>
            <a:r>
              <a:rPr lang="en-US" sz="1400" dirty="0"/>
              <a:t>Answer questions</a:t>
            </a:r>
          </a:p>
          <a:p>
            <a:pPr>
              <a:buFont typeface="Arial" panose="020B0604020202020204" pitchFamily="34" charset="0"/>
              <a:buChar char="•"/>
            </a:pPr>
            <a:r>
              <a:rPr lang="en-US" sz="1400" dirty="0"/>
              <a:t>Write essays or summaries</a:t>
            </a:r>
          </a:p>
          <a:p>
            <a:pPr>
              <a:buFont typeface="Arial" panose="020B0604020202020204" pitchFamily="34" charset="0"/>
              <a:buChar char="•"/>
            </a:pPr>
            <a:r>
              <a:rPr lang="en-US" sz="1400" dirty="0"/>
              <a:t>Generate computer code</a:t>
            </a:r>
          </a:p>
          <a:p>
            <a:pPr>
              <a:buFont typeface="Arial" panose="020B0604020202020204" pitchFamily="34" charset="0"/>
              <a:buChar char="•"/>
            </a:pPr>
            <a:r>
              <a:rPr lang="en-US" sz="1400" dirty="0"/>
              <a:t>Translate languages</a:t>
            </a:r>
          </a:p>
          <a:p>
            <a:pPr>
              <a:buFont typeface="Arial" panose="020B0604020202020204" pitchFamily="34" charset="0"/>
              <a:buChar char="•"/>
            </a:pPr>
            <a:r>
              <a:rPr lang="en-US" sz="1400" dirty="0"/>
              <a:t>Hold conversations with users</a:t>
            </a:r>
          </a:p>
        </p:txBody>
      </p:sp>
      <p:sp>
        <p:nvSpPr>
          <p:cNvPr id="7" name="TextBox 6">
            <a:extLst>
              <a:ext uri="{FF2B5EF4-FFF2-40B4-BE49-F238E27FC236}">
                <a16:creationId xmlns:a16="http://schemas.microsoft.com/office/drawing/2014/main" id="{1113D27E-C099-5B47-138E-8C56F033B7DD}"/>
              </a:ext>
            </a:extLst>
          </p:cNvPr>
          <p:cNvSpPr txBox="1"/>
          <p:nvPr/>
        </p:nvSpPr>
        <p:spPr>
          <a:xfrm>
            <a:off x="5254361" y="1411890"/>
            <a:ext cx="4498886" cy="1600438"/>
          </a:xfrm>
          <a:prstGeom prst="rect">
            <a:avLst/>
          </a:prstGeom>
          <a:noFill/>
        </p:spPr>
        <p:txBody>
          <a:bodyPr wrap="square">
            <a:spAutoFit/>
          </a:bodyPr>
          <a:lstStyle/>
          <a:p>
            <a:pPr>
              <a:buNone/>
            </a:pPr>
            <a:r>
              <a:rPr lang="en-US" sz="1400" b="1" dirty="0">
                <a:solidFill>
                  <a:srgbClr val="FF0000"/>
                </a:solidFill>
              </a:rPr>
              <a:t>Large</a:t>
            </a:r>
          </a:p>
          <a:p>
            <a:pPr>
              <a:buNone/>
            </a:pPr>
            <a:endParaRPr lang="en-US" sz="1400" b="1" dirty="0">
              <a:solidFill>
                <a:srgbClr val="FF0000"/>
              </a:solidFill>
            </a:endParaRPr>
          </a:p>
          <a:p>
            <a:pPr>
              <a:buNone/>
            </a:pPr>
            <a:r>
              <a:rPr lang="en-US" sz="1400" dirty="0"/>
              <a:t>The model is </a:t>
            </a:r>
            <a:r>
              <a:rPr lang="en-US" sz="1400" b="1" dirty="0"/>
              <a:t>very big</a:t>
            </a:r>
            <a:r>
              <a:rPr lang="en-US" sz="1400" dirty="0"/>
              <a:t> in terms of:</a:t>
            </a:r>
          </a:p>
          <a:p>
            <a:pPr>
              <a:buFont typeface="Arial" panose="020B0604020202020204" pitchFamily="34" charset="0"/>
              <a:buChar char="•"/>
            </a:pPr>
            <a:r>
              <a:rPr lang="en-US" sz="1400" dirty="0"/>
              <a:t>Training data (books, websites, articles, code)</a:t>
            </a:r>
          </a:p>
          <a:p>
            <a:pPr>
              <a:buFont typeface="Arial" panose="020B0604020202020204" pitchFamily="34" charset="0"/>
              <a:buChar char="•"/>
            </a:pPr>
            <a:r>
              <a:rPr lang="en-US" sz="1400" dirty="0"/>
              <a:t>Number of parameters (internal mathematical weights)</a:t>
            </a:r>
          </a:p>
          <a:p>
            <a:pPr>
              <a:buNone/>
            </a:pPr>
            <a:r>
              <a:rPr lang="en-US" sz="1400" dirty="0"/>
              <a:t>Some modern LLMs are trained on </a:t>
            </a:r>
            <a:r>
              <a:rPr lang="en-US" sz="1400" b="1" dirty="0"/>
              <a:t>trillions of words</a:t>
            </a:r>
            <a:r>
              <a:rPr lang="en-US" sz="1400" dirty="0"/>
              <a:t>.</a:t>
            </a:r>
          </a:p>
        </p:txBody>
      </p:sp>
      <p:sp>
        <p:nvSpPr>
          <p:cNvPr id="9" name="TextBox 8">
            <a:extLst>
              <a:ext uri="{FF2B5EF4-FFF2-40B4-BE49-F238E27FC236}">
                <a16:creationId xmlns:a16="http://schemas.microsoft.com/office/drawing/2014/main" id="{2E59DCC7-FD2E-276A-C5FB-042A57714DEA}"/>
              </a:ext>
            </a:extLst>
          </p:cNvPr>
          <p:cNvSpPr txBox="1"/>
          <p:nvPr/>
        </p:nvSpPr>
        <p:spPr>
          <a:xfrm>
            <a:off x="677334" y="3869554"/>
            <a:ext cx="4170563" cy="2031325"/>
          </a:xfrm>
          <a:prstGeom prst="rect">
            <a:avLst/>
          </a:prstGeom>
          <a:noFill/>
        </p:spPr>
        <p:txBody>
          <a:bodyPr wrap="square">
            <a:spAutoFit/>
          </a:bodyPr>
          <a:lstStyle/>
          <a:p>
            <a:pPr>
              <a:buNone/>
            </a:pPr>
            <a:r>
              <a:rPr lang="en-US" sz="1400" b="1" dirty="0">
                <a:solidFill>
                  <a:srgbClr val="FF0000"/>
                </a:solidFill>
              </a:rPr>
              <a:t>Language</a:t>
            </a:r>
          </a:p>
          <a:p>
            <a:pPr>
              <a:buNone/>
            </a:pPr>
            <a:endParaRPr lang="en-US" sz="1400" b="1" dirty="0">
              <a:solidFill>
                <a:srgbClr val="FF0000"/>
              </a:solidFill>
            </a:endParaRPr>
          </a:p>
          <a:p>
            <a:pPr>
              <a:buNone/>
            </a:pPr>
            <a:r>
              <a:rPr lang="en-US" sz="1400" dirty="0"/>
              <a:t>They work with </a:t>
            </a:r>
            <a:r>
              <a:rPr lang="en-US" sz="1400" b="1" dirty="0"/>
              <a:t>human language</a:t>
            </a:r>
            <a:r>
              <a:rPr lang="en-US" sz="1400" dirty="0"/>
              <a:t>, such as:</a:t>
            </a:r>
          </a:p>
          <a:p>
            <a:pPr>
              <a:buFont typeface="Arial" panose="020B0604020202020204" pitchFamily="34" charset="0"/>
              <a:buChar char="•"/>
            </a:pPr>
            <a:r>
              <a:rPr lang="en-US" sz="1400" dirty="0"/>
              <a:t>English</a:t>
            </a:r>
          </a:p>
          <a:p>
            <a:pPr>
              <a:buFont typeface="Arial" panose="020B0604020202020204" pitchFamily="34" charset="0"/>
              <a:buChar char="•"/>
            </a:pPr>
            <a:r>
              <a:rPr lang="en-US" sz="1400" dirty="0"/>
              <a:t>Hindi</a:t>
            </a:r>
          </a:p>
          <a:p>
            <a:pPr>
              <a:buFont typeface="Arial" panose="020B0604020202020204" pitchFamily="34" charset="0"/>
              <a:buChar char="•"/>
            </a:pPr>
            <a:r>
              <a:rPr lang="en-US" sz="1400" dirty="0"/>
              <a:t>Spanish</a:t>
            </a:r>
          </a:p>
          <a:p>
            <a:pPr>
              <a:buFont typeface="Arial" panose="020B0604020202020204" pitchFamily="34" charset="0"/>
              <a:buChar char="•"/>
            </a:pPr>
            <a:r>
              <a:rPr lang="en-US" sz="1400" dirty="0"/>
              <a:t>Programming languages like Python or Java</a:t>
            </a:r>
          </a:p>
          <a:p>
            <a:pPr>
              <a:buNone/>
            </a:pPr>
            <a:r>
              <a:rPr lang="en-US" sz="1400" dirty="0"/>
              <a:t>They understand and generate </a:t>
            </a:r>
            <a:r>
              <a:rPr lang="en-US" sz="1400" b="1" dirty="0"/>
              <a:t>text-based information</a:t>
            </a:r>
            <a:r>
              <a:rPr lang="en-US" sz="1400" dirty="0"/>
              <a:t>.</a:t>
            </a:r>
          </a:p>
        </p:txBody>
      </p:sp>
      <p:sp>
        <p:nvSpPr>
          <p:cNvPr id="11" name="TextBox 10">
            <a:extLst>
              <a:ext uri="{FF2B5EF4-FFF2-40B4-BE49-F238E27FC236}">
                <a16:creationId xmlns:a16="http://schemas.microsoft.com/office/drawing/2014/main" id="{C1FF5598-5B82-91DB-F9F9-67D29D36609F}"/>
              </a:ext>
            </a:extLst>
          </p:cNvPr>
          <p:cNvSpPr txBox="1"/>
          <p:nvPr/>
        </p:nvSpPr>
        <p:spPr>
          <a:xfrm>
            <a:off x="5341072" y="3714312"/>
            <a:ext cx="4756742" cy="2462213"/>
          </a:xfrm>
          <a:prstGeom prst="rect">
            <a:avLst/>
          </a:prstGeom>
          <a:noFill/>
        </p:spPr>
        <p:txBody>
          <a:bodyPr wrap="square">
            <a:spAutoFit/>
          </a:bodyPr>
          <a:lstStyle/>
          <a:p>
            <a:pPr>
              <a:buNone/>
            </a:pPr>
            <a:r>
              <a:rPr lang="en-US" sz="1400" b="1" dirty="0">
                <a:solidFill>
                  <a:srgbClr val="FF0000"/>
                </a:solidFill>
                <a:latin typeface="+mj-lt"/>
              </a:rPr>
              <a:t>Model</a:t>
            </a:r>
          </a:p>
          <a:p>
            <a:pPr>
              <a:buNone/>
            </a:pPr>
            <a:endParaRPr lang="en-US" sz="1400" b="1" dirty="0">
              <a:solidFill>
                <a:srgbClr val="FF0000"/>
              </a:solidFill>
              <a:latin typeface="+mj-lt"/>
            </a:endParaRPr>
          </a:p>
          <a:p>
            <a:pPr>
              <a:buNone/>
            </a:pPr>
            <a:r>
              <a:rPr lang="en-US" sz="1400" dirty="0">
                <a:latin typeface="+mj-lt"/>
              </a:rPr>
              <a:t>A </a:t>
            </a:r>
            <a:r>
              <a:rPr lang="en-US" sz="1400" b="1" dirty="0">
                <a:latin typeface="+mj-lt"/>
              </a:rPr>
              <a:t>model</a:t>
            </a:r>
            <a:r>
              <a:rPr lang="en-US" sz="1400" dirty="0">
                <a:latin typeface="+mj-lt"/>
              </a:rPr>
              <a:t> is a mathematical system trained to </a:t>
            </a:r>
            <a:r>
              <a:rPr lang="en-US" sz="1400" b="1" dirty="0">
                <a:latin typeface="+mj-lt"/>
              </a:rPr>
              <a:t>predict patterns in data</a:t>
            </a:r>
            <a:r>
              <a:rPr lang="en-US" sz="1400" dirty="0">
                <a:latin typeface="+mj-lt"/>
              </a:rPr>
              <a:t>.</a:t>
            </a:r>
          </a:p>
          <a:p>
            <a:pPr>
              <a:buNone/>
            </a:pPr>
            <a:r>
              <a:rPr lang="en-US" sz="1400" dirty="0">
                <a:latin typeface="+mj-lt"/>
              </a:rPr>
              <a:t>In LLMs, the model predicts </a:t>
            </a:r>
            <a:r>
              <a:rPr lang="en-US" sz="1400" b="1" dirty="0">
                <a:latin typeface="+mj-lt"/>
              </a:rPr>
              <a:t>the most likely next word in a sentence</a:t>
            </a:r>
            <a:r>
              <a:rPr lang="en-US" sz="1400" dirty="0">
                <a:latin typeface="+mj-lt"/>
              </a:rPr>
              <a:t>.</a:t>
            </a:r>
          </a:p>
          <a:p>
            <a:pPr>
              <a:buNone/>
            </a:pPr>
            <a:r>
              <a:rPr lang="en-US" sz="1400" dirty="0">
                <a:latin typeface="+mj-lt"/>
              </a:rPr>
              <a:t>Example:</a:t>
            </a:r>
          </a:p>
          <a:p>
            <a:pPr>
              <a:buNone/>
            </a:pPr>
            <a:r>
              <a:rPr lang="en-US" sz="1400" dirty="0">
                <a:latin typeface="+mj-lt"/>
              </a:rPr>
              <a:t>Input:</a:t>
            </a:r>
          </a:p>
          <a:p>
            <a:pPr rtl="0">
              <a:buNone/>
            </a:pPr>
            <a:r>
              <a:rPr lang="en-US" sz="1400" dirty="0">
                <a:latin typeface="+mj-lt"/>
              </a:rPr>
              <a:t>Artificial Intelligence is</a:t>
            </a:r>
          </a:p>
          <a:p>
            <a:pPr>
              <a:buNone/>
            </a:pPr>
            <a:r>
              <a:rPr lang="en-US" sz="1400" dirty="0">
                <a:latin typeface="+mj-lt"/>
              </a:rPr>
              <a:t>The model predicts:</a:t>
            </a:r>
          </a:p>
          <a:p>
            <a:pPr rtl="0">
              <a:buNone/>
            </a:pPr>
            <a:r>
              <a:rPr lang="en-US" sz="1400" dirty="0">
                <a:latin typeface="+mj-lt"/>
              </a:rPr>
              <a:t>changing the world.</a:t>
            </a:r>
          </a:p>
        </p:txBody>
      </p:sp>
    </p:spTree>
    <p:extLst>
      <p:ext uri="{BB962C8B-B14F-4D97-AF65-F5344CB8AC3E}">
        <p14:creationId xmlns:p14="http://schemas.microsoft.com/office/powerpoint/2010/main" val="1791602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84C52-A742-6154-0451-F08EF694E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8163A-8C7A-2596-2402-F01BA5FF166A}"/>
              </a:ext>
            </a:extLst>
          </p:cNvPr>
          <p:cNvSpPr>
            <a:spLocks noGrp="1"/>
          </p:cNvSpPr>
          <p:nvPr>
            <p:ph type="title"/>
          </p:nvPr>
        </p:nvSpPr>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10" name="Content Placeholder 9">
            <a:extLst>
              <a:ext uri="{FF2B5EF4-FFF2-40B4-BE49-F238E27FC236}">
                <a16:creationId xmlns:a16="http://schemas.microsoft.com/office/drawing/2014/main" id="{CD8D9DCE-4F43-DA17-300D-F491E1627F80}"/>
              </a:ext>
            </a:extLst>
          </p:cNvPr>
          <p:cNvSpPr>
            <a:spLocks noGrp="1"/>
          </p:cNvSpPr>
          <p:nvPr>
            <p:ph idx="1"/>
          </p:nvPr>
        </p:nvSpPr>
        <p:spPr>
          <a:xfrm>
            <a:off x="582741" y="1348665"/>
            <a:ext cx="8596668" cy="3880773"/>
          </a:xfrm>
        </p:spPr>
        <p:txBody>
          <a:bodyPr>
            <a:normAutofit/>
          </a:bodyPr>
          <a:lstStyle/>
          <a:p>
            <a:pPr marL="0" indent="0">
              <a:buNone/>
            </a:pPr>
            <a:r>
              <a:rPr lang="en-IN" sz="1400" dirty="0">
                <a:solidFill>
                  <a:srgbClr val="FF0000"/>
                </a:solidFill>
              </a:rPr>
              <a:t>Types of Language Models</a:t>
            </a:r>
          </a:p>
          <a:p>
            <a:r>
              <a:rPr lang="en-IN" sz="1400" dirty="0"/>
              <a:t>LLM’s and SLM’s</a:t>
            </a:r>
          </a:p>
          <a:p>
            <a:r>
              <a:rPr lang="en-IN" sz="1400" dirty="0"/>
              <a:t>LLM’s - </a:t>
            </a:r>
            <a:r>
              <a:rPr lang="en-US" sz="1400" dirty="0"/>
              <a:t>Based on the generative pre-trained transformer deep learning model, </a:t>
            </a:r>
            <a:r>
              <a:rPr lang="en-IN" sz="1400" dirty="0"/>
              <a:t>LLM’s</a:t>
            </a:r>
            <a:r>
              <a:rPr lang="en-US" sz="1400" dirty="0"/>
              <a:t> are trained on very large datasets, including books, articles, and websites</a:t>
            </a:r>
          </a:p>
          <a:p>
            <a:r>
              <a:rPr lang="en-IN" sz="1400" dirty="0"/>
              <a:t>LLM’s</a:t>
            </a:r>
            <a:r>
              <a:rPr lang="en-US" sz="1400" dirty="0"/>
              <a:t> can handle language nuances as well as generate coherent content. </a:t>
            </a:r>
          </a:p>
          <a:p>
            <a:r>
              <a:rPr lang="en-US" sz="1400" dirty="0"/>
              <a:t>Small language models (SLMs) are compact models with fewer parameters compared to large language models</a:t>
            </a:r>
          </a:p>
          <a:p>
            <a:r>
              <a:rPr lang="en-US" sz="1400" dirty="0"/>
              <a:t>Designed to provide lightweight and focused GenAI solutions</a:t>
            </a:r>
            <a:endParaRPr lang="en-IN" sz="1400" dirty="0"/>
          </a:p>
        </p:txBody>
      </p:sp>
    </p:spTree>
    <p:extLst>
      <p:ext uri="{BB962C8B-B14F-4D97-AF65-F5344CB8AC3E}">
        <p14:creationId xmlns:p14="http://schemas.microsoft.com/office/powerpoint/2010/main" val="37237118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C1F96-1024-8422-6DBE-F8B35F7CEE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C6A34-2EA9-3B6F-E51B-3F592DCDF456}"/>
              </a:ext>
            </a:extLst>
          </p:cNvPr>
          <p:cNvSpPr>
            <a:spLocks noGrp="1"/>
          </p:cNvSpPr>
          <p:nvPr>
            <p:ph type="title"/>
          </p:nvPr>
        </p:nvSpPr>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10" name="Content Placeholder 9">
            <a:extLst>
              <a:ext uri="{FF2B5EF4-FFF2-40B4-BE49-F238E27FC236}">
                <a16:creationId xmlns:a16="http://schemas.microsoft.com/office/drawing/2014/main" id="{79625851-379F-09E2-3C28-4DAE2C97CEB4}"/>
              </a:ext>
            </a:extLst>
          </p:cNvPr>
          <p:cNvSpPr>
            <a:spLocks noGrp="1"/>
          </p:cNvSpPr>
          <p:nvPr>
            <p:ph idx="1"/>
          </p:nvPr>
        </p:nvSpPr>
        <p:spPr>
          <a:xfrm>
            <a:off x="677334" y="1332899"/>
            <a:ext cx="8596668" cy="3880773"/>
          </a:xfrm>
        </p:spPr>
        <p:txBody>
          <a:bodyPr>
            <a:normAutofit lnSpcReduction="10000"/>
          </a:bodyPr>
          <a:lstStyle/>
          <a:p>
            <a:pPr marL="0" indent="0">
              <a:buNone/>
            </a:pPr>
            <a:r>
              <a:rPr lang="en-IN" sz="1400" dirty="0">
                <a:solidFill>
                  <a:srgbClr val="FF0000"/>
                </a:solidFill>
              </a:rPr>
              <a:t>Examples of LLMs and SLMs</a:t>
            </a:r>
          </a:p>
          <a:p>
            <a:pPr marL="0" indent="0">
              <a:buNone/>
            </a:pPr>
            <a:r>
              <a:rPr lang="en-IN" sz="1400" dirty="0"/>
              <a:t>LLMs</a:t>
            </a:r>
          </a:p>
          <a:p>
            <a:pPr>
              <a:buAutoNum type="arabicPeriod"/>
            </a:pPr>
            <a:r>
              <a:rPr lang="en-IN" sz="1400" dirty="0"/>
              <a:t>GPT Series</a:t>
            </a:r>
          </a:p>
          <a:p>
            <a:pPr>
              <a:buAutoNum type="arabicPeriod"/>
            </a:pPr>
            <a:r>
              <a:rPr lang="en-IN" sz="1400" dirty="0" err="1"/>
              <a:t>LLaMA</a:t>
            </a:r>
            <a:endParaRPr lang="en-IN" sz="1400" dirty="0"/>
          </a:p>
          <a:p>
            <a:pPr>
              <a:buAutoNum type="arabicPeriod"/>
            </a:pPr>
            <a:r>
              <a:rPr lang="en-IN" sz="1400" dirty="0"/>
              <a:t>Claude</a:t>
            </a:r>
          </a:p>
          <a:p>
            <a:pPr>
              <a:buAutoNum type="arabicPeriod"/>
            </a:pPr>
            <a:r>
              <a:rPr lang="en-IN" sz="1400" dirty="0"/>
              <a:t>Gemini</a:t>
            </a:r>
          </a:p>
          <a:p>
            <a:pPr>
              <a:buAutoNum type="arabicPeriod"/>
            </a:pPr>
            <a:endParaRPr lang="en-IN" sz="1400" dirty="0"/>
          </a:p>
          <a:p>
            <a:pPr marL="0" indent="0">
              <a:buNone/>
            </a:pPr>
            <a:r>
              <a:rPr lang="en-IN" sz="1400" dirty="0"/>
              <a:t>SLMs</a:t>
            </a:r>
          </a:p>
          <a:p>
            <a:pPr>
              <a:buAutoNum type="arabicPeriod"/>
            </a:pPr>
            <a:r>
              <a:rPr lang="en-IN" sz="1400" dirty="0"/>
              <a:t>Phi models</a:t>
            </a:r>
          </a:p>
          <a:p>
            <a:pPr>
              <a:buAutoNum type="arabicPeriod"/>
            </a:pPr>
            <a:r>
              <a:rPr lang="en-IN" sz="1400" dirty="0" err="1"/>
              <a:t>DistilBERT</a:t>
            </a:r>
            <a:endParaRPr lang="en-IN" sz="1400" dirty="0"/>
          </a:p>
          <a:p>
            <a:pPr>
              <a:buAutoNum type="arabicPeriod"/>
            </a:pPr>
            <a:r>
              <a:rPr lang="en-IN" sz="1400" dirty="0" err="1"/>
              <a:t>TinyLLaMA</a:t>
            </a:r>
            <a:endParaRPr lang="en-IN" sz="1400" dirty="0"/>
          </a:p>
          <a:p>
            <a:pPr>
              <a:buAutoNum type="arabicPeriod"/>
            </a:pPr>
            <a:r>
              <a:rPr lang="en-IN" sz="1400" dirty="0"/>
              <a:t>Mobile AI models – Gemma , </a:t>
            </a:r>
            <a:r>
              <a:rPr lang="en-IN" sz="1400" dirty="0" err="1"/>
              <a:t>MiniLM</a:t>
            </a:r>
            <a:endParaRPr lang="en-IN" sz="1400" dirty="0"/>
          </a:p>
          <a:p>
            <a:pPr>
              <a:buAutoNum type="arabicPeriod"/>
            </a:pPr>
            <a:endParaRPr lang="en-IN" sz="1400" dirty="0"/>
          </a:p>
        </p:txBody>
      </p:sp>
    </p:spTree>
    <p:extLst>
      <p:ext uri="{BB962C8B-B14F-4D97-AF65-F5344CB8AC3E}">
        <p14:creationId xmlns:p14="http://schemas.microsoft.com/office/powerpoint/2010/main" val="397509358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F854C-E83D-50E1-5439-A7C95D45F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9E999-DB69-A536-F8D9-CF6199A5D82F}"/>
              </a:ext>
            </a:extLst>
          </p:cNvPr>
          <p:cNvSpPr>
            <a:spLocks noGrp="1"/>
          </p:cNvSpPr>
          <p:nvPr>
            <p:ph type="title"/>
          </p:nvPr>
        </p:nvSpPr>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10" name="Content Placeholder 9">
            <a:extLst>
              <a:ext uri="{FF2B5EF4-FFF2-40B4-BE49-F238E27FC236}">
                <a16:creationId xmlns:a16="http://schemas.microsoft.com/office/drawing/2014/main" id="{ECFB0DD3-622B-8920-04BB-58ECD757C531}"/>
              </a:ext>
            </a:extLst>
          </p:cNvPr>
          <p:cNvSpPr>
            <a:spLocks noGrp="1"/>
          </p:cNvSpPr>
          <p:nvPr>
            <p:ph idx="1"/>
          </p:nvPr>
        </p:nvSpPr>
        <p:spPr>
          <a:xfrm>
            <a:off x="677334" y="1332899"/>
            <a:ext cx="8596668" cy="511667"/>
          </a:xfrm>
        </p:spPr>
        <p:txBody>
          <a:bodyPr>
            <a:normAutofit/>
          </a:bodyPr>
          <a:lstStyle/>
          <a:p>
            <a:pPr marL="0" indent="0">
              <a:buNone/>
            </a:pPr>
            <a:r>
              <a:rPr lang="en-IN" sz="1400" b="1" dirty="0">
                <a:solidFill>
                  <a:srgbClr val="FF0000"/>
                </a:solidFill>
              </a:rPr>
              <a:t>How LLM.s process and Generate Content</a:t>
            </a:r>
          </a:p>
          <a:p>
            <a:pPr>
              <a:buAutoNum type="arabicPeriod"/>
            </a:pPr>
            <a:endParaRPr lang="en-IN" sz="1400" b="1" dirty="0"/>
          </a:p>
        </p:txBody>
      </p:sp>
      <p:sp>
        <p:nvSpPr>
          <p:cNvPr id="3" name="Rectangle: Rounded Corners 2">
            <a:extLst>
              <a:ext uri="{FF2B5EF4-FFF2-40B4-BE49-F238E27FC236}">
                <a16:creationId xmlns:a16="http://schemas.microsoft.com/office/drawing/2014/main" id="{537C2C3F-BA19-6BC1-7ED8-A8539F992E3A}"/>
              </a:ext>
            </a:extLst>
          </p:cNvPr>
          <p:cNvSpPr/>
          <p:nvPr/>
        </p:nvSpPr>
        <p:spPr>
          <a:xfrm>
            <a:off x="677334" y="2333297"/>
            <a:ext cx="2546131" cy="11508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Tokenization</a:t>
            </a:r>
          </a:p>
        </p:txBody>
      </p:sp>
      <p:sp>
        <p:nvSpPr>
          <p:cNvPr id="5" name="Rectangle: Rounded Corners 4">
            <a:extLst>
              <a:ext uri="{FF2B5EF4-FFF2-40B4-BE49-F238E27FC236}">
                <a16:creationId xmlns:a16="http://schemas.microsoft.com/office/drawing/2014/main" id="{C52E3956-F668-2F7A-5A5E-77F08FBA68AB}"/>
              </a:ext>
            </a:extLst>
          </p:cNvPr>
          <p:cNvSpPr/>
          <p:nvPr/>
        </p:nvSpPr>
        <p:spPr>
          <a:xfrm>
            <a:off x="3917731" y="2333297"/>
            <a:ext cx="2490951" cy="11508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Embedding</a:t>
            </a:r>
          </a:p>
        </p:txBody>
      </p:sp>
      <p:sp>
        <p:nvSpPr>
          <p:cNvPr id="6" name="Rectangle: Rounded Corners 5">
            <a:extLst>
              <a:ext uri="{FF2B5EF4-FFF2-40B4-BE49-F238E27FC236}">
                <a16:creationId xmlns:a16="http://schemas.microsoft.com/office/drawing/2014/main" id="{82B0AFDF-41C6-3908-F6B4-7E6A44C36125}"/>
              </a:ext>
            </a:extLst>
          </p:cNvPr>
          <p:cNvSpPr/>
          <p:nvPr/>
        </p:nvSpPr>
        <p:spPr>
          <a:xfrm>
            <a:off x="7102948" y="2333297"/>
            <a:ext cx="2490951" cy="11508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Transformer Architecture</a:t>
            </a:r>
          </a:p>
        </p:txBody>
      </p:sp>
      <p:cxnSp>
        <p:nvCxnSpPr>
          <p:cNvPr id="8" name="Straight Arrow Connector 7">
            <a:extLst>
              <a:ext uri="{FF2B5EF4-FFF2-40B4-BE49-F238E27FC236}">
                <a16:creationId xmlns:a16="http://schemas.microsoft.com/office/drawing/2014/main" id="{F3088092-8B71-E505-E04E-8A47802E5753}"/>
              </a:ext>
            </a:extLst>
          </p:cNvPr>
          <p:cNvCxnSpPr>
            <a:stCxn id="3" idx="3"/>
            <a:endCxn id="5" idx="1"/>
          </p:cNvCxnSpPr>
          <p:nvPr/>
        </p:nvCxnSpPr>
        <p:spPr>
          <a:xfrm>
            <a:off x="3223465" y="2908738"/>
            <a:ext cx="6942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4510A3-8488-D3BA-233D-076E948817C8}"/>
              </a:ext>
            </a:extLst>
          </p:cNvPr>
          <p:cNvCxnSpPr/>
          <p:nvPr/>
        </p:nvCxnSpPr>
        <p:spPr>
          <a:xfrm>
            <a:off x="6408682" y="2908738"/>
            <a:ext cx="6942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77211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FDF8D-FDD7-A89D-2C03-672F6F38A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B9365-D08D-AB5E-B9EB-AB66FEEEB7FD}"/>
              </a:ext>
            </a:extLst>
          </p:cNvPr>
          <p:cNvSpPr>
            <a:spLocks noGrp="1"/>
          </p:cNvSpPr>
          <p:nvPr>
            <p:ph type="title"/>
          </p:nvPr>
        </p:nvSpPr>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10" name="Content Placeholder 9">
            <a:extLst>
              <a:ext uri="{FF2B5EF4-FFF2-40B4-BE49-F238E27FC236}">
                <a16:creationId xmlns:a16="http://schemas.microsoft.com/office/drawing/2014/main" id="{BE5182FD-29B3-A43C-ECED-3A42CB35C32E}"/>
              </a:ext>
            </a:extLst>
          </p:cNvPr>
          <p:cNvSpPr>
            <a:spLocks noGrp="1"/>
          </p:cNvSpPr>
          <p:nvPr>
            <p:ph idx="1"/>
          </p:nvPr>
        </p:nvSpPr>
        <p:spPr>
          <a:xfrm>
            <a:off x="677334" y="1332899"/>
            <a:ext cx="8596668" cy="4915501"/>
          </a:xfrm>
        </p:spPr>
        <p:txBody>
          <a:bodyPr>
            <a:normAutofit/>
          </a:bodyPr>
          <a:lstStyle/>
          <a:p>
            <a:pPr marL="0" indent="0">
              <a:buNone/>
            </a:pPr>
            <a:r>
              <a:rPr lang="en-IN" sz="1400" b="1" dirty="0">
                <a:solidFill>
                  <a:srgbClr val="FF0000"/>
                </a:solidFill>
              </a:rPr>
              <a:t>How LLM.s process and Generate Content</a:t>
            </a:r>
          </a:p>
          <a:p>
            <a:pPr marL="0" indent="0">
              <a:buNone/>
            </a:pPr>
            <a:r>
              <a:rPr lang="en-IN" sz="1400" b="1" dirty="0">
                <a:solidFill>
                  <a:srgbClr val="FF0000"/>
                </a:solidFill>
              </a:rPr>
              <a:t>Tokenization</a:t>
            </a:r>
          </a:p>
          <a:p>
            <a:pPr>
              <a:buFont typeface="Wingdings" panose="05000000000000000000" pitchFamily="2" charset="2"/>
              <a:buChar char="Ø"/>
            </a:pPr>
            <a:r>
              <a:rPr lang="en-US" sz="1400" dirty="0"/>
              <a:t>Tokenization in language models is the process of breaking down text into smaller units called tokens.</a:t>
            </a:r>
          </a:p>
          <a:p>
            <a:pPr>
              <a:buFont typeface="Wingdings" panose="05000000000000000000" pitchFamily="2" charset="2"/>
              <a:buChar char="Ø"/>
            </a:pPr>
            <a:r>
              <a:rPr lang="en-US" sz="1400" dirty="0"/>
              <a:t> Tokens can be as small as a character or as large as a sub-word or word. </a:t>
            </a:r>
          </a:p>
          <a:p>
            <a:pPr>
              <a:buFont typeface="Wingdings" panose="05000000000000000000" pitchFamily="2" charset="2"/>
              <a:buChar char="Ø"/>
            </a:pPr>
            <a:r>
              <a:rPr lang="en-US" sz="1400" dirty="0"/>
              <a:t>When an LLM processes a sentence, it first tokenizes the input so that each token can be understood individually, while maintaining the overall context</a:t>
            </a:r>
          </a:p>
          <a:p>
            <a:pPr marL="0" indent="0">
              <a:buNone/>
            </a:pPr>
            <a:r>
              <a:rPr lang="en-US" sz="1400" b="1" dirty="0">
                <a:solidFill>
                  <a:srgbClr val="FF0000"/>
                </a:solidFill>
              </a:rPr>
              <a:t>Embeddings</a:t>
            </a:r>
          </a:p>
          <a:p>
            <a:pPr>
              <a:buFont typeface="Wingdings" panose="05000000000000000000" pitchFamily="2" charset="2"/>
              <a:buChar char="Ø"/>
            </a:pPr>
            <a:r>
              <a:rPr lang="en-US" sz="1400" dirty="0"/>
              <a:t>Embeddings are numerical representations of tokens that encode their semantic, syntactic, and contextual relationships in a format suitable for processing by generative AI models</a:t>
            </a:r>
          </a:p>
          <a:p>
            <a:pPr>
              <a:buFont typeface="Wingdings" panose="05000000000000000000" pitchFamily="2" charset="2"/>
              <a:buChar char="Ø"/>
            </a:pPr>
            <a:r>
              <a:rPr lang="en-US" sz="1400" dirty="0"/>
              <a:t>Each token is transformed into a vector in a high-dimensional space, capturing nuanced information about its meaning and usage. </a:t>
            </a:r>
          </a:p>
          <a:p>
            <a:pPr>
              <a:buFont typeface="Wingdings" panose="05000000000000000000" pitchFamily="2" charset="2"/>
              <a:buChar char="Ø"/>
            </a:pPr>
            <a:r>
              <a:rPr lang="en-US" sz="1400" dirty="0"/>
              <a:t>Tokens with similar meanings or contextual roles have embeddings that are positioned closely together in this space. </a:t>
            </a:r>
            <a:br>
              <a:rPr lang="en-US" sz="1400" dirty="0"/>
            </a:br>
            <a:endParaRPr lang="en-US" sz="1400" dirty="0"/>
          </a:p>
          <a:p>
            <a:pPr>
              <a:buFont typeface="Wingdings" panose="05000000000000000000" pitchFamily="2" charset="2"/>
              <a:buChar char="Ø"/>
            </a:pPr>
            <a:r>
              <a:rPr lang="en-US" sz="1400" dirty="0"/>
              <a:t>This proximity enables LLMs to understand word relationships, retain context, and generate coherent and contextually appropriate responses.</a:t>
            </a:r>
            <a:endParaRPr lang="en-IN" sz="1400" b="1" dirty="0">
              <a:solidFill>
                <a:srgbClr val="FF0000"/>
              </a:solidFill>
            </a:endParaRPr>
          </a:p>
          <a:p>
            <a:pPr>
              <a:buAutoNum type="arabicPeriod"/>
            </a:pPr>
            <a:endParaRPr lang="en-IN" sz="1400" b="1" dirty="0"/>
          </a:p>
        </p:txBody>
      </p:sp>
    </p:spTree>
    <p:extLst>
      <p:ext uri="{BB962C8B-B14F-4D97-AF65-F5344CB8AC3E}">
        <p14:creationId xmlns:p14="http://schemas.microsoft.com/office/powerpoint/2010/main" val="11521270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B689F-566A-9FDE-5729-3C2DB6384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D3F84-E01B-9CDF-105A-2D900D97DB62}"/>
              </a:ext>
            </a:extLst>
          </p:cNvPr>
          <p:cNvSpPr>
            <a:spLocks noGrp="1"/>
          </p:cNvSpPr>
          <p:nvPr>
            <p:ph type="title"/>
          </p:nvPr>
        </p:nvSpPr>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10" name="Content Placeholder 9">
            <a:extLst>
              <a:ext uri="{FF2B5EF4-FFF2-40B4-BE49-F238E27FC236}">
                <a16:creationId xmlns:a16="http://schemas.microsoft.com/office/drawing/2014/main" id="{F19E7087-2A62-0157-1B24-414E897ECF21}"/>
              </a:ext>
            </a:extLst>
          </p:cNvPr>
          <p:cNvSpPr>
            <a:spLocks noGrp="1"/>
          </p:cNvSpPr>
          <p:nvPr>
            <p:ph idx="1"/>
          </p:nvPr>
        </p:nvSpPr>
        <p:spPr>
          <a:xfrm>
            <a:off x="677334" y="1332899"/>
            <a:ext cx="5297797" cy="4915501"/>
          </a:xfrm>
        </p:spPr>
        <p:txBody>
          <a:bodyPr>
            <a:normAutofit/>
          </a:bodyPr>
          <a:lstStyle/>
          <a:p>
            <a:pPr marL="0" indent="0">
              <a:buNone/>
            </a:pPr>
            <a:r>
              <a:rPr lang="en-US" sz="1400" b="1" dirty="0">
                <a:solidFill>
                  <a:srgbClr val="FF0000"/>
                </a:solidFill>
              </a:rPr>
              <a:t>Why Embeddings Are Needed</a:t>
            </a:r>
          </a:p>
          <a:p>
            <a:r>
              <a:rPr lang="en-US" sz="1400" dirty="0"/>
              <a:t>Computers process data mathematically, but text is made of </a:t>
            </a:r>
            <a:r>
              <a:rPr lang="en-US" sz="1400" b="1" dirty="0"/>
              <a:t>words and sentences</a:t>
            </a:r>
            <a:r>
              <a:rPr lang="en-US" sz="1400" dirty="0"/>
              <a:t>.</a:t>
            </a:r>
          </a:p>
          <a:p>
            <a:r>
              <a:rPr lang="en-US" sz="1400" dirty="0"/>
              <a:t>So the system converts text like:</a:t>
            </a:r>
          </a:p>
          <a:p>
            <a:r>
              <a:rPr lang="en-US" sz="1400" dirty="0"/>
              <a:t>dog</a:t>
            </a:r>
          </a:p>
          <a:p>
            <a:r>
              <a:rPr lang="en-US" sz="1400" dirty="0"/>
              <a:t>into a </a:t>
            </a:r>
            <a:r>
              <a:rPr lang="en-US" sz="1400" b="1" dirty="0"/>
              <a:t>vector of numbers</a:t>
            </a:r>
            <a:r>
              <a:rPr lang="en-US" sz="1400" dirty="0"/>
              <a:t> such as:</a:t>
            </a:r>
          </a:p>
          <a:p>
            <a:r>
              <a:rPr lang="en-US" sz="1400" dirty="0"/>
              <a:t>[0.21, -0.45, 0.88, 0.12]</a:t>
            </a:r>
          </a:p>
          <a:p>
            <a:r>
              <a:rPr lang="en-US" sz="1400" dirty="0"/>
              <a:t>This numeric representation is called an </a:t>
            </a:r>
            <a:r>
              <a:rPr lang="en-US" sz="1400" b="1" dirty="0"/>
              <a:t>embedding</a:t>
            </a:r>
            <a:r>
              <a:rPr lang="en-US" sz="1400" dirty="0"/>
              <a:t>.</a:t>
            </a:r>
          </a:p>
          <a:p>
            <a:r>
              <a:rPr lang="en-US" sz="1400" b="1" dirty="0"/>
              <a:t>Simple Example</a:t>
            </a:r>
          </a:p>
          <a:p>
            <a:r>
              <a:rPr lang="en-US" sz="1400" dirty="0"/>
              <a:t>Suppose we have three words:</a:t>
            </a:r>
          </a:p>
          <a:p>
            <a:r>
              <a:rPr lang="en-US" sz="1400" dirty="0"/>
              <a:t>Dog</a:t>
            </a:r>
          </a:p>
          <a:p>
            <a:r>
              <a:rPr lang="en-US" sz="1400" dirty="0"/>
              <a:t>Cat</a:t>
            </a:r>
          </a:p>
          <a:p>
            <a:r>
              <a:rPr lang="en-US" sz="1400" dirty="0"/>
              <a:t>Car</a:t>
            </a:r>
          </a:p>
          <a:p>
            <a:r>
              <a:rPr lang="en-US" sz="1400" dirty="0"/>
              <a:t>After converting them into embeddings:</a:t>
            </a:r>
          </a:p>
          <a:p>
            <a:endParaRPr lang="en-US" sz="1400" dirty="0"/>
          </a:p>
          <a:p>
            <a:pPr>
              <a:buAutoNum type="arabicPeriod"/>
            </a:pPr>
            <a:endParaRPr lang="en-IN" sz="1400" b="1" dirty="0"/>
          </a:p>
        </p:txBody>
      </p:sp>
      <p:pic>
        <p:nvPicPr>
          <p:cNvPr id="6" name="Picture 5">
            <a:extLst>
              <a:ext uri="{FF2B5EF4-FFF2-40B4-BE49-F238E27FC236}">
                <a16:creationId xmlns:a16="http://schemas.microsoft.com/office/drawing/2014/main" id="{92F5223F-95BE-290A-C347-A14FDEE06CB7}"/>
              </a:ext>
            </a:extLst>
          </p:cNvPr>
          <p:cNvPicPr>
            <a:picLocks noChangeAspect="1"/>
          </p:cNvPicPr>
          <p:nvPr/>
        </p:nvPicPr>
        <p:blipFill>
          <a:blip r:embed="rId2"/>
          <a:stretch>
            <a:fillRect/>
          </a:stretch>
        </p:blipFill>
        <p:spPr>
          <a:xfrm>
            <a:off x="5459437" y="2050549"/>
            <a:ext cx="4132427" cy="3766927"/>
          </a:xfrm>
          <a:prstGeom prst="rect">
            <a:avLst/>
          </a:prstGeom>
        </p:spPr>
      </p:pic>
    </p:spTree>
    <p:extLst>
      <p:ext uri="{BB962C8B-B14F-4D97-AF65-F5344CB8AC3E}">
        <p14:creationId xmlns:p14="http://schemas.microsoft.com/office/powerpoint/2010/main" val="21513468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41372-A361-A3DB-375C-2F1DBFD4F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B125B0-5FEF-F4E2-596F-427F8D990211}"/>
              </a:ext>
            </a:extLst>
          </p:cNvPr>
          <p:cNvSpPr>
            <a:spLocks noGrp="1"/>
          </p:cNvSpPr>
          <p:nvPr>
            <p:ph type="title"/>
          </p:nvPr>
        </p:nvSpPr>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10" name="Content Placeholder 9">
            <a:extLst>
              <a:ext uri="{FF2B5EF4-FFF2-40B4-BE49-F238E27FC236}">
                <a16:creationId xmlns:a16="http://schemas.microsoft.com/office/drawing/2014/main" id="{12167148-682B-55A3-92F5-732ADA7BF822}"/>
              </a:ext>
            </a:extLst>
          </p:cNvPr>
          <p:cNvSpPr>
            <a:spLocks noGrp="1"/>
          </p:cNvSpPr>
          <p:nvPr>
            <p:ph idx="1"/>
          </p:nvPr>
        </p:nvSpPr>
        <p:spPr>
          <a:xfrm>
            <a:off x="677334" y="1332899"/>
            <a:ext cx="8813507" cy="4915501"/>
          </a:xfrm>
        </p:spPr>
        <p:txBody>
          <a:bodyPr>
            <a:normAutofit/>
          </a:bodyPr>
          <a:lstStyle/>
          <a:p>
            <a:pPr marL="0" indent="0">
              <a:buNone/>
            </a:pPr>
            <a:r>
              <a:rPr lang="en-IN" sz="1400" b="1" dirty="0">
                <a:solidFill>
                  <a:srgbClr val="FF0000"/>
                </a:solidFill>
              </a:rPr>
              <a:t>Transformer Architecture</a:t>
            </a:r>
          </a:p>
          <a:p>
            <a:pPr>
              <a:buFont typeface="Wingdings" panose="05000000000000000000" pitchFamily="2" charset="2"/>
              <a:buChar char="Ø"/>
            </a:pPr>
            <a:r>
              <a:rPr lang="en-US" sz="1400" dirty="0"/>
              <a:t>LLMs utilize a neural network architecture known as the transformer model. </a:t>
            </a:r>
          </a:p>
          <a:p>
            <a:pPr>
              <a:buFont typeface="Wingdings" panose="05000000000000000000" pitchFamily="2" charset="2"/>
              <a:buChar char="Ø"/>
            </a:pPr>
            <a:r>
              <a:rPr lang="en-US" sz="1400" dirty="0"/>
              <a:t>Transformer models excel in language tasks by processing the context of extensive text sequences and learning how tokens relate to each other. </a:t>
            </a:r>
          </a:p>
          <a:p>
            <a:pPr>
              <a:buFont typeface="Wingdings" panose="05000000000000000000" pitchFamily="2" charset="2"/>
              <a:buChar char="Ø"/>
            </a:pPr>
            <a:r>
              <a:rPr lang="en-US" sz="1400" dirty="0"/>
              <a:t>LLMs predict the next token in a sequence, leveraging these learned relationships to generate coherent and contextually appropriate text. </a:t>
            </a:r>
          </a:p>
          <a:p>
            <a:pPr>
              <a:buFont typeface="Wingdings" panose="05000000000000000000" pitchFamily="2" charset="2"/>
              <a:buChar char="Ø"/>
            </a:pPr>
            <a:r>
              <a:rPr lang="en-US" sz="1400" dirty="0"/>
              <a:t>The transformer model can be used to generate new text that is statistically plausible, based on training data and the prompt. </a:t>
            </a:r>
          </a:p>
        </p:txBody>
      </p:sp>
    </p:spTree>
    <p:extLst>
      <p:ext uri="{BB962C8B-B14F-4D97-AF65-F5344CB8AC3E}">
        <p14:creationId xmlns:p14="http://schemas.microsoft.com/office/powerpoint/2010/main" val="33969655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FD7D8-E757-58C8-DD3A-3DA0E07F9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BC5BE-2443-4994-38FE-0566209F1462}"/>
              </a:ext>
            </a:extLst>
          </p:cNvPr>
          <p:cNvSpPr>
            <a:spLocks noGrp="1"/>
          </p:cNvSpPr>
          <p:nvPr>
            <p:ph type="title"/>
          </p:nvPr>
        </p:nvSpPr>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10" name="Content Placeholder 9">
            <a:extLst>
              <a:ext uri="{FF2B5EF4-FFF2-40B4-BE49-F238E27FC236}">
                <a16:creationId xmlns:a16="http://schemas.microsoft.com/office/drawing/2014/main" id="{BD33C3B6-119B-9561-8648-39E00F016CF9}"/>
              </a:ext>
            </a:extLst>
          </p:cNvPr>
          <p:cNvSpPr>
            <a:spLocks noGrp="1"/>
          </p:cNvSpPr>
          <p:nvPr>
            <p:ph idx="1"/>
          </p:nvPr>
        </p:nvSpPr>
        <p:spPr>
          <a:xfrm>
            <a:off x="677334" y="1332899"/>
            <a:ext cx="8813507" cy="5596046"/>
          </a:xfrm>
        </p:spPr>
        <p:txBody>
          <a:bodyPr>
            <a:normAutofit/>
          </a:bodyPr>
          <a:lstStyle/>
          <a:p>
            <a:pPr marL="0" indent="0">
              <a:buNone/>
            </a:pPr>
            <a:r>
              <a:rPr lang="en-US" sz="1400" b="1" dirty="0">
                <a:solidFill>
                  <a:srgbClr val="FF0000"/>
                </a:solidFill>
              </a:rPr>
              <a:t>Key Behavior of LLM’s</a:t>
            </a:r>
          </a:p>
          <a:p>
            <a:pPr marL="0" indent="0">
              <a:buNone/>
            </a:pPr>
            <a:r>
              <a:rPr lang="en-US" sz="1400" b="1" dirty="0">
                <a:solidFill>
                  <a:srgbClr val="FF0000"/>
                </a:solidFill>
              </a:rPr>
              <a:t>Non-deterministic behavior </a:t>
            </a:r>
          </a:p>
          <a:p>
            <a:pPr>
              <a:buFont typeface="Wingdings" panose="05000000000000000000" pitchFamily="2" charset="2"/>
              <a:buChar char="Ø"/>
            </a:pPr>
            <a:r>
              <a:rPr lang="en-US" sz="1400" dirty="0"/>
              <a:t>Primarily due to the probabilistic nature of their inference mechanisms and hyper-parameter settings. </a:t>
            </a:r>
          </a:p>
          <a:p>
            <a:pPr>
              <a:buFont typeface="Wingdings" panose="05000000000000000000" pitchFamily="2" charset="2"/>
              <a:buChar char="Ø"/>
            </a:pPr>
            <a:r>
              <a:rPr lang="en-US" sz="1400" dirty="0"/>
              <a:t>This inherent randomness can lead to variations in outputs even when the same input is provided multiple times. </a:t>
            </a:r>
          </a:p>
          <a:p>
            <a:pPr>
              <a:buFont typeface="Wingdings" panose="05000000000000000000" pitchFamily="2" charset="2"/>
              <a:buChar char="Ø"/>
            </a:pPr>
            <a:r>
              <a:rPr lang="en-US" sz="1400" dirty="0"/>
              <a:t>Same input may give different answers due to randomness</a:t>
            </a:r>
          </a:p>
          <a:p>
            <a:pPr>
              <a:buFont typeface="Wingdings" panose="05000000000000000000" pitchFamily="2" charset="2"/>
              <a:buChar char="Ø"/>
            </a:pPr>
            <a:r>
              <a:rPr lang="en-US" sz="1400" dirty="0"/>
              <a:t>For example, if you prompt “What is AI”, you could get different answers every time for the same question</a:t>
            </a:r>
          </a:p>
          <a:p>
            <a:pPr marL="0" indent="0">
              <a:buNone/>
            </a:pPr>
            <a:r>
              <a:rPr lang="en-US" sz="1400" b="1" dirty="0">
                <a:solidFill>
                  <a:srgbClr val="FF0000"/>
                </a:solidFill>
              </a:rPr>
              <a:t>Context window </a:t>
            </a:r>
            <a:r>
              <a:rPr lang="en-US" sz="1400" dirty="0"/>
              <a:t> </a:t>
            </a:r>
          </a:p>
          <a:p>
            <a:pPr>
              <a:buFont typeface="Wingdings" panose="05000000000000000000" pitchFamily="2" charset="2"/>
              <a:buChar char="Ø"/>
            </a:pPr>
            <a:r>
              <a:rPr lang="en-US" sz="1400" dirty="0"/>
              <a:t>A larger context window allows the model to maintain coherence over longer passages, for example when analyzing large test logs. </a:t>
            </a:r>
          </a:p>
          <a:p>
            <a:pPr>
              <a:buFont typeface="Wingdings" panose="05000000000000000000" pitchFamily="2" charset="2"/>
              <a:buChar char="Ø"/>
            </a:pPr>
            <a:r>
              <a:rPr lang="en-US" sz="1400" dirty="0"/>
              <a:t>Defines how much text the model can “remember”</a:t>
            </a:r>
          </a:p>
          <a:p>
            <a:pPr>
              <a:buFont typeface="Wingdings" panose="05000000000000000000" pitchFamily="2" charset="2"/>
              <a:buChar char="Ø"/>
            </a:pPr>
            <a:r>
              <a:rPr lang="en-US" sz="1400" dirty="0"/>
              <a:t>Larger window = better coherence in long passages (</a:t>
            </a:r>
            <a:r>
              <a:rPr lang="en-US" sz="1400" dirty="0" err="1"/>
              <a:t>eg</a:t>
            </a:r>
            <a:r>
              <a:rPr lang="en-US" sz="1400" dirty="0"/>
              <a:t> analyzing the logs)</a:t>
            </a:r>
          </a:p>
          <a:p>
            <a:pPr>
              <a:buFont typeface="Wingdings" panose="05000000000000000000" pitchFamily="2" charset="2"/>
              <a:buChar char="Ø"/>
            </a:pPr>
            <a:r>
              <a:rPr lang="en-US" sz="1400" dirty="0"/>
              <a:t>However, increasing the number of tokens in the context window also increases the computational complexity and processing time required for the model to perform effectively.</a:t>
            </a:r>
          </a:p>
          <a:p>
            <a:pPr>
              <a:buFont typeface="Wingdings" panose="05000000000000000000" pitchFamily="2" charset="2"/>
              <a:buChar char="Ø"/>
            </a:pPr>
            <a:r>
              <a:rPr lang="en-IN" sz="1400" dirty="0">
                <a:solidFill>
                  <a:schemeClr val="tx1"/>
                </a:solidFill>
              </a:rPr>
              <a:t>Trade off of larger windows is that it uses more tokens which increases the computation cost</a:t>
            </a:r>
          </a:p>
          <a:p>
            <a:pPr>
              <a:buFont typeface="Wingdings" panose="05000000000000000000" pitchFamily="2" charset="2"/>
              <a:buChar char="Ø"/>
            </a:pPr>
            <a:endParaRPr lang="en-US" sz="1400" dirty="0"/>
          </a:p>
        </p:txBody>
      </p:sp>
    </p:spTree>
    <p:extLst>
      <p:ext uri="{BB962C8B-B14F-4D97-AF65-F5344CB8AC3E}">
        <p14:creationId xmlns:p14="http://schemas.microsoft.com/office/powerpoint/2010/main" val="334630451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19211-14BA-A47D-CD89-99E54E619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BFFCD-6317-7213-2549-4A5E1D431A24}"/>
              </a:ext>
            </a:extLst>
          </p:cNvPr>
          <p:cNvSpPr>
            <a:spLocks noGrp="1"/>
          </p:cNvSpPr>
          <p:nvPr>
            <p:ph type="title"/>
          </p:nvPr>
        </p:nvSpPr>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10" name="Content Placeholder 9">
            <a:extLst>
              <a:ext uri="{FF2B5EF4-FFF2-40B4-BE49-F238E27FC236}">
                <a16:creationId xmlns:a16="http://schemas.microsoft.com/office/drawing/2014/main" id="{D521A398-5561-F8FF-41DB-BF636E4E4299}"/>
              </a:ext>
            </a:extLst>
          </p:cNvPr>
          <p:cNvSpPr>
            <a:spLocks noGrp="1"/>
          </p:cNvSpPr>
          <p:nvPr>
            <p:ph idx="1"/>
          </p:nvPr>
        </p:nvSpPr>
        <p:spPr>
          <a:xfrm>
            <a:off x="677334" y="1332899"/>
            <a:ext cx="8813507" cy="5596046"/>
          </a:xfrm>
        </p:spPr>
        <p:txBody>
          <a:bodyPr>
            <a:normAutofit/>
          </a:bodyPr>
          <a:lstStyle/>
          <a:p>
            <a:pPr marL="0" indent="0">
              <a:buNone/>
            </a:pPr>
            <a:r>
              <a:rPr lang="en-US" sz="1400" b="1" dirty="0">
                <a:solidFill>
                  <a:srgbClr val="FF0000"/>
                </a:solidFill>
              </a:rPr>
              <a:t>Hands-On Objective HO-1.1.2 (H1): Practice Tokenization and Token Count Evaluation</a:t>
            </a:r>
          </a:p>
          <a:p>
            <a:pPr marL="0" indent="0">
              <a:buNone/>
            </a:pPr>
            <a:endParaRPr lang="en-US" sz="1400" b="1" dirty="0">
              <a:solidFill>
                <a:srgbClr val="FF0000"/>
              </a:solidFill>
            </a:endParaRPr>
          </a:p>
          <a:p>
            <a:pPr marL="0" indent="0">
              <a:buNone/>
            </a:pPr>
            <a:r>
              <a:rPr lang="en-US" sz="1400" dirty="0">
                <a:solidFill>
                  <a:schemeClr val="tx1"/>
                </a:solidFill>
              </a:rPr>
              <a:t>This hands-on activity is designed to help trainees develop a practical understanding of tokenization and</a:t>
            </a:r>
          </a:p>
          <a:p>
            <a:pPr marL="0" indent="0">
              <a:buNone/>
            </a:pPr>
            <a:r>
              <a:rPr lang="en-US" sz="1400" dirty="0">
                <a:solidFill>
                  <a:schemeClr val="tx1"/>
                </a:solidFill>
              </a:rPr>
              <a:t>its implications when working with LLMs. The exercise is divided into two key parts:</a:t>
            </a:r>
          </a:p>
          <a:p>
            <a:pPr marL="0" indent="0">
              <a:buNone/>
            </a:pPr>
            <a:endParaRPr lang="en-US" sz="1400" dirty="0">
              <a:solidFill>
                <a:schemeClr val="tx1"/>
              </a:solidFill>
            </a:endParaRPr>
          </a:p>
          <a:p>
            <a:pPr marL="0" indent="0">
              <a:buNone/>
            </a:pPr>
            <a:r>
              <a:rPr lang="en-US" sz="1400" b="1" dirty="0">
                <a:solidFill>
                  <a:srgbClr val="FF0000"/>
                </a:solidFill>
              </a:rPr>
              <a:t>Tokenization</a:t>
            </a:r>
            <a:r>
              <a:rPr lang="en-US" sz="1400" dirty="0">
                <a:solidFill>
                  <a:schemeClr val="tx1"/>
                </a:solidFill>
              </a:rPr>
              <a:t>: Use a tokenizer to break down a sample text into individual tokens. Examine the</a:t>
            </a:r>
          </a:p>
          <a:p>
            <a:pPr marL="0" indent="0">
              <a:buNone/>
            </a:pPr>
            <a:r>
              <a:rPr lang="en-US" sz="1400" dirty="0">
                <a:solidFill>
                  <a:schemeClr val="tx1"/>
                </a:solidFill>
              </a:rPr>
              <a:t>output to see how words, punctuation, and phrases are represented, and identify patterns or</a:t>
            </a:r>
          </a:p>
          <a:p>
            <a:pPr marL="0" indent="0">
              <a:buNone/>
            </a:pPr>
            <a:r>
              <a:rPr lang="en-US" sz="1400" dirty="0">
                <a:solidFill>
                  <a:schemeClr val="tx1"/>
                </a:solidFill>
              </a:rPr>
              <a:t>nuances in tokenization.</a:t>
            </a:r>
          </a:p>
          <a:p>
            <a:pPr marL="0" indent="0">
              <a:buNone/>
            </a:pPr>
            <a:r>
              <a:rPr lang="en-US" sz="1400" b="1" dirty="0">
                <a:solidFill>
                  <a:srgbClr val="FF0000"/>
                </a:solidFill>
              </a:rPr>
              <a:t>Token Count Evaluation: </a:t>
            </a:r>
            <a:r>
              <a:rPr lang="en-US" sz="1400" dirty="0">
                <a:solidFill>
                  <a:schemeClr val="tx1"/>
                </a:solidFill>
              </a:rPr>
              <a:t>Measure the number of tokens generated from various input texts.</a:t>
            </a:r>
          </a:p>
          <a:p>
            <a:pPr marL="0" indent="0">
              <a:buNone/>
            </a:pPr>
            <a:r>
              <a:rPr lang="en-US" sz="1400" dirty="0">
                <a:solidFill>
                  <a:schemeClr val="tx1"/>
                </a:solidFill>
              </a:rPr>
              <a:t>Analyze how token count influences model performance, particularly in relation to the model's</a:t>
            </a:r>
          </a:p>
          <a:p>
            <a:pPr marL="0" indent="0">
              <a:buNone/>
            </a:pPr>
            <a:r>
              <a:rPr lang="en-US" sz="1400" dirty="0">
                <a:solidFill>
                  <a:schemeClr val="tx1"/>
                </a:solidFill>
              </a:rPr>
              <a:t>context window limits and efficiency considerations.</a:t>
            </a:r>
          </a:p>
          <a:p>
            <a:pPr marL="0" indent="0">
              <a:buNone/>
            </a:pPr>
            <a:endParaRPr lang="en-US" sz="1400" dirty="0">
              <a:solidFill>
                <a:schemeClr val="tx1"/>
              </a:solidFill>
            </a:endParaRPr>
          </a:p>
          <a:p>
            <a:pPr marL="0" indent="0">
              <a:buNone/>
            </a:pPr>
            <a:r>
              <a:rPr lang="en-US" sz="1400" dirty="0">
                <a:solidFill>
                  <a:schemeClr val="tx1"/>
                </a:solidFill>
              </a:rPr>
              <a:t>By the end of this exercise, trainees will be able to better anticipate how different text structures and</a:t>
            </a:r>
          </a:p>
          <a:p>
            <a:pPr marL="0" indent="0">
              <a:buNone/>
            </a:pPr>
            <a:r>
              <a:rPr lang="en-US" sz="1400" dirty="0">
                <a:solidFill>
                  <a:schemeClr val="tx1"/>
                </a:solidFill>
              </a:rPr>
              <a:t>input lengths can affect interactions with LLMs.</a:t>
            </a:r>
          </a:p>
        </p:txBody>
      </p:sp>
    </p:spTree>
    <p:extLst>
      <p:ext uri="{BB962C8B-B14F-4D97-AF65-F5344CB8AC3E}">
        <p14:creationId xmlns:p14="http://schemas.microsoft.com/office/powerpoint/2010/main" val="39528407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B3630-F3AA-2B0E-CBEC-B271E48BA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104DA-4BAB-B610-A295-BA75D5989662}"/>
              </a:ext>
            </a:extLst>
          </p:cNvPr>
          <p:cNvSpPr>
            <a:spLocks noGrp="1"/>
          </p:cNvSpPr>
          <p:nvPr>
            <p:ph type="title"/>
          </p:nvPr>
        </p:nvSpPr>
        <p:spPr/>
        <p:txBody>
          <a:bodyPr>
            <a:normAutofit/>
          </a:bodyPr>
          <a:lstStyle/>
          <a:p>
            <a:r>
              <a:rPr lang="en-IN" sz="1600" dirty="0">
                <a:solidFill>
                  <a:srgbClr val="FF0000"/>
                </a:solidFill>
              </a:rPr>
              <a:t>1.1.2- </a:t>
            </a:r>
            <a:r>
              <a:rPr lang="en-US" sz="1600" b="1" dirty="0">
                <a:solidFill>
                  <a:srgbClr val="FF0000"/>
                </a:solidFill>
              </a:rPr>
              <a:t>Basics of Generative AI and LLM’s</a:t>
            </a:r>
            <a:endParaRPr lang="en-IN" sz="1600" dirty="0"/>
          </a:p>
        </p:txBody>
      </p:sp>
      <p:sp>
        <p:nvSpPr>
          <p:cNvPr id="10" name="Content Placeholder 9">
            <a:extLst>
              <a:ext uri="{FF2B5EF4-FFF2-40B4-BE49-F238E27FC236}">
                <a16:creationId xmlns:a16="http://schemas.microsoft.com/office/drawing/2014/main" id="{44E3349E-87C5-60E7-D00F-96D0D872C2E4}"/>
              </a:ext>
            </a:extLst>
          </p:cNvPr>
          <p:cNvSpPr>
            <a:spLocks noGrp="1"/>
          </p:cNvSpPr>
          <p:nvPr>
            <p:ph idx="1"/>
          </p:nvPr>
        </p:nvSpPr>
        <p:spPr>
          <a:xfrm>
            <a:off x="677334" y="1332899"/>
            <a:ext cx="8813507" cy="5596046"/>
          </a:xfrm>
        </p:spPr>
        <p:txBody>
          <a:bodyPr>
            <a:normAutofit/>
          </a:bodyPr>
          <a:lstStyle/>
          <a:p>
            <a:pPr marL="0" indent="0">
              <a:buNone/>
            </a:pPr>
            <a:r>
              <a:rPr lang="en-US" sz="1400" dirty="0">
                <a:solidFill>
                  <a:schemeClr val="tx1"/>
                </a:solidFill>
              </a:rPr>
              <a:t>Copilot link</a:t>
            </a:r>
          </a:p>
          <a:p>
            <a:pPr marL="0" indent="0">
              <a:buNone/>
            </a:pPr>
            <a:r>
              <a:rPr lang="en-US" sz="1400" dirty="0">
                <a:solidFill>
                  <a:schemeClr val="tx1"/>
                </a:solidFill>
                <a:hlinkClick r:id="rId2"/>
              </a:rPr>
              <a:t>https://copilot.microsoft.com/</a:t>
            </a:r>
            <a:endParaRPr lang="en-US" sz="1400" dirty="0">
              <a:solidFill>
                <a:schemeClr val="tx1"/>
              </a:solidFill>
            </a:endParaRPr>
          </a:p>
          <a:p>
            <a:pPr marL="0" indent="0">
              <a:buNone/>
            </a:pPr>
            <a:endParaRPr lang="en-US" sz="1400" dirty="0">
              <a:solidFill>
                <a:schemeClr val="tx1"/>
              </a:solidFill>
            </a:endParaRPr>
          </a:p>
          <a:p>
            <a:pPr marL="0" indent="0">
              <a:buNone/>
            </a:pPr>
            <a:r>
              <a:rPr lang="en-US" sz="1400" dirty="0">
                <a:solidFill>
                  <a:schemeClr val="tx1"/>
                </a:solidFill>
              </a:rPr>
              <a:t>Tokenizer</a:t>
            </a:r>
          </a:p>
          <a:p>
            <a:pPr marL="0" indent="0">
              <a:buNone/>
            </a:pPr>
            <a:r>
              <a:rPr lang="en-US" sz="1400" dirty="0">
                <a:solidFill>
                  <a:schemeClr val="tx1"/>
                </a:solidFill>
                <a:hlinkClick r:id="rId3"/>
              </a:rPr>
              <a:t>https://platform.openai.com/tokenizer</a:t>
            </a:r>
            <a:endParaRPr lang="en-US" sz="1400" dirty="0">
              <a:solidFill>
                <a:schemeClr val="tx1"/>
              </a:solidFill>
            </a:endParaRPr>
          </a:p>
          <a:p>
            <a:pPr marL="0" indent="0">
              <a:buNone/>
            </a:pPr>
            <a:endParaRPr lang="en-US" sz="1400" dirty="0">
              <a:solidFill>
                <a:schemeClr val="tx1"/>
              </a:solidFill>
            </a:endParaRPr>
          </a:p>
          <a:p>
            <a:pPr marL="0" indent="0">
              <a:buNone/>
            </a:pPr>
            <a:r>
              <a:rPr lang="en-US" sz="1400" dirty="0">
                <a:solidFill>
                  <a:schemeClr val="tx1"/>
                </a:solidFill>
              </a:rPr>
              <a:t>Models</a:t>
            </a:r>
          </a:p>
          <a:p>
            <a:pPr marL="0" indent="0">
              <a:buNone/>
            </a:pPr>
            <a:r>
              <a:rPr lang="en-US" sz="1400" dirty="0">
                <a:solidFill>
                  <a:schemeClr val="tx1"/>
                </a:solidFill>
                <a:hlinkClick r:id="rId4"/>
              </a:rPr>
              <a:t>https://developers.openai.com/api/docs/models</a:t>
            </a:r>
            <a:endParaRPr lang="en-US" sz="1400" dirty="0">
              <a:solidFill>
                <a:schemeClr val="tx1"/>
              </a:solidFill>
            </a:endParaRPr>
          </a:p>
          <a:p>
            <a:pPr marL="0" indent="0">
              <a:buNone/>
            </a:pPr>
            <a:endParaRPr lang="en-US" sz="1400" dirty="0">
              <a:solidFill>
                <a:schemeClr val="tx1"/>
              </a:solidFill>
            </a:endParaRPr>
          </a:p>
          <a:p>
            <a:pPr marL="0" indent="0">
              <a:buNone/>
            </a:pPr>
            <a:r>
              <a:rPr lang="en-US" sz="1400" dirty="0">
                <a:solidFill>
                  <a:schemeClr val="tx1"/>
                </a:solidFill>
              </a:rPr>
              <a:t>Embeddings demo</a:t>
            </a:r>
          </a:p>
          <a:p>
            <a:pPr marL="0" indent="0">
              <a:buNone/>
            </a:pPr>
            <a:r>
              <a:rPr lang="en-US" sz="1400" dirty="0">
                <a:solidFill>
                  <a:schemeClr val="tx1"/>
                </a:solidFill>
              </a:rPr>
              <a:t>https://huggingface.co/spaces/hesamation/primer-llm-embedding?section=embeddings_as_graphs:_a_network_analysis</a:t>
            </a:r>
          </a:p>
        </p:txBody>
      </p:sp>
    </p:spTree>
    <p:extLst>
      <p:ext uri="{BB962C8B-B14F-4D97-AF65-F5344CB8AC3E}">
        <p14:creationId xmlns:p14="http://schemas.microsoft.com/office/powerpoint/2010/main" val="7599841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5D0EE-689B-EF23-BF39-AADD2FA78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9184C-3C50-98C0-5F9F-BC1D689299C8}"/>
              </a:ext>
            </a:extLst>
          </p:cNvPr>
          <p:cNvSpPr>
            <a:spLocks noGrp="1"/>
          </p:cNvSpPr>
          <p:nvPr>
            <p:ph type="title"/>
          </p:nvPr>
        </p:nvSpPr>
        <p:spPr/>
        <p:txBody>
          <a:bodyPr>
            <a:normAutofit/>
          </a:bodyPr>
          <a:lstStyle/>
          <a:p>
            <a:r>
              <a:rPr lang="en-US" sz="1600" b="1" dirty="0">
                <a:solidFill>
                  <a:srgbClr val="FF0000"/>
                </a:solidFill>
              </a:rPr>
              <a:t>1.1.3 Foundation, Instruction-Tuned and Reasoning LLMs</a:t>
            </a:r>
            <a:endParaRPr lang="en-IN" sz="1600" b="1" dirty="0">
              <a:solidFill>
                <a:srgbClr val="FF0000"/>
              </a:solidFill>
            </a:endParaRPr>
          </a:p>
        </p:txBody>
      </p:sp>
      <p:sp>
        <p:nvSpPr>
          <p:cNvPr id="10" name="Content Placeholder 9">
            <a:extLst>
              <a:ext uri="{FF2B5EF4-FFF2-40B4-BE49-F238E27FC236}">
                <a16:creationId xmlns:a16="http://schemas.microsoft.com/office/drawing/2014/main" id="{5A15B8F6-E144-7DCD-6638-EC183BD20451}"/>
              </a:ext>
            </a:extLst>
          </p:cNvPr>
          <p:cNvSpPr>
            <a:spLocks noGrp="1"/>
          </p:cNvSpPr>
          <p:nvPr>
            <p:ph idx="1"/>
          </p:nvPr>
        </p:nvSpPr>
        <p:spPr>
          <a:xfrm>
            <a:off x="677334" y="1332899"/>
            <a:ext cx="8813507" cy="5596046"/>
          </a:xfrm>
        </p:spPr>
        <p:txBody>
          <a:bodyPr>
            <a:normAutofit/>
          </a:bodyPr>
          <a:lstStyle/>
          <a:p>
            <a:pPr marL="0" indent="0">
              <a:buNone/>
            </a:pPr>
            <a:r>
              <a:rPr lang="en-US" sz="1400" dirty="0"/>
              <a:t>Large Language Models are developed through progressively specialized training stages to enhance their effectiveness across a wide range of tasks. </a:t>
            </a:r>
          </a:p>
          <a:p>
            <a:pPr marL="0" indent="0">
              <a:buNone/>
            </a:pPr>
            <a:r>
              <a:rPr lang="en-US" sz="1400" dirty="0"/>
              <a:t>These stages give rise to three main categories: </a:t>
            </a:r>
          </a:p>
          <a:p>
            <a:pPr marL="0" indent="0">
              <a:buNone/>
            </a:pPr>
            <a:r>
              <a:rPr lang="en-US" sz="1400" dirty="0"/>
              <a:t>1.Foundation LLMs</a:t>
            </a:r>
          </a:p>
          <a:p>
            <a:pPr marL="0" indent="0">
              <a:buNone/>
            </a:pPr>
            <a:r>
              <a:rPr lang="en-US" sz="1400" dirty="0"/>
              <a:t>2.Instruction-tuned LLMs</a:t>
            </a:r>
          </a:p>
          <a:p>
            <a:pPr marL="0" indent="0">
              <a:buNone/>
            </a:pPr>
            <a:r>
              <a:rPr lang="en-US" sz="1400" dirty="0"/>
              <a:t>3.Reasoning LLMs. </a:t>
            </a:r>
          </a:p>
          <a:p>
            <a:pPr marL="0" indent="0">
              <a:buNone/>
            </a:pPr>
            <a:endParaRPr lang="en-US" sz="1400" dirty="0">
              <a:solidFill>
                <a:schemeClr val="tx1"/>
              </a:solidFill>
            </a:endParaRPr>
          </a:p>
        </p:txBody>
      </p:sp>
    </p:spTree>
    <p:extLst>
      <p:ext uri="{BB962C8B-B14F-4D97-AF65-F5344CB8AC3E}">
        <p14:creationId xmlns:p14="http://schemas.microsoft.com/office/powerpoint/2010/main" val="13909150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E0057-E6EF-8983-B39C-556F2B95DD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DFF32-27D6-8807-F8D4-274A429122E4}"/>
              </a:ext>
            </a:extLst>
          </p:cNvPr>
          <p:cNvSpPr>
            <a:spLocks noGrp="1"/>
          </p:cNvSpPr>
          <p:nvPr>
            <p:ph type="title"/>
          </p:nvPr>
        </p:nvSpPr>
        <p:spPr/>
        <p:txBody>
          <a:bodyPr>
            <a:normAutofit/>
          </a:bodyPr>
          <a:lstStyle/>
          <a:p>
            <a:r>
              <a:rPr lang="en-US" sz="1600" b="1" dirty="0">
                <a:solidFill>
                  <a:srgbClr val="FF0000"/>
                </a:solidFill>
              </a:rPr>
              <a:t>1.1.3 Foundation LLMs</a:t>
            </a:r>
            <a:endParaRPr lang="en-IN" sz="1600" b="1" dirty="0">
              <a:solidFill>
                <a:srgbClr val="FF0000"/>
              </a:solidFill>
            </a:endParaRPr>
          </a:p>
        </p:txBody>
      </p:sp>
      <p:sp>
        <p:nvSpPr>
          <p:cNvPr id="10" name="Content Placeholder 9">
            <a:extLst>
              <a:ext uri="{FF2B5EF4-FFF2-40B4-BE49-F238E27FC236}">
                <a16:creationId xmlns:a16="http://schemas.microsoft.com/office/drawing/2014/main" id="{5B43FFB3-A17C-49B5-CD17-3FDF83F98008}"/>
              </a:ext>
            </a:extLst>
          </p:cNvPr>
          <p:cNvSpPr>
            <a:spLocks noGrp="1"/>
          </p:cNvSpPr>
          <p:nvPr>
            <p:ph idx="1"/>
          </p:nvPr>
        </p:nvSpPr>
        <p:spPr>
          <a:xfrm>
            <a:off x="677334" y="1332899"/>
            <a:ext cx="8813507" cy="5596046"/>
          </a:xfrm>
        </p:spPr>
        <p:txBody>
          <a:bodyPr>
            <a:normAutofit/>
          </a:bodyPr>
          <a:lstStyle/>
          <a:p>
            <a:pPr marL="0" indent="0">
              <a:buNone/>
            </a:pPr>
            <a:r>
              <a:rPr lang="en-US" sz="1400" dirty="0"/>
              <a:t>Foundation LLMs</a:t>
            </a:r>
          </a:p>
          <a:p>
            <a:pPr>
              <a:buFont typeface="Wingdings" panose="05000000000000000000" pitchFamily="2" charset="2"/>
              <a:buChar char="Ø"/>
            </a:pPr>
            <a:r>
              <a:rPr lang="en-US" sz="1400" dirty="0"/>
              <a:t>These are general-purpose models trained on vast datasets (text, code, images)</a:t>
            </a:r>
          </a:p>
          <a:p>
            <a:pPr>
              <a:buFont typeface="Wingdings" panose="05000000000000000000" pitchFamily="2" charset="2"/>
              <a:buChar char="Ø"/>
            </a:pPr>
            <a:r>
              <a:rPr lang="en-US" sz="1400" dirty="0"/>
              <a:t> Support various tasks across domains such as natural language processing, computer vision, and speech recognition. </a:t>
            </a:r>
          </a:p>
          <a:p>
            <a:pPr>
              <a:buFont typeface="Wingdings" panose="05000000000000000000" pitchFamily="2" charset="2"/>
              <a:buChar char="Ø"/>
            </a:pPr>
            <a:r>
              <a:rPr lang="en-US" sz="1400" dirty="0"/>
              <a:t>Need adaptation to meet specific task requirements. </a:t>
            </a:r>
          </a:p>
          <a:p>
            <a:pPr marL="0" indent="0">
              <a:buNone/>
            </a:pPr>
            <a:r>
              <a:rPr lang="en-US" sz="1400" dirty="0"/>
              <a:t>Examples of tasks they can perform:</a:t>
            </a:r>
          </a:p>
          <a:p>
            <a:r>
              <a:rPr lang="en-US" sz="1400" dirty="0"/>
              <a:t>Text generation</a:t>
            </a:r>
          </a:p>
          <a:p>
            <a:r>
              <a:rPr lang="en-US" sz="1400" dirty="0"/>
              <a:t>Question answering</a:t>
            </a:r>
          </a:p>
          <a:p>
            <a:r>
              <a:rPr lang="en-US" sz="1400" dirty="0"/>
              <a:t>Code generation</a:t>
            </a:r>
          </a:p>
          <a:p>
            <a:r>
              <a:rPr lang="en-US" sz="1400" dirty="0"/>
              <a:t>Summarization</a:t>
            </a:r>
          </a:p>
          <a:p>
            <a:r>
              <a:rPr lang="en-US" sz="1400" dirty="0"/>
              <a:t>Translation</a:t>
            </a:r>
          </a:p>
          <a:p>
            <a:r>
              <a:rPr lang="en-US" sz="1400" dirty="0"/>
              <a:t>Chatbots</a:t>
            </a:r>
          </a:p>
          <a:p>
            <a:r>
              <a:rPr lang="en-US" sz="1400" dirty="0"/>
              <a:t>Test case generation</a:t>
            </a:r>
          </a:p>
          <a:p>
            <a:pPr>
              <a:buFont typeface="Wingdings" panose="05000000000000000000" pitchFamily="2" charset="2"/>
              <a:buChar char="Ø"/>
            </a:pPr>
            <a:endParaRPr lang="en-US" sz="1400" dirty="0"/>
          </a:p>
        </p:txBody>
      </p:sp>
    </p:spTree>
    <p:extLst>
      <p:ext uri="{BB962C8B-B14F-4D97-AF65-F5344CB8AC3E}">
        <p14:creationId xmlns:p14="http://schemas.microsoft.com/office/powerpoint/2010/main" val="11910114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BC575-66B0-FD8C-8D62-9CB1980D7E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9700A-2CF9-B02D-125E-2E42CE090326}"/>
              </a:ext>
            </a:extLst>
          </p:cNvPr>
          <p:cNvSpPr>
            <a:spLocks noGrp="1"/>
          </p:cNvSpPr>
          <p:nvPr>
            <p:ph type="title"/>
          </p:nvPr>
        </p:nvSpPr>
        <p:spPr/>
        <p:txBody>
          <a:bodyPr>
            <a:normAutofit/>
          </a:bodyPr>
          <a:lstStyle/>
          <a:p>
            <a:r>
              <a:rPr lang="en-US" sz="1600" b="1" dirty="0">
                <a:solidFill>
                  <a:srgbClr val="FF0000"/>
                </a:solidFill>
              </a:rPr>
              <a:t>1.1.3 Foundation LLM’s</a:t>
            </a:r>
            <a:endParaRPr lang="en-IN" sz="1600" b="1" dirty="0">
              <a:solidFill>
                <a:srgbClr val="FF0000"/>
              </a:solidFill>
            </a:endParaRPr>
          </a:p>
        </p:txBody>
      </p:sp>
      <p:sp>
        <p:nvSpPr>
          <p:cNvPr id="10" name="Content Placeholder 9">
            <a:extLst>
              <a:ext uri="{FF2B5EF4-FFF2-40B4-BE49-F238E27FC236}">
                <a16:creationId xmlns:a16="http://schemas.microsoft.com/office/drawing/2014/main" id="{77BE8100-50F6-9F28-A342-C5C7E3B8506D}"/>
              </a:ext>
            </a:extLst>
          </p:cNvPr>
          <p:cNvSpPr>
            <a:spLocks noGrp="1"/>
          </p:cNvSpPr>
          <p:nvPr>
            <p:ph idx="1"/>
          </p:nvPr>
        </p:nvSpPr>
        <p:spPr>
          <a:xfrm>
            <a:off x="677334" y="1332899"/>
            <a:ext cx="8813507" cy="5596046"/>
          </a:xfrm>
        </p:spPr>
        <p:txBody>
          <a:bodyPr>
            <a:normAutofit/>
          </a:bodyPr>
          <a:lstStyle/>
          <a:p>
            <a:pPr marL="0" indent="0">
              <a:buNone/>
            </a:pPr>
            <a:r>
              <a:rPr lang="en-US" sz="1400" dirty="0"/>
              <a:t>Foundation LLMs</a:t>
            </a:r>
          </a:p>
          <a:p>
            <a:pPr>
              <a:buFont typeface="Wingdings" panose="05000000000000000000" pitchFamily="2" charset="2"/>
              <a:buChar char="Ø"/>
            </a:pPr>
            <a:endParaRPr lang="en-US" sz="1400" dirty="0"/>
          </a:p>
        </p:txBody>
      </p:sp>
      <p:pic>
        <p:nvPicPr>
          <p:cNvPr id="6" name="Picture 5">
            <a:extLst>
              <a:ext uri="{FF2B5EF4-FFF2-40B4-BE49-F238E27FC236}">
                <a16:creationId xmlns:a16="http://schemas.microsoft.com/office/drawing/2014/main" id="{16009715-39B3-FFC5-F145-83474947E3EE}"/>
              </a:ext>
            </a:extLst>
          </p:cNvPr>
          <p:cNvPicPr>
            <a:picLocks noChangeAspect="1"/>
          </p:cNvPicPr>
          <p:nvPr/>
        </p:nvPicPr>
        <p:blipFill>
          <a:blip r:embed="rId2"/>
          <a:stretch>
            <a:fillRect/>
          </a:stretch>
        </p:blipFill>
        <p:spPr>
          <a:xfrm>
            <a:off x="1600725" y="2198337"/>
            <a:ext cx="5143764" cy="2997354"/>
          </a:xfrm>
          <a:prstGeom prst="rect">
            <a:avLst/>
          </a:prstGeom>
        </p:spPr>
      </p:pic>
    </p:spTree>
    <p:extLst>
      <p:ext uri="{BB962C8B-B14F-4D97-AF65-F5344CB8AC3E}">
        <p14:creationId xmlns:p14="http://schemas.microsoft.com/office/powerpoint/2010/main" val="31570115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58A59-5014-F58F-134B-F7ABCB6A82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01705-8833-9E74-CB14-ECD7BA3135FE}"/>
              </a:ext>
            </a:extLst>
          </p:cNvPr>
          <p:cNvSpPr>
            <a:spLocks noGrp="1"/>
          </p:cNvSpPr>
          <p:nvPr>
            <p:ph type="title"/>
          </p:nvPr>
        </p:nvSpPr>
        <p:spPr/>
        <p:txBody>
          <a:bodyPr>
            <a:normAutofit/>
          </a:bodyPr>
          <a:lstStyle/>
          <a:p>
            <a:r>
              <a:rPr lang="en-US" sz="1600" b="1" dirty="0">
                <a:solidFill>
                  <a:srgbClr val="FF0000"/>
                </a:solidFill>
              </a:rPr>
              <a:t>1.1.3 Foundation LLM’s</a:t>
            </a:r>
            <a:endParaRPr lang="en-IN" sz="1600" b="1" dirty="0">
              <a:solidFill>
                <a:srgbClr val="FF0000"/>
              </a:solidFill>
            </a:endParaRPr>
          </a:p>
        </p:txBody>
      </p:sp>
      <p:sp>
        <p:nvSpPr>
          <p:cNvPr id="10" name="Content Placeholder 9">
            <a:extLst>
              <a:ext uri="{FF2B5EF4-FFF2-40B4-BE49-F238E27FC236}">
                <a16:creationId xmlns:a16="http://schemas.microsoft.com/office/drawing/2014/main" id="{C138CAA1-446D-68FB-763D-F9C1AAA11BE5}"/>
              </a:ext>
            </a:extLst>
          </p:cNvPr>
          <p:cNvSpPr>
            <a:spLocks noGrp="1"/>
          </p:cNvSpPr>
          <p:nvPr>
            <p:ph idx="1"/>
          </p:nvPr>
        </p:nvSpPr>
        <p:spPr>
          <a:xfrm>
            <a:off x="677334" y="1332899"/>
            <a:ext cx="8813507" cy="5596046"/>
          </a:xfrm>
        </p:spPr>
        <p:txBody>
          <a:bodyPr>
            <a:normAutofit/>
          </a:bodyPr>
          <a:lstStyle/>
          <a:p>
            <a:pPr marL="0" indent="0">
              <a:buNone/>
            </a:pPr>
            <a:r>
              <a:rPr lang="en-US" sz="1400" dirty="0"/>
              <a:t>Foundation LLMs</a:t>
            </a:r>
          </a:p>
          <a:p>
            <a:pPr>
              <a:buFont typeface="Wingdings" panose="05000000000000000000" pitchFamily="2" charset="2"/>
              <a:buChar char="Ø"/>
            </a:pPr>
            <a:endParaRPr lang="en-US" sz="1400" dirty="0"/>
          </a:p>
        </p:txBody>
      </p:sp>
      <p:pic>
        <p:nvPicPr>
          <p:cNvPr id="6" name="Picture 5">
            <a:extLst>
              <a:ext uri="{FF2B5EF4-FFF2-40B4-BE49-F238E27FC236}">
                <a16:creationId xmlns:a16="http://schemas.microsoft.com/office/drawing/2014/main" id="{7D8B4EC6-76B3-FB1C-E455-F7129FD7E843}"/>
              </a:ext>
            </a:extLst>
          </p:cNvPr>
          <p:cNvPicPr>
            <a:picLocks noChangeAspect="1"/>
          </p:cNvPicPr>
          <p:nvPr/>
        </p:nvPicPr>
        <p:blipFill>
          <a:blip r:embed="rId2"/>
          <a:stretch>
            <a:fillRect/>
          </a:stretch>
        </p:blipFill>
        <p:spPr>
          <a:xfrm>
            <a:off x="1387891" y="2190454"/>
            <a:ext cx="6289916" cy="2997354"/>
          </a:xfrm>
          <a:prstGeom prst="rect">
            <a:avLst/>
          </a:prstGeom>
        </p:spPr>
      </p:pic>
    </p:spTree>
    <p:extLst>
      <p:ext uri="{BB962C8B-B14F-4D97-AF65-F5344CB8AC3E}">
        <p14:creationId xmlns:p14="http://schemas.microsoft.com/office/powerpoint/2010/main" val="32930360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4AD80-1C86-099A-061E-0062D3D0E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49C26-B785-F231-3D28-4B99011836E9}"/>
              </a:ext>
            </a:extLst>
          </p:cNvPr>
          <p:cNvSpPr>
            <a:spLocks noGrp="1"/>
          </p:cNvSpPr>
          <p:nvPr>
            <p:ph type="title"/>
          </p:nvPr>
        </p:nvSpPr>
        <p:spPr>
          <a:xfrm>
            <a:off x="677334" y="609600"/>
            <a:ext cx="8596668" cy="517634"/>
          </a:xfrm>
        </p:spPr>
        <p:txBody>
          <a:bodyPr>
            <a:normAutofit/>
          </a:bodyPr>
          <a:lstStyle/>
          <a:p>
            <a:r>
              <a:rPr lang="en-US" sz="1600" b="1" dirty="0">
                <a:solidFill>
                  <a:srgbClr val="FF0000"/>
                </a:solidFill>
              </a:rPr>
              <a:t>1.1.3  Instruction-Tuned</a:t>
            </a:r>
            <a:endParaRPr lang="en-IN" sz="1600" b="1" dirty="0">
              <a:solidFill>
                <a:srgbClr val="FF0000"/>
              </a:solidFill>
            </a:endParaRPr>
          </a:p>
        </p:txBody>
      </p:sp>
      <p:sp>
        <p:nvSpPr>
          <p:cNvPr id="10" name="Content Placeholder 9">
            <a:extLst>
              <a:ext uri="{FF2B5EF4-FFF2-40B4-BE49-F238E27FC236}">
                <a16:creationId xmlns:a16="http://schemas.microsoft.com/office/drawing/2014/main" id="{54BB2FE1-7F99-3860-5EED-0049965FFF51}"/>
              </a:ext>
            </a:extLst>
          </p:cNvPr>
          <p:cNvSpPr>
            <a:spLocks noGrp="1"/>
          </p:cNvSpPr>
          <p:nvPr>
            <p:ph idx="1"/>
          </p:nvPr>
        </p:nvSpPr>
        <p:spPr>
          <a:xfrm>
            <a:off x="677334" y="1356548"/>
            <a:ext cx="8813507" cy="5596046"/>
          </a:xfrm>
        </p:spPr>
        <p:txBody>
          <a:bodyPr>
            <a:normAutofit/>
          </a:bodyPr>
          <a:lstStyle/>
          <a:p>
            <a:pPr marL="0" indent="0">
              <a:buNone/>
            </a:pPr>
            <a:r>
              <a:rPr lang="en-US" sz="1400" b="1" dirty="0">
                <a:solidFill>
                  <a:schemeClr val="tx1"/>
                </a:solidFill>
              </a:rPr>
              <a:t>Instruction-Tuned </a:t>
            </a:r>
            <a:endParaRPr lang="en-US" sz="1400" dirty="0"/>
          </a:p>
          <a:p>
            <a:pPr>
              <a:buFont typeface="Wingdings" panose="05000000000000000000" pitchFamily="2" charset="2"/>
              <a:buChar char="Ø"/>
            </a:pPr>
            <a:r>
              <a:rPr lang="en-US" sz="1400" dirty="0"/>
              <a:t>Derived from foundation models, instruction-tuned LLMs are fine-tuned using datasets that pair prompts with expected responses. </a:t>
            </a:r>
          </a:p>
          <a:p>
            <a:pPr>
              <a:buFont typeface="Wingdings" panose="05000000000000000000" pitchFamily="2" charset="2"/>
              <a:buChar char="Ø"/>
            </a:pPr>
            <a:r>
              <a:rPr lang="en-US" sz="1400" dirty="0"/>
              <a:t>Better at following human instructions (For example , when asked to “Summarize the bug report” it gives a clear structured answer)</a:t>
            </a:r>
          </a:p>
          <a:p>
            <a:pPr>
              <a:buFont typeface="Wingdings" panose="05000000000000000000" pitchFamily="2" charset="2"/>
              <a:buChar char="Ø"/>
            </a:pPr>
            <a:r>
              <a:rPr lang="en-US" sz="1400" dirty="0"/>
              <a:t>The tuning process involves optimizing for task adherence, instruction following, and response coherence, thereby improving the model's ability to interpret and act on user intent effectively</a:t>
            </a:r>
            <a:endParaRPr lang="en-US" sz="1400" dirty="0">
              <a:solidFill>
                <a:schemeClr val="tx1"/>
              </a:solidFill>
            </a:endParaRPr>
          </a:p>
        </p:txBody>
      </p:sp>
      <p:pic>
        <p:nvPicPr>
          <p:cNvPr id="4" name="Picture 3">
            <a:extLst>
              <a:ext uri="{FF2B5EF4-FFF2-40B4-BE49-F238E27FC236}">
                <a16:creationId xmlns:a16="http://schemas.microsoft.com/office/drawing/2014/main" id="{BEDEAD9B-4D4A-EBFC-7300-29521F755958}"/>
              </a:ext>
            </a:extLst>
          </p:cNvPr>
          <p:cNvPicPr>
            <a:picLocks noChangeAspect="1"/>
          </p:cNvPicPr>
          <p:nvPr/>
        </p:nvPicPr>
        <p:blipFill>
          <a:blip r:embed="rId2"/>
          <a:stretch>
            <a:fillRect/>
          </a:stretch>
        </p:blipFill>
        <p:spPr>
          <a:xfrm>
            <a:off x="677334" y="3658360"/>
            <a:ext cx="7323666" cy="2590040"/>
          </a:xfrm>
          <a:prstGeom prst="rect">
            <a:avLst/>
          </a:prstGeom>
        </p:spPr>
      </p:pic>
    </p:spTree>
    <p:extLst>
      <p:ext uri="{BB962C8B-B14F-4D97-AF65-F5344CB8AC3E}">
        <p14:creationId xmlns:p14="http://schemas.microsoft.com/office/powerpoint/2010/main" val="75131722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2C4E8-EE4F-531C-F456-22DE85F780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EC6A4-1602-27C6-0BEB-75042076A26D}"/>
              </a:ext>
            </a:extLst>
          </p:cNvPr>
          <p:cNvSpPr>
            <a:spLocks noGrp="1"/>
          </p:cNvSpPr>
          <p:nvPr>
            <p:ph type="title"/>
          </p:nvPr>
        </p:nvSpPr>
        <p:spPr>
          <a:xfrm>
            <a:off x="677334" y="609600"/>
            <a:ext cx="8596668" cy="517634"/>
          </a:xfrm>
        </p:spPr>
        <p:txBody>
          <a:bodyPr>
            <a:normAutofit/>
          </a:bodyPr>
          <a:lstStyle/>
          <a:p>
            <a:r>
              <a:rPr lang="en-US" sz="1600" b="1" dirty="0">
                <a:solidFill>
                  <a:srgbClr val="FF0000"/>
                </a:solidFill>
              </a:rPr>
              <a:t>1.1.3  Instruction-Tuned</a:t>
            </a:r>
            <a:endParaRPr lang="en-IN" sz="1600" b="1" dirty="0">
              <a:solidFill>
                <a:srgbClr val="FF0000"/>
              </a:solidFill>
            </a:endParaRPr>
          </a:p>
        </p:txBody>
      </p:sp>
      <p:sp>
        <p:nvSpPr>
          <p:cNvPr id="10" name="Content Placeholder 9">
            <a:extLst>
              <a:ext uri="{FF2B5EF4-FFF2-40B4-BE49-F238E27FC236}">
                <a16:creationId xmlns:a16="http://schemas.microsoft.com/office/drawing/2014/main" id="{6FE9C03C-4E8C-4DCC-5C63-A766F674F7F2}"/>
              </a:ext>
            </a:extLst>
          </p:cNvPr>
          <p:cNvSpPr>
            <a:spLocks noGrp="1"/>
          </p:cNvSpPr>
          <p:nvPr>
            <p:ph idx="1"/>
          </p:nvPr>
        </p:nvSpPr>
        <p:spPr>
          <a:xfrm>
            <a:off x="677334" y="1356548"/>
            <a:ext cx="8813507" cy="5596046"/>
          </a:xfrm>
        </p:spPr>
        <p:txBody>
          <a:bodyPr>
            <a:normAutofit/>
          </a:bodyPr>
          <a:lstStyle/>
          <a:p>
            <a:pPr marL="0" indent="0">
              <a:buNone/>
            </a:pPr>
            <a:r>
              <a:rPr lang="en-US" sz="1400" b="1" dirty="0">
                <a:solidFill>
                  <a:schemeClr val="tx1"/>
                </a:solidFill>
              </a:rPr>
              <a:t>Instruction-Tuned </a:t>
            </a:r>
            <a:endParaRPr lang="en-US" sz="1400" dirty="0"/>
          </a:p>
          <a:p>
            <a:pPr>
              <a:buFont typeface="Wingdings" panose="05000000000000000000" pitchFamily="2" charset="2"/>
              <a:buChar char="Ø"/>
            </a:pPr>
            <a:r>
              <a:rPr lang="en-US" sz="1400" dirty="0"/>
              <a:t>Derived from foundation models, instruction-tuned LLMs are fine-tuned using datasets that pair prompts with expected responses. </a:t>
            </a:r>
          </a:p>
          <a:p>
            <a:pPr>
              <a:buFont typeface="Wingdings" panose="05000000000000000000" pitchFamily="2" charset="2"/>
              <a:buChar char="Ø"/>
            </a:pPr>
            <a:r>
              <a:rPr lang="en-US" sz="1400" dirty="0"/>
              <a:t>Better at following human instructions (For example , when asked to “Summarize the bug report” it gives a clear structured answer)</a:t>
            </a:r>
          </a:p>
          <a:p>
            <a:pPr>
              <a:buFont typeface="Wingdings" panose="05000000000000000000" pitchFamily="2" charset="2"/>
              <a:buChar char="Ø"/>
            </a:pPr>
            <a:r>
              <a:rPr lang="en-US" sz="1400" dirty="0"/>
              <a:t>The tuning process involves optimizing for task adherence, instruction following, and response coherence, thereby improving the model's ability to interpret and act on user intent effectively</a:t>
            </a:r>
            <a:endParaRPr lang="en-US" sz="1400" dirty="0">
              <a:solidFill>
                <a:schemeClr val="tx1"/>
              </a:solidFill>
            </a:endParaRPr>
          </a:p>
        </p:txBody>
      </p:sp>
      <p:pic>
        <p:nvPicPr>
          <p:cNvPr id="4" name="Picture 3">
            <a:extLst>
              <a:ext uri="{FF2B5EF4-FFF2-40B4-BE49-F238E27FC236}">
                <a16:creationId xmlns:a16="http://schemas.microsoft.com/office/drawing/2014/main" id="{D05C4FDD-BF7C-3B9A-CDA8-2FC68E1C09E3}"/>
              </a:ext>
            </a:extLst>
          </p:cNvPr>
          <p:cNvPicPr>
            <a:picLocks noChangeAspect="1"/>
          </p:cNvPicPr>
          <p:nvPr/>
        </p:nvPicPr>
        <p:blipFill>
          <a:blip r:embed="rId2"/>
          <a:stretch>
            <a:fillRect/>
          </a:stretch>
        </p:blipFill>
        <p:spPr>
          <a:xfrm>
            <a:off x="677334" y="3658360"/>
            <a:ext cx="7323666" cy="2590040"/>
          </a:xfrm>
          <a:prstGeom prst="rect">
            <a:avLst/>
          </a:prstGeom>
        </p:spPr>
      </p:pic>
    </p:spTree>
    <p:extLst>
      <p:ext uri="{BB962C8B-B14F-4D97-AF65-F5344CB8AC3E}">
        <p14:creationId xmlns:p14="http://schemas.microsoft.com/office/powerpoint/2010/main" val="235617983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035E1-125A-99AA-84AF-3F73C5ADD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1B138-E1EB-9AA6-0442-60D74E5F83A4}"/>
              </a:ext>
            </a:extLst>
          </p:cNvPr>
          <p:cNvSpPr>
            <a:spLocks noGrp="1"/>
          </p:cNvSpPr>
          <p:nvPr>
            <p:ph type="title"/>
          </p:nvPr>
        </p:nvSpPr>
        <p:spPr>
          <a:xfrm>
            <a:off x="677334" y="609600"/>
            <a:ext cx="8596668" cy="517634"/>
          </a:xfrm>
        </p:spPr>
        <p:txBody>
          <a:bodyPr>
            <a:normAutofit/>
          </a:bodyPr>
          <a:lstStyle/>
          <a:p>
            <a:r>
              <a:rPr lang="en-US" sz="1600" b="1" dirty="0">
                <a:solidFill>
                  <a:srgbClr val="FF0000"/>
                </a:solidFill>
              </a:rPr>
              <a:t>1.1.3  Instruction-Tuned</a:t>
            </a:r>
            <a:endParaRPr lang="en-IN" sz="1600" b="1" dirty="0">
              <a:solidFill>
                <a:srgbClr val="FF0000"/>
              </a:solidFill>
            </a:endParaRPr>
          </a:p>
        </p:txBody>
      </p:sp>
      <p:sp>
        <p:nvSpPr>
          <p:cNvPr id="10" name="Content Placeholder 9">
            <a:extLst>
              <a:ext uri="{FF2B5EF4-FFF2-40B4-BE49-F238E27FC236}">
                <a16:creationId xmlns:a16="http://schemas.microsoft.com/office/drawing/2014/main" id="{D203F738-AF74-4098-827B-63A0320D3C3B}"/>
              </a:ext>
            </a:extLst>
          </p:cNvPr>
          <p:cNvSpPr>
            <a:spLocks noGrp="1"/>
          </p:cNvSpPr>
          <p:nvPr>
            <p:ph idx="1"/>
          </p:nvPr>
        </p:nvSpPr>
        <p:spPr>
          <a:xfrm>
            <a:off x="677334" y="1356548"/>
            <a:ext cx="8813507" cy="5596046"/>
          </a:xfrm>
        </p:spPr>
        <p:txBody>
          <a:bodyPr>
            <a:normAutofit/>
          </a:bodyPr>
          <a:lstStyle/>
          <a:p>
            <a:pPr marL="0" indent="0">
              <a:buNone/>
            </a:pPr>
            <a:r>
              <a:rPr lang="en-US" sz="1400" b="1" dirty="0">
                <a:solidFill>
                  <a:schemeClr val="tx1"/>
                </a:solidFill>
              </a:rPr>
              <a:t>Instruction-Tuned </a:t>
            </a:r>
          </a:p>
          <a:p>
            <a:pPr marL="0" indent="0">
              <a:buNone/>
            </a:pPr>
            <a:endParaRPr lang="en-US" sz="1400" b="1" dirty="0">
              <a:solidFill>
                <a:schemeClr val="tx1"/>
              </a:solidFill>
            </a:endParaRPr>
          </a:p>
          <a:p>
            <a:r>
              <a:rPr lang="en-IN" sz="1400" b="1" dirty="0"/>
              <a:t>Examples of Instruction-Tuned Models</a:t>
            </a:r>
          </a:p>
          <a:p>
            <a:r>
              <a:rPr lang="en-IN" sz="1400" dirty="0"/>
              <a:t>Some well-known instruction-tuned models include:</a:t>
            </a:r>
          </a:p>
          <a:p>
            <a:r>
              <a:rPr lang="en-IN" sz="1400" b="1" dirty="0"/>
              <a:t>FLAN-T5</a:t>
            </a:r>
            <a:endParaRPr lang="en-IN" sz="1400" dirty="0"/>
          </a:p>
          <a:p>
            <a:r>
              <a:rPr lang="en-IN" sz="1400" b="1" dirty="0"/>
              <a:t>GPT-3.5 / GPT-4</a:t>
            </a:r>
            <a:endParaRPr lang="en-IN" sz="1400" dirty="0"/>
          </a:p>
          <a:p>
            <a:r>
              <a:rPr lang="en-IN" sz="1400" b="1" dirty="0" err="1"/>
              <a:t>InstructGPT</a:t>
            </a:r>
            <a:endParaRPr lang="en-IN" sz="1400" dirty="0"/>
          </a:p>
          <a:p>
            <a:r>
              <a:rPr lang="en-IN" sz="1400" b="1" dirty="0"/>
              <a:t>LLaMA-2 Chat</a:t>
            </a:r>
            <a:endParaRPr lang="en-IN" sz="1400" dirty="0"/>
          </a:p>
          <a:p>
            <a:r>
              <a:rPr lang="en-IN" sz="1400" b="1" dirty="0"/>
              <a:t>Alpaca</a:t>
            </a:r>
            <a:endParaRPr lang="en-IN" sz="1400" dirty="0"/>
          </a:p>
          <a:p>
            <a:r>
              <a:rPr lang="en-IN" sz="1400" b="1" dirty="0"/>
              <a:t>Vicuna</a:t>
            </a:r>
            <a:endParaRPr lang="en-IN" sz="1400" dirty="0"/>
          </a:p>
          <a:p>
            <a:pPr marL="0" indent="0">
              <a:buNone/>
            </a:pPr>
            <a:endParaRPr lang="en-US" sz="1400" dirty="0"/>
          </a:p>
        </p:txBody>
      </p:sp>
    </p:spTree>
    <p:extLst>
      <p:ext uri="{BB962C8B-B14F-4D97-AF65-F5344CB8AC3E}">
        <p14:creationId xmlns:p14="http://schemas.microsoft.com/office/powerpoint/2010/main" val="425534083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F435F-6781-E28A-0C86-C350D0699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3088E8-7366-1AD4-9621-5CDE850C7D65}"/>
              </a:ext>
            </a:extLst>
          </p:cNvPr>
          <p:cNvSpPr>
            <a:spLocks noGrp="1"/>
          </p:cNvSpPr>
          <p:nvPr>
            <p:ph type="title"/>
          </p:nvPr>
        </p:nvSpPr>
        <p:spPr>
          <a:xfrm>
            <a:off x="677334" y="609600"/>
            <a:ext cx="8596668" cy="517634"/>
          </a:xfrm>
        </p:spPr>
        <p:txBody>
          <a:bodyPr>
            <a:normAutofit fontScale="90000"/>
          </a:bodyPr>
          <a:lstStyle/>
          <a:p>
            <a:r>
              <a:rPr lang="en-US" sz="2700" b="1" dirty="0">
                <a:solidFill>
                  <a:srgbClr val="FF0000"/>
                </a:solidFill>
              </a:rPr>
              <a:t>1.1.3  </a:t>
            </a:r>
            <a:r>
              <a:rPr lang="en-IN" sz="2700" dirty="0">
                <a:solidFill>
                  <a:srgbClr val="FF0000"/>
                </a:solidFill>
              </a:rPr>
              <a:t>Reasoning LLMs</a:t>
            </a:r>
            <a:br>
              <a:rPr lang="en-US" sz="1600" dirty="0">
                <a:solidFill>
                  <a:srgbClr val="FF0000"/>
                </a:solidFill>
              </a:rPr>
            </a:br>
            <a:endParaRPr lang="en-IN" sz="1600" b="1" dirty="0">
              <a:solidFill>
                <a:srgbClr val="FF0000"/>
              </a:solidFill>
            </a:endParaRPr>
          </a:p>
        </p:txBody>
      </p:sp>
      <p:sp>
        <p:nvSpPr>
          <p:cNvPr id="10" name="Content Placeholder 9">
            <a:extLst>
              <a:ext uri="{FF2B5EF4-FFF2-40B4-BE49-F238E27FC236}">
                <a16:creationId xmlns:a16="http://schemas.microsoft.com/office/drawing/2014/main" id="{EE49749E-3B5F-5E3E-50CB-67D7C9CC2D24}"/>
              </a:ext>
            </a:extLst>
          </p:cNvPr>
          <p:cNvSpPr>
            <a:spLocks noGrp="1"/>
          </p:cNvSpPr>
          <p:nvPr>
            <p:ph idx="1"/>
          </p:nvPr>
        </p:nvSpPr>
        <p:spPr>
          <a:xfrm>
            <a:off x="677334" y="1261954"/>
            <a:ext cx="8813507" cy="5596046"/>
          </a:xfrm>
        </p:spPr>
        <p:txBody>
          <a:bodyPr>
            <a:normAutofit/>
          </a:bodyPr>
          <a:lstStyle/>
          <a:p>
            <a:r>
              <a:rPr lang="en-US" sz="1400" dirty="0"/>
              <a:t>Reasoning models extend instruction-tuned models by emphasizing structured cognitive abilities such as logical inference, multi-step problem-solving, and chain-of-thought reasoning. </a:t>
            </a:r>
          </a:p>
          <a:p>
            <a:r>
              <a:rPr lang="en-US" sz="1400" dirty="0"/>
              <a:t>These models are further trained or fine-tuned on carefully selected tasks that demand contextual understanding, intermediate reasoning steps, and synthesis of complex information. </a:t>
            </a:r>
          </a:p>
          <a:p>
            <a:r>
              <a:rPr lang="en-US" sz="1400" dirty="0"/>
              <a:t>As a result, they are better suited for high-cognitive-load tasks, including those in technical domains.</a:t>
            </a:r>
          </a:p>
          <a:p>
            <a:r>
              <a:rPr lang="en-US" sz="1400" dirty="0"/>
              <a:t>It can handle complex, technical tasks.</a:t>
            </a:r>
          </a:p>
          <a:p>
            <a:pPr marL="0" indent="0">
              <a:buNone/>
            </a:pPr>
            <a:r>
              <a:rPr lang="en-US" sz="1400" dirty="0"/>
              <a:t>In simple words </a:t>
            </a:r>
          </a:p>
          <a:p>
            <a:pPr marL="0" indent="0">
              <a:buNone/>
            </a:pPr>
            <a:r>
              <a:rPr lang="en-US" sz="1400" dirty="0"/>
              <a:t>Reasoning LLMs are a type of Large Language Model designed to analyze problems, think through steps, and produce logical solutions rather than just generating text based on patterns.</a:t>
            </a:r>
          </a:p>
          <a:p>
            <a:pPr marL="0" indent="0">
              <a:buNone/>
            </a:pPr>
            <a:r>
              <a:rPr lang="en-US" sz="1400" dirty="0"/>
              <a:t>Example : </a:t>
            </a:r>
          </a:p>
          <a:p>
            <a:r>
              <a:rPr lang="en-US" sz="1400" dirty="0"/>
              <a:t>If a train travels 60 km in 1 hour, how far will it travel in 3 hours?</a:t>
            </a:r>
          </a:p>
          <a:p>
            <a:r>
              <a:rPr lang="en-US" sz="1400" dirty="0"/>
              <a:t>A reasoning model will process it logically:</a:t>
            </a:r>
          </a:p>
          <a:p>
            <a:r>
              <a:rPr lang="en-US" sz="1400" dirty="0"/>
              <a:t>Speed = 60 km/hour</a:t>
            </a:r>
          </a:p>
          <a:p>
            <a:r>
              <a:rPr lang="en-US" sz="1400" dirty="0"/>
              <a:t>Time = 3 hours</a:t>
            </a:r>
          </a:p>
          <a:p>
            <a:r>
              <a:rPr lang="en-US" sz="1400" dirty="0"/>
              <a:t>Distance = Speed × Time</a:t>
            </a:r>
          </a:p>
          <a:p>
            <a:r>
              <a:rPr lang="en-US" sz="1400" dirty="0"/>
              <a:t>Distance = 60 × 3 = 180 km</a:t>
            </a:r>
          </a:p>
          <a:p>
            <a:r>
              <a:rPr lang="en-US" sz="1400" b="1" dirty="0"/>
              <a:t>Answer:</a:t>
            </a:r>
            <a:r>
              <a:rPr lang="en-US" sz="1400" dirty="0"/>
              <a:t> 180 km</a:t>
            </a:r>
          </a:p>
          <a:p>
            <a:pPr marL="0" indent="0">
              <a:buNone/>
            </a:pPr>
            <a:endParaRPr lang="en-US" sz="1400" dirty="0"/>
          </a:p>
        </p:txBody>
      </p:sp>
    </p:spTree>
    <p:extLst>
      <p:ext uri="{BB962C8B-B14F-4D97-AF65-F5344CB8AC3E}">
        <p14:creationId xmlns:p14="http://schemas.microsoft.com/office/powerpoint/2010/main" val="1583271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64333-81A5-FDA9-6225-287DD9EDE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2CB8FB-0DBC-F4CB-7C07-5C3E30DCB459}"/>
              </a:ext>
            </a:extLst>
          </p:cNvPr>
          <p:cNvSpPr>
            <a:spLocks noGrp="1"/>
          </p:cNvSpPr>
          <p:nvPr>
            <p:ph type="title"/>
          </p:nvPr>
        </p:nvSpPr>
        <p:spPr>
          <a:xfrm>
            <a:off x="677334" y="609600"/>
            <a:ext cx="8596668" cy="517634"/>
          </a:xfrm>
        </p:spPr>
        <p:txBody>
          <a:bodyPr>
            <a:normAutofit/>
          </a:bodyPr>
          <a:lstStyle/>
          <a:p>
            <a:r>
              <a:rPr lang="en-US" sz="1600" b="1" dirty="0">
                <a:solidFill>
                  <a:srgbClr val="FF0000"/>
                </a:solidFill>
              </a:rPr>
              <a:t>1.1.3 Application in software testing</a:t>
            </a:r>
            <a:endParaRPr lang="en-IN" sz="1600" b="1" dirty="0">
              <a:solidFill>
                <a:srgbClr val="FF0000"/>
              </a:solidFill>
            </a:endParaRPr>
          </a:p>
        </p:txBody>
      </p:sp>
      <p:sp>
        <p:nvSpPr>
          <p:cNvPr id="10" name="Content Placeholder 9">
            <a:extLst>
              <a:ext uri="{FF2B5EF4-FFF2-40B4-BE49-F238E27FC236}">
                <a16:creationId xmlns:a16="http://schemas.microsoft.com/office/drawing/2014/main" id="{C9963AB9-442E-9B7D-19E6-076E33C944DB}"/>
              </a:ext>
            </a:extLst>
          </p:cNvPr>
          <p:cNvSpPr>
            <a:spLocks noGrp="1"/>
          </p:cNvSpPr>
          <p:nvPr>
            <p:ph idx="1"/>
          </p:nvPr>
        </p:nvSpPr>
        <p:spPr>
          <a:xfrm>
            <a:off x="677334" y="1127234"/>
            <a:ext cx="8813507" cy="5596046"/>
          </a:xfrm>
        </p:spPr>
        <p:txBody>
          <a:bodyPr>
            <a:normAutofit/>
          </a:bodyPr>
          <a:lstStyle/>
          <a:p>
            <a:pPr marL="0" indent="0">
              <a:buNone/>
            </a:pPr>
            <a:r>
              <a:rPr lang="en-US" sz="1400" dirty="0"/>
              <a:t>In the context of GenAI applications for software testing, both instruction-tuned (sometimes referred to as non-reasoning) and reasoning LLMs are utilized.</a:t>
            </a:r>
          </a:p>
          <a:p>
            <a:r>
              <a:rPr lang="en-US" sz="1400" dirty="0"/>
              <a:t>Instruction-tuned LLMs are (non reasoning) are good for simple tasks like summarizing defects or generating testcases </a:t>
            </a:r>
          </a:p>
          <a:p>
            <a:r>
              <a:rPr lang="en-US" sz="1400" dirty="0"/>
              <a:t>reasoning LLMs  are good for complex tasks multi  step logic (</a:t>
            </a:r>
            <a:r>
              <a:rPr lang="en-US" sz="1400" dirty="0" err="1"/>
              <a:t>eg</a:t>
            </a:r>
            <a:r>
              <a:rPr lang="en-US" sz="1400" dirty="0"/>
              <a:t> analyzing long test logs)</a:t>
            </a:r>
          </a:p>
          <a:p>
            <a:endParaRPr lang="en-US" sz="1400" dirty="0"/>
          </a:p>
          <a:p>
            <a:endParaRPr lang="en-US" sz="1400" dirty="0"/>
          </a:p>
        </p:txBody>
      </p:sp>
      <p:pic>
        <p:nvPicPr>
          <p:cNvPr id="4" name="Picture 3">
            <a:extLst>
              <a:ext uri="{FF2B5EF4-FFF2-40B4-BE49-F238E27FC236}">
                <a16:creationId xmlns:a16="http://schemas.microsoft.com/office/drawing/2014/main" id="{CC8E8E34-38BD-6B1F-2EFC-D1849BEC7BAF}"/>
              </a:ext>
            </a:extLst>
          </p:cNvPr>
          <p:cNvPicPr>
            <a:picLocks noChangeAspect="1"/>
          </p:cNvPicPr>
          <p:nvPr/>
        </p:nvPicPr>
        <p:blipFill>
          <a:blip r:embed="rId2"/>
          <a:stretch>
            <a:fillRect/>
          </a:stretch>
        </p:blipFill>
        <p:spPr>
          <a:xfrm>
            <a:off x="736793" y="3186992"/>
            <a:ext cx="6724484" cy="3415708"/>
          </a:xfrm>
          <a:prstGeom prst="rect">
            <a:avLst/>
          </a:prstGeom>
        </p:spPr>
      </p:pic>
      <p:sp>
        <p:nvSpPr>
          <p:cNvPr id="6" name="TextBox 5">
            <a:extLst>
              <a:ext uri="{FF2B5EF4-FFF2-40B4-BE49-F238E27FC236}">
                <a16:creationId xmlns:a16="http://schemas.microsoft.com/office/drawing/2014/main" id="{459DE67B-402F-9778-ACB0-4C266CD491D1}"/>
              </a:ext>
            </a:extLst>
          </p:cNvPr>
          <p:cNvSpPr txBox="1"/>
          <p:nvPr/>
        </p:nvSpPr>
        <p:spPr>
          <a:xfrm>
            <a:off x="1048408" y="2697080"/>
            <a:ext cx="6101254" cy="369332"/>
          </a:xfrm>
          <a:prstGeom prst="rect">
            <a:avLst/>
          </a:prstGeom>
          <a:noFill/>
        </p:spPr>
        <p:txBody>
          <a:bodyPr wrap="square">
            <a:spAutoFit/>
          </a:bodyPr>
          <a:lstStyle/>
          <a:p>
            <a:r>
              <a:rPr lang="en-US" sz="1800" b="1" dirty="0">
                <a:solidFill>
                  <a:srgbClr val="FF0000"/>
                </a:solidFill>
              </a:rPr>
              <a:t>Instruction-Tuned Example</a:t>
            </a:r>
            <a:endParaRPr lang="en-IN" dirty="0"/>
          </a:p>
        </p:txBody>
      </p:sp>
    </p:spTree>
    <p:extLst>
      <p:ext uri="{BB962C8B-B14F-4D97-AF65-F5344CB8AC3E}">
        <p14:creationId xmlns:p14="http://schemas.microsoft.com/office/powerpoint/2010/main" val="382490852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1575D-94C1-C37F-14E8-6C2517F0E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DE97B-B502-2A79-35BE-6A6E8D34E01C}"/>
              </a:ext>
            </a:extLst>
          </p:cNvPr>
          <p:cNvSpPr>
            <a:spLocks noGrp="1"/>
          </p:cNvSpPr>
          <p:nvPr>
            <p:ph type="title"/>
          </p:nvPr>
        </p:nvSpPr>
        <p:spPr>
          <a:xfrm>
            <a:off x="677334" y="609600"/>
            <a:ext cx="8596668" cy="517634"/>
          </a:xfrm>
        </p:spPr>
        <p:txBody>
          <a:bodyPr>
            <a:normAutofit/>
          </a:bodyPr>
          <a:lstStyle/>
          <a:p>
            <a:r>
              <a:rPr lang="en-US" sz="1600" b="1" dirty="0">
                <a:solidFill>
                  <a:srgbClr val="FF0000"/>
                </a:solidFill>
              </a:rPr>
              <a:t>1.1.3 Application in software testing</a:t>
            </a:r>
            <a:endParaRPr lang="en-IN" sz="1600" b="1" dirty="0">
              <a:solidFill>
                <a:srgbClr val="FF0000"/>
              </a:solidFill>
            </a:endParaRPr>
          </a:p>
        </p:txBody>
      </p:sp>
      <p:pic>
        <p:nvPicPr>
          <p:cNvPr id="4" name="Content Placeholder 3">
            <a:extLst>
              <a:ext uri="{FF2B5EF4-FFF2-40B4-BE49-F238E27FC236}">
                <a16:creationId xmlns:a16="http://schemas.microsoft.com/office/drawing/2014/main" id="{F2926E9B-66D8-9794-26CD-7B97ACB1EE6D}"/>
              </a:ext>
            </a:extLst>
          </p:cNvPr>
          <p:cNvPicPr>
            <a:picLocks noGrp="1" noChangeAspect="1"/>
          </p:cNvPicPr>
          <p:nvPr>
            <p:ph idx="1"/>
          </p:nvPr>
        </p:nvPicPr>
        <p:blipFill>
          <a:blip r:embed="rId2"/>
          <a:stretch>
            <a:fillRect/>
          </a:stretch>
        </p:blipFill>
        <p:spPr>
          <a:xfrm>
            <a:off x="394139" y="1907056"/>
            <a:ext cx="7228488" cy="4102311"/>
          </a:xfrm>
          <a:prstGeom prst="rect">
            <a:avLst/>
          </a:prstGeom>
        </p:spPr>
      </p:pic>
      <p:sp>
        <p:nvSpPr>
          <p:cNvPr id="6" name="TextBox 5">
            <a:extLst>
              <a:ext uri="{FF2B5EF4-FFF2-40B4-BE49-F238E27FC236}">
                <a16:creationId xmlns:a16="http://schemas.microsoft.com/office/drawing/2014/main" id="{3BFAEDF4-64F2-059A-F0B3-48DADEA9C153}"/>
              </a:ext>
            </a:extLst>
          </p:cNvPr>
          <p:cNvSpPr txBox="1"/>
          <p:nvPr/>
        </p:nvSpPr>
        <p:spPr>
          <a:xfrm>
            <a:off x="1174532" y="1332479"/>
            <a:ext cx="6101254" cy="369332"/>
          </a:xfrm>
          <a:prstGeom prst="rect">
            <a:avLst/>
          </a:prstGeom>
          <a:noFill/>
        </p:spPr>
        <p:txBody>
          <a:bodyPr wrap="square">
            <a:spAutoFit/>
          </a:bodyPr>
          <a:lstStyle/>
          <a:p>
            <a:r>
              <a:rPr lang="en-US" sz="1800" b="1" dirty="0">
                <a:solidFill>
                  <a:srgbClr val="FF0000"/>
                </a:solidFill>
              </a:rPr>
              <a:t>Instruction-Tuned Example</a:t>
            </a:r>
            <a:endParaRPr lang="en-IN" dirty="0"/>
          </a:p>
        </p:txBody>
      </p:sp>
    </p:spTree>
    <p:extLst>
      <p:ext uri="{BB962C8B-B14F-4D97-AF65-F5344CB8AC3E}">
        <p14:creationId xmlns:p14="http://schemas.microsoft.com/office/powerpoint/2010/main" val="6292547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007E-7371-343E-FAC3-D20666AF7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5DBC3-E81E-EB48-DE4F-17B704142DF7}"/>
              </a:ext>
            </a:extLst>
          </p:cNvPr>
          <p:cNvSpPr>
            <a:spLocks noGrp="1"/>
          </p:cNvSpPr>
          <p:nvPr>
            <p:ph type="title"/>
          </p:nvPr>
        </p:nvSpPr>
        <p:spPr>
          <a:xfrm>
            <a:off x="677334" y="609600"/>
            <a:ext cx="8596668" cy="517634"/>
          </a:xfrm>
        </p:spPr>
        <p:txBody>
          <a:bodyPr>
            <a:normAutofit/>
          </a:bodyPr>
          <a:lstStyle/>
          <a:p>
            <a:r>
              <a:rPr lang="en-US" sz="1600" b="1" dirty="0">
                <a:solidFill>
                  <a:srgbClr val="FF0000"/>
                </a:solidFill>
              </a:rPr>
              <a:t>1.1.3 Application in software testing</a:t>
            </a:r>
            <a:endParaRPr lang="en-IN" sz="1600" b="1" dirty="0">
              <a:solidFill>
                <a:srgbClr val="FF0000"/>
              </a:solidFill>
            </a:endParaRPr>
          </a:p>
        </p:txBody>
      </p:sp>
      <p:pic>
        <p:nvPicPr>
          <p:cNvPr id="7" name="Content Placeholder 6">
            <a:extLst>
              <a:ext uri="{FF2B5EF4-FFF2-40B4-BE49-F238E27FC236}">
                <a16:creationId xmlns:a16="http://schemas.microsoft.com/office/drawing/2014/main" id="{9E66A220-1767-A27E-D642-7654BDFBE584}"/>
              </a:ext>
            </a:extLst>
          </p:cNvPr>
          <p:cNvPicPr>
            <a:picLocks noGrp="1" noChangeAspect="1"/>
          </p:cNvPicPr>
          <p:nvPr>
            <p:ph idx="1"/>
          </p:nvPr>
        </p:nvPicPr>
        <p:blipFill>
          <a:blip r:embed="rId2"/>
          <a:stretch>
            <a:fillRect/>
          </a:stretch>
        </p:blipFill>
        <p:spPr>
          <a:xfrm>
            <a:off x="2006269" y="2160588"/>
            <a:ext cx="5939500" cy="3881437"/>
          </a:xfrm>
          <a:prstGeom prst="rect">
            <a:avLst/>
          </a:prstGeom>
        </p:spPr>
      </p:pic>
      <p:sp>
        <p:nvSpPr>
          <p:cNvPr id="9" name="TextBox 8">
            <a:extLst>
              <a:ext uri="{FF2B5EF4-FFF2-40B4-BE49-F238E27FC236}">
                <a16:creationId xmlns:a16="http://schemas.microsoft.com/office/drawing/2014/main" id="{23B33DE8-E942-873F-2254-1883E3B761C9}"/>
              </a:ext>
            </a:extLst>
          </p:cNvPr>
          <p:cNvSpPr txBox="1"/>
          <p:nvPr/>
        </p:nvSpPr>
        <p:spPr>
          <a:xfrm>
            <a:off x="1158766" y="1218465"/>
            <a:ext cx="6101254" cy="369332"/>
          </a:xfrm>
          <a:prstGeom prst="rect">
            <a:avLst/>
          </a:prstGeom>
          <a:noFill/>
        </p:spPr>
        <p:txBody>
          <a:bodyPr wrap="square">
            <a:spAutoFit/>
          </a:bodyPr>
          <a:lstStyle/>
          <a:p>
            <a:r>
              <a:rPr lang="en-IN" sz="1800" dirty="0">
                <a:solidFill>
                  <a:srgbClr val="FF0000"/>
                </a:solidFill>
              </a:rPr>
              <a:t>Reasoning LLMs example</a:t>
            </a:r>
            <a:endParaRPr lang="en-IN" dirty="0"/>
          </a:p>
        </p:txBody>
      </p:sp>
    </p:spTree>
    <p:extLst>
      <p:ext uri="{BB962C8B-B14F-4D97-AF65-F5344CB8AC3E}">
        <p14:creationId xmlns:p14="http://schemas.microsoft.com/office/powerpoint/2010/main" val="246446375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C2630-D560-CEF0-52EE-29B6EBE98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AE228-8A3D-D6DD-599D-180DDD5AA973}"/>
              </a:ext>
            </a:extLst>
          </p:cNvPr>
          <p:cNvSpPr>
            <a:spLocks noGrp="1"/>
          </p:cNvSpPr>
          <p:nvPr>
            <p:ph type="title"/>
          </p:nvPr>
        </p:nvSpPr>
        <p:spPr>
          <a:xfrm>
            <a:off x="677334" y="609600"/>
            <a:ext cx="8596668" cy="517634"/>
          </a:xfrm>
        </p:spPr>
        <p:txBody>
          <a:bodyPr>
            <a:normAutofit/>
          </a:bodyPr>
          <a:lstStyle/>
          <a:p>
            <a:r>
              <a:rPr lang="en-US" sz="1600" b="1" dirty="0">
                <a:solidFill>
                  <a:srgbClr val="FF0000"/>
                </a:solidFill>
              </a:rPr>
              <a:t>1.1.3 Application in software testing</a:t>
            </a:r>
            <a:endParaRPr lang="en-IN" sz="1600" b="1" dirty="0">
              <a:solidFill>
                <a:srgbClr val="FF0000"/>
              </a:solidFill>
            </a:endParaRPr>
          </a:p>
        </p:txBody>
      </p:sp>
      <p:sp>
        <p:nvSpPr>
          <p:cNvPr id="9" name="TextBox 8">
            <a:extLst>
              <a:ext uri="{FF2B5EF4-FFF2-40B4-BE49-F238E27FC236}">
                <a16:creationId xmlns:a16="http://schemas.microsoft.com/office/drawing/2014/main" id="{75D52771-D67E-59A8-2CB2-6360EC68CA7F}"/>
              </a:ext>
            </a:extLst>
          </p:cNvPr>
          <p:cNvSpPr txBox="1"/>
          <p:nvPr/>
        </p:nvSpPr>
        <p:spPr>
          <a:xfrm>
            <a:off x="1158766" y="1218465"/>
            <a:ext cx="6101254" cy="369332"/>
          </a:xfrm>
          <a:prstGeom prst="rect">
            <a:avLst/>
          </a:prstGeom>
          <a:noFill/>
        </p:spPr>
        <p:txBody>
          <a:bodyPr wrap="square">
            <a:spAutoFit/>
          </a:bodyPr>
          <a:lstStyle/>
          <a:p>
            <a:r>
              <a:rPr lang="en-IN" sz="1800" dirty="0">
                <a:solidFill>
                  <a:srgbClr val="FF0000"/>
                </a:solidFill>
              </a:rPr>
              <a:t>Reasoning LLMs example</a:t>
            </a:r>
            <a:endParaRPr lang="en-IN" dirty="0"/>
          </a:p>
        </p:txBody>
      </p:sp>
      <p:pic>
        <p:nvPicPr>
          <p:cNvPr id="6" name="Content Placeholder 5">
            <a:extLst>
              <a:ext uri="{FF2B5EF4-FFF2-40B4-BE49-F238E27FC236}">
                <a16:creationId xmlns:a16="http://schemas.microsoft.com/office/drawing/2014/main" id="{66846D24-10D7-5675-D97A-04D9DEA380AC}"/>
              </a:ext>
            </a:extLst>
          </p:cNvPr>
          <p:cNvPicPr>
            <a:picLocks noGrp="1" noChangeAspect="1"/>
          </p:cNvPicPr>
          <p:nvPr>
            <p:ph idx="1"/>
          </p:nvPr>
        </p:nvPicPr>
        <p:blipFill>
          <a:blip r:embed="rId2"/>
          <a:stretch>
            <a:fillRect/>
          </a:stretch>
        </p:blipFill>
        <p:spPr>
          <a:xfrm>
            <a:off x="1769006" y="2093094"/>
            <a:ext cx="5988358" cy="3086259"/>
          </a:xfrm>
          <a:prstGeom prst="rect">
            <a:avLst/>
          </a:prstGeom>
        </p:spPr>
      </p:pic>
    </p:spTree>
    <p:extLst>
      <p:ext uri="{BB962C8B-B14F-4D97-AF65-F5344CB8AC3E}">
        <p14:creationId xmlns:p14="http://schemas.microsoft.com/office/powerpoint/2010/main" val="35278421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16285-7DDD-07DC-AA59-C93C6BB4D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96E31-ECE2-FE0A-2711-46664658548A}"/>
              </a:ext>
            </a:extLst>
          </p:cNvPr>
          <p:cNvSpPr>
            <a:spLocks noGrp="1"/>
          </p:cNvSpPr>
          <p:nvPr>
            <p:ph type="title"/>
          </p:nvPr>
        </p:nvSpPr>
        <p:spPr>
          <a:xfrm>
            <a:off x="677334" y="609600"/>
            <a:ext cx="8596668" cy="517634"/>
          </a:xfrm>
        </p:spPr>
        <p:txBody>
          <a:bodyPr>
            <a:normAutofit/>
          </a:bodyPr>
          <a:lstStyle/>
          <a:p>
            <a:r>
              <a:rPr lang="en-US" sz="1600" dirty="0">
                <a:solidFill>
                  <a:srgbClr val="FF0000"/>
                </a:solidFill>
              </a:rPr>
              <a:t>1.1.4 Multimodal LLMs and Vision-Language Models</a:t>
            </a:r>
            <a:endParaRPr lang="en-IN" sz="1600" b="1" dirty="0">
              <a:solidFill>
                <a:srgbClr val="FF0000"/>
              </a:solidFill>
            </a:endParaRPr>
          </a:p>
        </p:txBody>
      </p:sp>
      <p:sp>
        <p:nvSpPr>
          <p:cNvPr id="4" name="Content Placeholder 3">
            <a:extLst>
              <a:ext uri="{FF2B5EF4-FFF2-40B4-BE49-F238E27FC236}">
                <a16:creationId xmlns:a16="http://schemas.microsoft.com/office/drawing/2014/main" id="{B0AD16B3-B262-8EBE-A99B-3850872A021E}"/>
              </a:ext>
            </a:extLst>
          </p:cNvPr>
          <p:cNvSpPr>
            <a:spLocks noGrp="1"/>
          </p:cNvSpPr>
          <p:nvPr>
            <p:ph idx="1"/>
          </p:nvPr>
        </p:nvSpPr>
        <p:spPr>
          <a:xfrm>
            <a:off x="803458" y="1587797"/>
            <a:ext cx="8596668" cy="3880773"/>
          </a:xfrm>
        </p:spPr>
        <p:txBody>
          <a:bodyPr/>
          <a:lstStyle/>
          <a:p>
            <a:r>
              <a:rPr lang="en-US" dirty="0"/>
              <a:t>Multimodal LLMs are the AI models than can handle different types of data like</a:t>
            </a:r>
          </a:p>
          <a:p>
            <a:r>
              <a:rPr lang="en-US" dirty="0"/>
              <a:t>Text</a:t>
            </a:r>
          </a:p>
          <a:p>
            <a:r>
              <a:rPr lang="en-US" dirty="0"/>
              <a:t>Images</a:t>
            </a:r>
          </a:p>
          <a:p>
            <a:r>
              <a:rPr lang="en-US" dirty="0"/>
              <a:t>Sound</a:t>
            </a:r>
          </a:p>
          <a:p>
            <a:r>
              <a:rPr lang="en-US" dirty="0"/>
              <a:t>Video</a:t>
            </a:r>
          </a:p>
          <a:p>
            <a:r>
              <a:rPr lang="en-US" dirty="0"/>
              <a:t>These models are trained on large and diverse datasets that enable them to learn relationships between different types of data</a:t>
            </a:r>
          </a:p>
          <a:p>
            <a:r>
              <a:rPr lang="en-US" dirty="0"/>
              <a:t>Each data is converted into tokens / embeddings before processing</a:t>
            </a:r>
          </a:p>
          <a:p>
            <a:endParaRPr lang="en-US" dirty="0"/>
          </a:p>
          <a:p>
            <a:endParaRPr lang="en-IN" dirty="0"/>
          </a:p>
        </p:txBody>
      </p:sp>
    </p:spTree>
    <p:extLst>
      <p:ext uri="{BB962C8B-B14F-4D97-AF65-F5344CB8AC3E}">
        <p14:creationId xmlns:p14="http://schemas.microsoft.com/office/powerpoint/2010/main" val="6218604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7E53D-0F3B-B009-367C-3C317B214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CD638-96A4-1E31-5BEB-25F6E909D20F}"/>
              </a:ext>
            </a:extLst>
          </p:cNvPr>
          <p:cNvSpPr>
            <a:spLocks noGrp="1"/>
          </p:cNvSpPr>
          <p:nvPr>
            <p:ph type="title"/>
          </p:nvPr>
        </p:nvSpPr>
        <p:spPr>
          <a:xfrm>
            <a:off x="677334" y="609600"/>
            <a:ext cx="8596668" cy="517634"/>
          </a:xfrm>
        </p:spPr>
        <p:txBody>
          <a:bodyPr>
            <a:normAutofit/>
          </a:bodyPr>
          <a:lstStyle/>
          <a:p>
            <a:r>
              <a:rPr lang="en-US" sz="1600" dirty="0">
                <a:solidFill>
                  <a:srgbClr val="FF0000"/>
                </a:solidFill>
              </a:rPr>
              <a:t>1.1.4 Vision-Language Models</a:t>
            </a:r>
            <a:endParaRPr lang="en-IN" sz="1600" b="1" dirty="0">
              <a:solidFill>
                <a:srgbClr val="FF0000"/>
              </a:solidFill>
            </a:endParaRPr>
          </a:p>
        </p:txBody>
      </p:sp>
      <p:sp>
        <p:nvSpPr>
          <p:cNvPr id="4" name="Content Placeholder 3">
            <a:extLst>
              <a:ext uri="{FF2B5EF4-FFF2-40B4-BE49-F238E27FC236}">
                <a16:creationId xmlns:a16="http://schemas.microsoft.com/office/drawing/2014/main" id="{31C1D634-DA13-C73A-8D57-7C366522926E}"/>
              </a:ext>
            </a:extLst>
          </p:cNvPr>
          <p:cNvSpPr>
            <a:spLocks noGrp="1"/>
          </p:cNvSpPr>
          <p:nvPr>
            <p:ph idx="1"/>
          </p:nvPr>
        </p:nvSpPr>
        <p:spPr>
          <a:xfrm>
            <a:off x="803458" y="1587797"/>
            <a:ext cx="8596668" cy="3880773"/>
          </a:xfrm>
        </p:spPr>
        <p:txBody>
          <a:bodyPr/>
          <a:lstStyle/>
          <a:p>
            <a:r>
              <a:rPr lang="en-US" dirty="0"/>
              <a:t>Vision-language models, a subset of multimodal LLMs</a:t>
            </a:r>
          </a:p>
          <a:p>
            <a:r>
              <a:rPr lang="en-US" dirty="0"/>
              <a:t>Integrate visual and textual information to perform tasks such as image captioning, visual question answering and analyzing the consistency between textual and visual input.</a:t>
            </a:r>
          </a:p>
          <a:p>
            <a:r>
              <a:rPr lang="en-US" dirty="0"/>
              <a:t>Few 	common tasks:</a:t>
            </a:r>
          </a:p>
          <a:p>
            <a:r>
              <a:rPr lang="en-US" dirty="0"/>
              <a:t>Image captioning (describe what's in a picture)</a:t>
            </a:r>
          </a:p>
          <a:p>
            <a:r>
              <a:rPr lang="en-US" dirty="0"/>
              <a:t>Visual question answering (answer the question about an image)</a:t>
            </a:r>
          </a:p>
          <a:p>
            <a:r>
              <a:rPr lang="en-US" dirty="0"/>
              <a:t>Check the consistency between text and visuals</a:t>
            </a:r>
          </a:p>
          <a:p>
            <a:endParaRPr lang="en-US" dirty="0"/>
          </a:p>
          <a:p>
            <a:endParaRPr lang="en-IN" dirty="0"/>
          </a:p>
        </p:txBody>
      </p:sp>
    </p:spTree>
    <p:extLst>
      <p:ext uri="{BB962C8B-B14F-4D97-AF65-F5344CB8AC3E}">
        <p14:creationId xmlns:p14="http://schemas.microsoft.com/office/powerpoint/2010/main" val="339793930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5B8FA-133E-5463-3103-4EEBF5F32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9963B-2F21-C6A6-E8A0-8BA5E0DD63E0}"/>
              </a:ext>
            </a:extLst>
          </p:cNvPr>
          <p:cNvSpPr>
            <a:spLocks noGrp="1"/>
          </p:cNvSpPr>
          <p:nvPr>
            <p:ph type="title"/>
          </p:nvPr>
        </p:nvSpPr>
        <p:spPr>
          <a:xfrm>
            <a:off x="677334" y="609600"/>
            <a:ext cx="8596668" cy="517634"/>
          </a:xfrm>
        </p:spPr>
        <p:txBody>
          <a:bodyPr>
            <a:normAutofit/>
          </a:bodyPr>
          <a:lstStyle/>
          <a:p>
            <a:r>
              <a:rPr lang="en-US" sz="1600" dirty="0">
                <a:solidFill>
                  <a:srgbClr val="FF0000"/>
                </a:solidFill>
              </a:rPr>
              <a:t>1.1.4 Vision-Language Models</a:t>
            </a:r>
            <a:endParaRPr lang="en-IN" sz="1600" b="1" dirty="0">
              <a:solidFill>
                <a:srgbClr val="FF0000"/>
              </a:solidFill>
            </a:endParaRPr>
          </a:p>
        </p:txBody>
      </p:sp>
      <p:sp>
        <p:nvSpPr>
          <p:cNvPr id="4" name="Content Placeholder 3">
            <a:extLst>
              <a:ext uri="{FF2B5EF4-FFF2-40B4-BE49-F238E27FC236}">
                <a16:creationId xmlns:a16="http://schemas.microsoft.com/office/drawing/2014/main" id="{C9E6DFEE-01F6-29C5-ADA7-D3272560F386}"/>
              </a:ext>
            </a:extLst>
          </p:cNvPr>
          <p:cNvSpPr>
            <a:spLocks noGrp="1"/>
          </p:cNvSpPr>
          <p:nvPr>
            <p:ph idx="1"/>
          </p:nvPr>
        </p:nvSpPr>
        <p:spPr>
          <a:xfrm>
            <a:off x="803458" y="1587797"/>
            <a:ext cx="8596668" cy="3880773"/>
          </a:xfrm>
        </p:spPr>
        <p:txBody>
          <a:bodyPr/>
          <a:lstStyle/>
          <a:p>
            <a:r>
              <a:rPr lang="en-IN" dirty="0"/>
              <a:t>Uses of these models on software testing </a:t>
            </a:r>
          </a:p>
          <a:p>
            <a:r>
              <a:rPr lang="en-IN" dirty="0"/>
              <a:t>Analyse screenshots, GUIs, wireframes ,defect reports ,user stories </a:t>
            </a:r>
          </a:p>
          <a:p>
            <a:r>
              <a:rPr lang="en-US" dirty="0"/>
              <a:t>This capability allows testers to identify discrepancies between expected results and actual visual elements on a </a:t>
            </a:r>
            <a:r>
              <a:rPr lang="en-IN" dirty="0"/>
              <a:t>screenshot.</a:t>
            </a:r>
          </a:p>
          <a:p>
            <a:r>
              <a:rPr lang="en-US" dirty="0"/>
              <a:t>LLMs augmented with vision-language models can generate rich, realistic test cases that incorporate both textual data and visual cues, thereby increasing overall coverage.</a:t>
            </a:r>
          </a:p>
          <a:p>
            <a:r>
              <a:rPr lang="en-US" dirty="0"/>
              <a:t>For example :</a:t>
            </a:r>
          </a:p>
          <a:p>
            <a:r>
              <a:rPr lang="en-US" dirty="0"/>
              <a:t>If the text in the requirement says “Button should be green ” and the screenshot shows red then </a:t>
            </a:r>
          </a:p>
          <a:p>
            <a:r>
              <a:rPr lang="en-US" dirty="0"/>
              <a:t>The model flags the defect 	automatically</a:t>
            </a:r>
            <a:endParaRPr lang="en-IN" dirty="0"/>
          </a:p>
        </p:txBody>
      </p:sp>
    </p:spTree>
    <p:extLst>
      <p:ext uri="{BB962C8B-B14F-4D97-AF65-F5344CB8AC3E}">
        <p14:creationId xmlns:p14="http://schemas.microsoft.com/office/powerpoint/2010/main" val="413865868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8525E-B937-C0DD-38F3-4E873AC02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F0F3F-0550-D6C8-4A8E-6F5D2BE4C905}"/>
              </a:ext>
            </a:extLst>
          </p:cNvPr>
          <p:cNvSpPr>
            <a:spLocks noGrp="1"/>
          </p:cNvSpPr>
          <p:nvPr>
            <p:ph type="title"/>
          </p:nvPr>
        </p:nvSpPr>
        <p:spPr>
          <a:xfrm>
            <a:off x="677334" y="609600"/>
            <a:ext cx="8596668" cy="517634"/>
          </a:xfrm>
        </p:spPr>
        <p:txBody>
          <a:bodyPr>
            <a:normAutofit/>
          </a:bodyPr>
          <a:lstStyle/>
          <a:p>
            <a:r>
              <a:rPr lang="en-US" sz="1600" dirty="0">
                <a:solidFill>
                  <a:srgbClr val="FF0000"/>
                </a:solidFill>
              </a:rPr>
              <a:t>1.1.4 Hands-On Objective HO-1.1.4 (H1) you need to check this </a:t>
            </a:r>
            <a:endParaRPr lang="en-IN" sz="1600" b="1" dirty="0">
              <a:solidFill>
                <a:srgbClr val="FF0000"/>
              </a:solidFill>
            </a:endParaRPr>
          </a:p>
        </p:txBody>
      </p:sp>
      <p:sp>
        <p:nvSpPr>
          <p:cNvPr id="4" name="Content Placeholder 3">
            <a:extLst>
              <a:ext uri="{FF2B5EF4-FFF2-40B4-BE49-F238E27FC236}">
                <a16:creationId xmlns:a16="http://schemas.microsoft.com/office/drawing/2014/main" id="{13DF0885-E179-C749-D62E-ABDF949E30BD}"/>
              </a:ext>
            </a:extLst>
          </p:cNvPr>
          <p:cNvSpPr>
            <a:spLocks noGrp="1"/>
          </p:cNvSpPr>
          <p:nvPr>
            <p:ph idx="1"/>
          </p:nvPr>
        </p:nvSpPr>
        <p:spPr>
          <a:xfrm>
            <a:off x="803458" y="1587797"/>
            <a:ext cx="8596668" cy="3880773"/>
          </a:xfrm>
        </p:spPr>
        <p:txBody>
          <a:bodyPr/>
          <a:lstStyle/>
          <a:p>
            <a:r>
              <a:rPr lang="en-US" dirty="0"/>
              <a:t>Hands-On Objective HO-1.1.4 (H1): Review and execute a given prompt addressing a test task using a multimodal LLM model </a:t>
            </a:r>
          </a:p>
          <a:p>
            <a:r>
              <a:rPr lang="en-US" dirty="0"/>
              <a:t>This exercise involves reviewing and executing a given prompt for a multimodal LLM using both text and image input to solve a test task in two steps: </a:t>
            </a:r>
          </a:p>
          <a:p>
            <a:r>
              <a:rPr lang="en-US" dirty="0"/>
              <a:t>• Review the inputs: Review the prompt and the input data (text and image).</a:t>
            </a:r>
          </a:p>
          <a:p>
            <a:r>
              <a:rPr lang="en-US" dirty="0"/>
              <a:t>• Execute the prompt and verify the result: Use a multimodal LLM to input both image and text and check the LLM's response. </a:t>
            </a:r>
          </a:p>
          <a:p>
            <a:r>
              <a:rPr lang="en-US" dirty="0"/>
              <a:t>This exercise demonstrates how to use multimodal LLMs for a task involving both text and image input in software testing use cases, including recognizing the benefits and potential challenges involved.</a:t>
            </a:r>
            <a:endParaRPr lang="en-IN" dirty="0"/>
          </a:p>
        </p:txBody>
      </p:sp>
    </p:spTree>
    <p:extLst>
      <p:ext uri="{BB962C8B-B14F-4D97-AF65-F5344CB8AC3E}">
        <p14:creationId xmlns:p14="http://schemas.microsoft.com/office/powerpoint/2010/main" val="149244894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35AEF-0CE8-4014-6E1B-4D4A7F477C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E8FD0B-C71B-3D0C-D768-8FE8A5F53B48}"/>
              </a:ext>
            </a:extLst>
          </p:cNvPr>
          <p:cNvSpPr>
            <a:spLocks noGrp="1"/>
          </p:cNvSpPr>
          <p:nvPr>
            <p:ph type="title"/>
          </p:nvPr>
        </p:nvSpPr>
        <p:spPr>
          <a:xfrm>
            <a:off x="590624" y="2934137"/>
            <a:ext cx="9310122" cy="1320800"/>
          </a:xfrm>
        </p:spPr>
        <p:txBody>
          <a:bodyPr/>
          <a:lstStyle/>
          <a:p>
            <a:r>
              <a:rPr lang="en-IN" dirty="0"/>
              <a:t>Thank You – We are done with 1.1 module</a:t>
            </a:r>
          </a:p>
        </p:txBody>
      </p:sp>
    </p:spTree>
    <p:extLst>
      <p:ext uri="{BB962C8B-B14F-4D97-AF65-F5344CB8AC3E}">
        <p14:creationId xmlns:p14="http://schemas.microsoft.com/office/powerpoint/2010/main" val="108065964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769CF-6C54-8283-2E63-E445DDEEA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27AD6-EA77-67E9-D597-F7FDF0AFA7C9}"/>
              </a:ext>
            </a:extLst>
          </p:cNvPr>
          <p:cNvSpPr>
            <a:spLocks noGrp="1"/>
          </p:cNvSpPr>
          <p:nvPr>
            <p:ph type="title"/>
          </p:nvPr>
        </p:nvSpPr>
        <p:spPr/>
        <p:txBody>
          <a:bodyPr>
            <a:normAutofit/>
          </a:bodyPr>
          <a:lstStyle/>
          <a:p>
            <a:r>
              <a:rPr lang="en-IN" sz="2000" dirty="0">
                <a:solidFill>
                  <a:srgbClr val="FF0000"/>
                </a:solidFill>
              </a:rPr>
              <a:t>1.2- Leveraging Generative AI in Software Testing: Core Principles </a:t>
            </a:r>
          </a:p>
        </p:txBody>
      </p:sp>
      <p:sp>
        <p:nvSpPr>
          <p:cNvPr id="3" name="Content Placeholder 2">
            <a:extLst>
              <a:ext uri="{FF2B5EF4-FFF2-40B4-BE49-F238E27FC236}">
                <a16:creationId xmlns:a16="http://schemas.microsoft.com/office/drawing/2014/main" id="{6B15F789-9926-67EB-26F7-70585EE98C4F}"/>
              </a:ext>
            </a:extLst>
          </p:cNvPr>
          <p:cNvSpPr>
            <a:spLocks noGrp="1"/>
          </p:cNvSpPr>
          <p:nvPr>
            <p:ph idx="1"/>
          </p:nvPr>
        </p:nvSpPr>
        <p:spPr>
          <a:xfrm>
            <a:off x="677334" y="1561499"/>
            <a:ext cx="8596668" cy="3880773"/>
          </a:xfrm>
        </p:spPr>
        <p:txBody>
          <a:bodyPr>
            <a:normAutofit/>
          </a:bodyPr>
          <a:lstStyle/>
          <a:p>
            <a:r>
              <a:rPr lang="en-IN" sz="1400" dirty="0"/>
              <a:t>GenAI provides transformative capabilities in various test activities</a:t>
            </a:r>
          </a:p>
          <a:p>
            <a:r>
              <a:rPr lang="en-US" sz="1400" dirty="0"/>
              <a:t>Some capabilities of LLMs that are helpful in software testing are </a:t>
            </a:r>
          </a:p>
          <a:p>
            <a:pPr lvl="1"/>
            <a:r>
              <a:rPr lang="en-US" sz="1400" dirty="0"/>
              <a:t>Processing the natural language code </a:t>
            </a:r>
          </a:p>
          <a:p>
            <a:pPr lvl="1"/>
            <a:r>
              <a:rPr lang="en-US" sz="1400" dirty="0"/>
              <a:t>generating coherent text and code,</a:t>
            </a:r>
          </a:p>
          <a:p>
            <a:pPr lvl="1"/>
            <a:r>
              <a:rPr lang="en-US" sz="1400" dirty="0"/>
              <a:t> answering questions, </a:t>
            </a:r>
          </a:p>
          <a:p>
            <a:pPr lvl="1"/>
            <a:r>
              <a:rPr lang="en-US" sz="1400" dirty="0"/>
              <a:t>summarizing information, translating languages</a:t>
            </a:r>
          </a:p>
          <a:p>
            <a:pPr lvl="1"/>
            <a:r>
              <a:rPr lang="en-US" sz="1400" dirty="0"/>
              <a:t>analyzing images in a multimodal context.</a:t>
            </a:r>
          </a:p>
        </p:txBody>
      </p:sp>
    </p:spTree>
    <p:extLst>
      <p:ext uri="{BB962C8B-B14F-4D97-AF65-F5344CB8AC3E}">
        <p14:creationId xmlns:p14="http://schemas.microsoft.com/office/powerpoint/2010/main" val="23297399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05DB4-09B8-4D99-4668-056B0BD457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BD6D6-1403-2D25-025F-F4B48B47560B}"/>
              </a:ext>
            </a:extLst>
          </p:cNvPr>
          <p:cNvSpPr>
            <a:spLocks noGrp="1"/>
          </p:cNvSpPr>
          <p:nvPr>
            <p:ph type="title"/>
          </p:nvPr>
        </p:nvSpPr>
        <p:spPr/>
        <p:txBody>
          <a:bodyPr>
            <a:normAutofit/>
          </a:bodyPr>
          <a:lstStyle/>
          <a:p>
            <a:r>
              <a:rPr lang="en-IN" sz="2000" dirty="0">
                <a:solidFill>
                  <a:srgbClr val="FF0000"/>
                </a:solidFill>
              </a:rPr>
              <a:t>1.2- Leveraging Generative AI in Software Testing: Core Principles </a:t>
            </a:r>
          </a:p>
        </p:txBody>
      </p:sp>
      <p:sp>
        <p:nvSpPr>
          <p:cNvPr id="3" name="Content Placeholder 2">
            <a:extLst>
              <a:ext uri="{FF2B5EF4-FFF2-40B4-BE49-F238E27FC236}">
                <a16:creationId xmlns:a16="http://schemas.microsoft.com/office/drawing/2014/main" id="{28754936-DE4E-ADFC-DF78-FCFEDE3AC78A}"/>
              </a:ext>
            </a:extLst>
          </p:cNvPr>
          <p:cNvSpPr>
            <a:spLocks noGrp="1"/>
          </p:cNvSpPr>
          <p:nvPr>
            <p:ph idx="1"/>
          </p:nvPr>
        </p:nvSpPr>
        <p:spPr>
          <a:xfrm>
            <a:off x="677334" y="1482672"/>
            <a:ext cx="8596668" cy="4686901"/>
          </a:xfrm>
        </p:spPr>
        <p:txBody>
          <a:bodyPr>
            <a:normAutofit/>
          </a:bodyPr>
          <a:lstStyle/>
          <a:p>
            <a:pPr marL="0" indent="0">
              <a:buNone/>
            </a:pPr>
            <a:r>
              <a:rPr lang="en-US" sz="1400" dirty="0">
                <a:solidFill>
                  <a:srgbClr val="FF0000"/>
                </a:solidFill>
              </a:rPr>
              <a:t>1.2.1 Key LLM Capabilities for Test Tasks</a:t>
            </a:r>
          </a:p>
          <a:p>
            <a:pPr marL="0" indent="0">
              <a:buNone/>
            </a:pPr>
            <a:endParaRPr lang="en-US" sz="1400" dirty="0"/>
          </a:p>
          <a:p>
            <a:r>
              <a:rPr lang="en-US" sz="1400" dirty="0"/>
              <a:t>Requirements analysis and improvement: LLMs can help analyze requirements, and other elements of the test basis, by identifying ambiguities, inconsistencies, or missing information. They can generate meaningful questions to help clarify requirements during discussions with stakeholders</a:t>
            </a:r>
          </a:p>
          <a:p>
            <a:r>
              <a:rPr lang="en-US" sz="1400" dirty="0"/>
              <a:t>Test case creation support: LLMs can help generate test cases and suggest test objectives based on system requirements, user stories or any other elements of the test basis</a:t>
            </a:r>
          </a:p>
          <a:p>
            <a:r>
              <a:rPr lang="en-US" sz="1400" dirty="0"/>
              <a:t>Test oracle generation: LLMs can help generate expected results.</a:t>
            </a:r>
          </a:p>
          <a:p>
            <a:r>
              <a:rPr lang="en-US" sz="1400" dirty="0"/>
              <a:t>Test data generation: LLMs can generate datasets, set boundary values, and create different combinations of test data.</a:t>
            </a:r>
          </a:p>
          <a:p>
            <a:r>
              <a:rPr lang="en-US" sz="1400" dirty="0"/>
              <a:t>Test automation support: LLMs can help generate test scripts from test case description and improve existing test scripts by suggesting changes and identifying appropriate test design techniques.</a:t>
            </a:r>
          </a:p>
          <a:p>
            <a:r>
              <a:rPr lang="en-US" sz="1400" dirty="0"/>
              <a:t>Test result analysis: LLMs can help analyze test results by creating summaries and classifying anomalies based on severity and priority.</a:t>
            </a:r>
          </a:p>
          <a:p>
            <a:r>
              <a:rPr lang="en-US" sz="1400" dirty="0"/>
              <a:t>Test ware creation: LLMs can help create various documents, including test plans, test reports and defect reports, and keep them updated as the project evolves.</a:t>
            </a:r>
          </a:p>
          <a:p>
            <a:endParaRPr lang="en-US" sz="1400" dirty="0"/>
          </a:p>
        </p:txBody>
      </p:sp>
    </p:spTree>
    <p:extLst>
      <p:ext uri="{BB962C8B-B14F-4D97-AF65-F5344CB8AC3E}">
        <p14:creationId xmlns:p14="http://schemas.microsoft.com/office/powerpoint/2010/main" val="76399593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82D8C-7F72-AE6F-FCE6-7E2CC1959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CAFA9-10C7-F08F-AA47-E8C330C192FF}"/>
              </a:ext>
            </a:extLst>
          </p:cNvPr>
          <p:cNvSpPr>
            <a:spLocks noGrp="1"/>
          </p:cNvSpPr>
          <p:nvPr>
            <p:ph type="title"/>
          </p:nvPr>
        </p:nvSpPr>
        <p:spPr/>
        <p:txBody>
          <a:bodyPr>
            <a:normAutofit/>
          </a:bodyPr>
          <a:lstStyle/>
          <a:p>
            <a:r>
              <a:rPr lang="en-IN" sz="2000" dirty="0">
                <a:solidFill>
                  <a:srgbClr val="FF0000"/>
                </a:solidFill>
              </a:rPr>
              <a:t>1.2- Leveraging Generative AI in Software Testing: Core Principles </a:t>
            </a:r>
          </a:p>
        </p:txBody>
      </p:sp>
      <p:sp>
        <p:nvSpPr>
          <p:cNvPr id="3" name="Content Placeholder 2">
            <a:extLst>
              <a:ext uri="{FF2B5EF4-FFF2-40B4-BE49-F238E27FC236}">
                <a16:creationId xmlns:a16="http://schemas.microsoft.com/office/drawing/2014/main" id="{5B732433-5EB7-9A7E-EECA-7DD2709D86EB}"/>
              </a:ext>
            </a:extLst>
          </p:cNvPr>
          <p:cNvSpPr>
            <a:spLocks noGrp="1"/>
          </p:cNvSpPr>
          <p:nvPr>
            <p:ph idx="1"/>
          </p:nvPr>
        </p:nvSpPr>
        <p:spPr>
          <a:xfrm>
            <a:off x="677334" y="1561499"/>
            <a:ext cx="8596668" cy="3880773"/>
          </a:xfrm>
        </p:spPr>
        <p:txBody>
          <a:bodyPr>
            <a:normAutofit fontScale="85000" lnSpcReduction="10000"/>
          </a:bodyPr>
          <a:lstStyle/>
          <a:p>
            <a:pPr marL="0" indent="0">
              <a:buNone/>
            </a:pPr>
            <a:r>
              <a:rPr lang="en-US" sz="1400" dirty="0">
                <a:solidFill>
                  <a:srgbClr val="FF0000"/>
                </a:solidFill>
              </a:rPr>
              <a:t>1.2.2 AI Chatbots and LLM-Powered Testing Applications for Software Testing</a:t>
            </a:r>
          </a:p>
          <a:p>
            <a:r>
              <a:rPr lang="en-US" sz="1400" b="1" dirty="0"/>
              <a:t>AI chatbots</a:t>
            </a:r>
            <a:r>
              <a:rPr lang="en-US" sz="1400" dirty="0"/>
              <a:t> are computer programs that use </a:t>
            </a:r>
            <a:r>
              <a:rPr lang="en-US" sz="1400" b="1" dirty="0"/>
              <a:t>Artificial Intelligence (AI)</a:t>
            </a:r>
            <a:r>
              <a:rPr lang="en-US" sz="1400" dirty="0"/>
              <a:t> to simulate human-like conversations with users through text or voice</a:t>
            </a:r>
          </a:p>
          <a:p>
            <a:r>
              <a:rPr lang="en-US" sz="1400" dirty="0"/>
              <a:t>AI Chatbots provide a user-friendly, conversational interface that enables testers to communicate directly with LLMs.</a:t>
            </a:r>
          </a:p>
          <a:p>
            <a:r>
              <a:rPr lang="en-US" sz="1400" dirty="0"/>
              <a:t>Unlike simple scripted bots, AI chatbots use technologies such as </a:t>
            </a:r>
            <a:r>
              <a:rPr lang="en-US" sz="1400" b="1" dirty="0"/>
              <a:t>Natural Language Processing (NLP)</a:t>
            </a:r>
            <a:r>
              <a:rPr lang="en-US" sz="1400" dirty="0"/>
              <a:t> and </a:t>
            </a:r>
            <a:r>
              <a:rPr lang="en-US" sz="1400" b="1" dirty="0"/>
              <a:t>Large Language Models (LLMs)</a:t>
            </a:r>
            <a:r>
              <a:rPr lang="en-US" sz="1400" dirty="0"/>
              <a:t> to understand natural language and respond intelligently.</a:t>
            </a:r>
          </a:p>
          <a:p>
            <a:r>
              <a:rPr lang="en-US" sz="1400" dirty="0">
                <a:solidFill>
                  <a:schemeClr val="tx1"/>
                </a:solidFill>
              </a:rPr>
              <a:t>Testers can input questions, commands or prompts and receive immediate, contextually aware responses</a:t>
            </a:r>
          </a:p>
          <a:p>
            <a:r>
              <a:rPr lang="en-US" sz="1400" dirty="0">
                <a:solidFill>
                  <a:schemeClr val="tx1"/>
                </a:solidFill>
              </a:rPr>
              <a:t>Testers can use </a:t>
            </a:r>
            <a:r>
              <a:rPr lang="en-US" sz="1400" dirty="0"/>
              <a:t>techniques such as prompt chaining to refine outputs, making chatbots particularly effective for </a:t>
            </a:r>
          </a:p>
          <a:p>
            <a:pPr lvl="1"/>
            <a:r>
              <a:rPr lang="en-US" sz="1200" dirty="0">
                <a:solidFill>
                  <a:schemeClr val="tx1"/>
                </a:solidFill>
              </a:rPr>
              <a:t>Exploratory testing</a:t>
            </a:r>
          </a:p>
          <a:p>
            <a:pPr lvl="1"/>
            <a:r>
              <a:rPr lang="en-US" sz="1200" dirty="0">
                <a:solidFill>
                  <a:schemeClr val="tx1"/>
                </a:solidFill>
              </a:rPr>
              <a:t>Routine tasks </a:t>
            </a:r>
          </a:p>
          <a:p>
            <a:pPr lvl="1"/>
            <a:r>
              <a:rPr lang="en-US" sz="1200" dirty="0"/>
              <a:t>onboarding new testers by providing quick access to testing knowledge and practices</a:t>
            </a:r>
            <a:endParaRPr lang="en-US" sz="1400" dirty="0">
              <a:solidFill>
                <a:schemeClr val="tx1"/>
              </a:solidFill>
            </a:endParaRPr>
          </a:p>
          <a:p>
            <a:r>
              <a:rPr lang="en-US" sz="1400" dirty="0">
                <a:solidFill>
                  <a:schemeClr val="tx1"/>
                </a:solidFill>
              </a:rPr>
              <a:t>Benefits </a:t>
            </a:r>
          </a:p>
          <a:p>
            <a:pPr lvl="1"/>
            <a:r>
              <a:rPr lang="en-US" sz="1200" dirty="0">
                <a:solidFill>
                  <a:schemeClr val="tx1"/>
                </a:solidFill>
              </a:rPr>
              <a:t>Fast feedback  and clarification</a:t>
            </a:r>
          </a:p>
          <a:p>
            <a:pPr lvl="1"/>
            <a:r>
              <a:rPr lang="en-US" sz="1200" dirty="0">
                <a:solidFill>
                  <a:schemeClr val="tx1"/>
                </a:solidFill>
              </a:rPr>
              <a:t>Easy to use (even non technical stakeholders can be benefited</a:t>
            </a:r>
          </a:p>
          <a:p>
            <a:pPr lvl="1"/>
            <a:endParaRPr lang="en-US" sz="1200" dirty="0">
              <a:solidFill>
                <a:schemeClr val="tx1"/>
              </a:solidFill>
            </a:endParaRPr>
          </a:p>
          <a:p>
            <a:pPr marL="0" indent="0">
              <a:buNone/>
            </a:pPr>
            <a:endParaRPr lang="en-US" sz="1400" dirty="0">
              <a:solidFill>
                <a:srgbClr val="FF0000"/>
              </a:solidFill>
            </a:endParaRPr>
          </a:p>
        </p:txBody>
      </p:sp>
    </p:spTree>
    <p:extLst>
      <p:ext uri="{BB962C8B-B14F-4D97-AF65-F5344CB8AC3E}">
        <p14:creationId xmlns:p14="http://schemas.microsoft.com/office/powerpoint/2010/main" val="241933616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906DA-49C7-4697-F107-2320BE625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E144D-58B5-9CA9-229A-CBA780344017}"/>
              </a:ext>
            </a:extLst>
          </p:cNvPr>
          <p:cNvSpPr>
            <a:spLocks noGrp="1"/>
          </p:cNvSpPr>
          <p:nvPr>
            <p:ph type="title"/>
          </p:nvPr>
        </p:nvSpPr>
        <p:spPr/>
        <p:txBody>
          <a:bodyPr>
            <a:normAutofit/>
          </a:bodyPr>
          <a:lstStyle/>
          <a:p>
            <a:r>
              <a:rPr lang="en-IN" sz="2000" dirty="0">
                <a:solidFill>
                  <a:srgbClr val="FF0000"/>
                </a:solidFill>
              </a:rPr>
              <a:t>1.2- Leveraging Generative AI in Software Testing: Core Principles </a:t>
            </a:r>
          </a:p>
        </p:txBody>
      </p:sp>
      <p:sp>
        <p:nvSpPr>
          <p:cNvPr id="3" name="Content Placeholder 2">
            <a:extLst>
              <a:ext uri="{FF2B5EF4-FFF2-40B4-BE49-F238E27FC236}">
                <a16:creationId xmlns:a16="http://schemas.microsoft.com/office/drawing/2014/main" id="{7068C95C-9ECB-0526-A492-574A30CE9426}"/>
              </a:ext>
            </a:extLst>
          </p:cNvPr>
          <p:cNvSpPr>
            <a:spLocks noGrp="1"/>
          </p:cNvSpPr>
          <p:nvPr>
            <p:ph idx="1"/>
          </p:nvPr>
        </p:nvSpPr>
        <p:spPr>
          <a:xfrm>
            <a:off x="677334" y="1561499"/>
            <a:ext cx="8596668" cy="3880773"/>
          </a:xfrm>
        </p:spPr>
        <p:txBody>
          <a:bodyPr>
            <a:normAutofit/>
          </a:bodyPr>
          <a:lstStyle/>
          <a:p>
            <a:pPr marL="0" indent="0">
              <a:buNone/>
            </a:pPr>
            <a:r>
              <a:rPr lang="en-US" sz="1400" dirty="0">
                <a:solidFill>
                  <a:srgbClr val="FF0000"/>
                </a:solidFill>
              </a:rPr>
              <a:t>1.2.2 AI Chatbots and LLM-Powered Testing Applications for Software Testing</a:t>
            </a:r>
          </a:p>
          <a:p>
            <a:pPr marL="0" indent="0">
              <a:buNone/>
            </a:pPr>
            <a:r>
              <a:rPr lang="en-US" sz="1400" dirty="0">
                <a:solidFill>
                  <a:srgbClr val="FF0000"/>
                </a:solidFill>
              </a:rPr>
              <a:t>Examples of AI chat bots</a:t>
            </a:r>
          </a:p>
          <a:p>
            <a:pPr lvl="1"/>
            <a:r>
              <a:rPr lang="en-US" sz="1200" dirty="0">
                <a:solidFill>
                  <a:schemeClr val="tx1"/>
                </a:solidFill>
              </a:rPr>
              <a:t>ChatGPT – An AI chatbot by OpenAI that answers questions and assists with writing, coding, and learning.</a:t>
            </a:r>
          </a:p>
          <a:p>
            <a:pPr lvl="1"/>
            <a:endParaRPr lang="en-US" sz="1200" dirty="0">
              <a:solidFill>
                <a:schemeClr val="tx1"/>
              </a:solidFill>
            </a:endParaRPr>
          </a:p>
          <a:p>
            <a:pPr lvl="1"/>
            <a:r>
              <a:rPr lang="en-US" sz="1200" dirty="0">
                <a:solidFill>
                  <a:schemeClr val="tx1"/>
                </a:solidFill>
              </a:rPr>
              <a:t>Google Gemini – Google’s AI chatbot that helps with research, productivity, and problem-solving.</a:t>
            </a:r>
          </a:p>
          <a:p>
            <a:pPr lvl="1"/>
            <a:endParaRPr lang="en-US" sz="1200" dirty="0">
              <a:solidFill>
                <a:schemeClr val="tx1"/>
              </a:solidFill>
            </a:endParaRPr>
          </a:p>
          <a:p>
            <a:pPr lvl="1"/>
            <a:r>
              <a:rPr lang="en-US" sz="1200" dirty="0">
                <a:solidFill>
                  <a:schemeClr val="tx1"/>
                </a:solidFill>
              </a:rPr>
              <a:t>Microsoft Copilot – An AI assistant integrated with Microsoft tools like Word, Excel, and Edge.</a:t>
            </a:r>
          </a:p>
          <a:p>
            <a:pPr lvl="1"/>
            <a:endParaRPr lang="en-US" sz="1200" dirty="0">
              <a:solidFill>
                <a:schemeClr val="tx1"/>
              </a:solidFill>
            </a:endParaRPr>
          </a:p>
          <a:p>
            <a:pPr lvl="1"/>
            <a:r>
              <a:rPr lang="en-US" sz="1200" dirty="0">
                <a:solidFill>
                  <a:schemeClr val="tx1"/>
                </a:solidFill>
              </a:rPr>
              <a:t>Claude – An AI chatbot developed by Anthropic known for reasoning and document analysis.</a:t>
            </a:r>
          </a:p>
          <a:p>
            <a:pPr lvl="1"/>
            <a:endParaRPr lang="en-US" sz="1200" dirty="0">
              <a:solidFill>
                <a:schemeClr val="tx1"/>
              </a:solidFill>
            </a:endParaRPr>
          </a:p>
          <a:p>
            <a:pPr lvl="1"/>
            <a:r>
              <a:rPr lang="en-US" sz="1200" dirty="0">
                <a:solidFill>
                  <a:schemeClr val="tx1"/>
                </a:solidFill>
              </a:rPr>
              <a:t>IBM Watson Assistant – An enterprise AI chatbot used for customer service automation.</a:t>
            </a:r>
          </a:p>
          <a:p>
            <a:pPr marL="0" indent="0">
              <a:buNone/>
            </a:pPr>
            <a:endParaRPr lang="en-US" sz="1400" dirty="0">
              <a:solidFill>
                <a:srgbClr val="FF0000"/>
              </a:solidFill>
            </a:endParaRPr>
          </a:p>
        </p:txBody>
      </p:sp>
    </p:spTree>
    <p:extLst>
      <p:ext uri="{BB962C8B-B14F-4D97-AF65-F5344CB8AC3E}">
        <p14:creationId xmlns:p14="http://schemas.microsoft.com/office/powerpoint/2010/main" val="22717829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7D137-6CDB-8236-7D19-A02F2E525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E1FFC2-3834-7834-9A7C-8489912F813D}"/>
              </a:ext>
            </a:extLst>
          </p:cNvPr>
          <p:cNvSpPr>
            <a:spLocks noGrp="1"/>
          </p:cNvSpPr>
          <p:nvPr>
            <p:ph type="title"/>
          </p:nvPr>
        </p:nvSpPr>
        <p:spPr/>
        <p:txBody>
          <a:bodyPr>
            <a:normAutofit/>
          </a:bodyPr>
          <a:lstStyle/>
          <a:p>
            <a:r>
              <a:rPr lang="en-IN" sz="2000" dirty="0">
                <a:solidFill>
                  <a:srgbClr val="FF0000"/>
                </a:solidFill>
              </a:rPr>
              <a:t>1.2- Leveraging Generative AI in Software Testing: Core Principles </a:t>
            </a:r>
          </a:p>
        </p:txBody>
      </p:sp>
      <p:sp>
        <p:nvSpPr>
          <p:cNvPr id="3" name="Content Placeholder 2">
            <a:extLst>
              <a:ext uri="{FF2B5EF4-FFF2-40B4-BE49-F238E27FC236}">
                <a16:creationId xmlns:a16="http://schemas.microsoft.com/office/drawing/2014/main" id="{DB0B8E54-EB28-3E46-9F54-9784B89F4240}"/>
              </a:ext>
            </a:extLst>
          </p:cNvPr>
          <p:cNvSpPr>
            <a:spLocks noGrp="1"/>
          </p:cNvSpPr>
          <p:nvPr>
            <p:ph idx="1"/>
          </p:nvPr>
        </p:nvSpPr>
        <p:spPr>
          <a:xfrm>
            <a:off x="677334" y="1561499"/>
            <a:ext cx="8596668" cy="5060018"/>
          </a:xfrm>
        </p:spPr>
        <p:txBody>
          <a:bodyPr>
            <a:noAutofit/>
          </a:bodyPr>
          <a:lstStyle/>
          <a:p>
            <a:pPr marL="0" indent="0">
              <a:buNone/>
            </a:pPr>
            <a:r>
              <a:rPr lang="en-US" sz="1400" dirty="0">
                <a:solidFill>
                  <a:srgbClr val="FF0000"/>
                </a:solidFill>
              </a:rPr>
              <a:t>1.2.2 AI Chatbots and LLM-Powered Testing Applications for Software Testing</a:t>
            </a:r>
          </a:p>
          <a:p>
            <a:pPr marL="0" indent="0">
              <a:buNone/>
            </a:pPr>
            <a:endParaRPr lang="en-US" sz="1400" dirty="0">
              <a:solidFill>
                <a:srgbClr val="FF0000"/>
              </a:solidFill>
            </a:endParaRPr>
          </a:p>
          <a:p>
            <a:pPr marL="0" indent="0">
              <a:buNone/>
            </a:pPr>
            <a:r>
              <a:rPr lang="en-IN" sz="1400" dirty="0">
                <a:solidFill>
                  <a:srgbClr val="FF0000"/>
                </a:solidFill>
              </a:rPr>
              <a:t>LLM-Powered Testing Applications</a:t>
            </a:r>
          </a:p>
          <a:p>
            <a:pPr>
              <a:buFont typeface="Wingdings" panose="05000000000000000000" pitchFamily="2" charset="2"/>
              <a:buChar char="Ø"/>
            </a:pPr>
            <a:r>
              <a:rPr lang="en-IN" sz="1400" dirty="0">
                <a:solidFill>
                  <a:schemeClr val="tx1"/>
                </a:solidFill>
              </a:rPr>
              <a:t>LLM powered Testing applications are the LLMs integrated into test tools via APIS</a:t>
            </a:r>
          </a:p>
          <a:p>
            <a:pPr>
              <a:buFont typeface="Wingdings" panose="05000000000000000000" pitchFamily="2" charset="2"/>
              <a:buChar char="Ø"/>
            </a:pPr>
            <a:r>
              <a:rPr lang="en-IN" sz="1400" dirty="0">
                <a:solidFill>
                  <a:schemeClr val="tx1"/>
                </a:solidFill>
              </a:rPr>
              <a:t>They perform automated well defined tasks inside the frameworks</a:t>
            </a:r>
          </a:p>
          <a:p>
            <a:pPr>
              <a:buFont typeface="Wingdings" panose="05000000000000000000" pitchFamily="2" charset="2"/>
              <a:buChar char="Ø"/>
            </a:pPr>
            <a:r>
              <a:rPr lang="en-US" sz="1400" b="1" dirty="0"/>
              <a:t>LLM-Powered Testing Applications</a:t>
            </a:r>
            <a:r>
              <a:rPr lang="en-US" sz="1400" dirty="0"/>
              <a:t> are software testing tools or systems that use </a:t>
            </a:r>
            <a:r>
              <a:rPr lang="en-US" sz="1400" b="1" dirty="0"/>
              <a:t>Large Language Models (LLMs)</a:t>
            </a:r>
            <a:r>
              <a:rPr lang="en-US" sz="1400" dirty="0"/>
              <a:t> to assist or automate different activities in the </a:t>
            </a:r>
            <a:r>
              <a:rPr lang="en-US" sz="1400" b="1" dirty="0"/>
              <a:t>software testing lifecycle</a:t>
            </a:r>
            <a:r>
              <a:rPr lang="en-US" sz="1400" dirty="0"/>
              <a:t>.</a:t>
            </a:r>
            <a:endParaRPr lang="en-IN" sz="1400" dirty="0">
              <a:solidFill>
                <a:schemeClr val="tx1"/>
              </a:solidFill>
            </a:endParaRPr>
          </a:p>
          <a:p>
            <a:pPr marL="0" indent="0">
              <a:buNone/>
            </a:pPr>
            <a:r>
              <a:rPr lang="en-IN" sz="1400" dirty="0">
                <a:solidFill>
                  <a:schemeClr val="tx1"/>
                </a:solidFill>
              </a:rPr>
              <a:t>Key features </a:t>
            </a:r>
          </a:p>
          <a:p>
            <a:pPr>
              <a:buFont typeface="Wingdings" panose="05000000000000000000" pitchFamily="2" charset="2"/>
              <a:buChar char="Ø"/>
            </a:pPr>
            <a:r>
              <a:rPr lang="en-IN" sz="1400" dirty="0"/>
              <a:t>Customization and scalability </a:t>
            </a:r>
            <a:r>
              <a:rPr lang="en-US" sz="1400" dirty="0"/>
              <a:t>allowing organizations and tool vendors to embed generative AI into existing test frameworks</a:t>
            </a:r>
          </a:p>
          <a:p>
            <a:pPr>
              <a:buFont typeface="Wingdings" panose="05000000000000000000" pitchFamily="2" charset="2"/>
              <a:buChar char="Ø"/>
            </a:pPr>
            <a:r>
              <a:rPr lang="en-US" sz="1400" dirty="0"/>
              <a:t>Automation of repetitive or complex tasks, such as test case generation, defect analysis, or test data synthesis</a:t>
            </a:r>
          </a:p>
          <a:p>
            <a:pPr>
              <a:buFont typeface="Wingdings" panose="05000000000000000000" pitchFamily="2" charset="2"/>
              <a:buChar char="Ø"/>
            </a:pPr>
            <a:r>
              <a:rPr lang="en-US" sz="1400" dirty="0"/>
              <a:t>AI agents specifically designed to perform certain testing roles </a:t>
            </a:r>
          </a:p>
          <a:p>
            <a:pPr>
              <a:buFont typeface="Wingdings" panose="05000000000000000000" pitchFamily="2" charset="2"/>
              <a:buChar char="Ø"/>
            </a:pPr>
            <a:endParaRPr lang="en-US" sz="1400" dirty="0"/>
          </a:p>
          <a:p>
            <a:pPr>
              <a:buFont typeface="Wingdings" panose="05000000000000000000" pitchFamily="2" charset="2"/>
              <a:buChar char="Ø"/>
            </a:pPr>
            <a:r>
              <a:rPr lang="en-US" sz="1400" dirty="0"/>
              <a:t>Example : (LLM powered test automation tool automatically generates selenium scripts from the user stories)</a:t>
            </a:r>
            <a:endParaRPr lang="en-IN" sz="1400" dirty="0"/>
          </a:p>
          <a:p>
            <a:pPr marL="0" indent="0">
              <a:buNone/>
            </a:pPr>
            <a:endParaRPr lang="en-IN" sz="1400" dirty="0"/>
          </a:p>
          <a:p>
            <a:pPr marL="0" indent="0">
              <a:buNone/>
            </a:pPr>
            <a:endParaRPr lang="en-US" sz="1400" dirty="0">
              <a:solidFill>
                <a:srgbClr val="FF0000"/>
              </a:solidFill>
            </a:endParaRPr>
          </a:p>
          <a:p>
            <a:pPr lvl="1"/>
            <a:endParaRPr lang="en-US" sz="1400" dirty="0">
              <a:solidFill>
                <a:schemeClr val="tx1"/>
              </a:solidFill>
            </a:endParaRPr>
          </a:p>
          <a:p>
            <a:pPr marL="0" indent="0">
              <a:buNone/>
            </a:pPr>
            <a:endParaRPr lang="en-US" sz="1400" dirty="0">
              <a:solidFill>
                <a:srgbClr val="FF0000"/>
              </a:solidFill>
            </a:endParaRPr>
          </a:p>
        </p:txBody>
      </p:sp>
    </p:spTree>
    <p:extLst>
      <p:ext uri="{BB962C8B-B14F-4D97-AF65-F5344CB8AC3E}">
        <p14:creationId xmlns:p14="http://schemas.microsoft.com/office/powerpoint/2010/main" val="185604003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3986-A4B2-CFA4-6EFA-09F9C7B0C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2EACC-5C0E-B6B9-D02D-62C2E477F919}"/>
              </a:ext>
            </a:extLst>
          </p:cNvPr>
          <p:cNvSpPr>
            <a:spLocks noGrp="1"/>
          </p:cNvSpPr>
          <p:nvPr>
            <p:ph type="title"/>
          </p:nvPr>
        </p:nvSpPr>
        <p:spPr/>
        <p:txBody>
          <a:bodyPr>
            <a:normAutofit/>
          </a:bodyPr>
          <a:lstStyle/>
          <a:p>
            <a:r>
              <a:rPr lang="en-IN" sz="2000" dirty="0">
                <a:solidFill>
                  <a:srgbClr val="FF0000"/>
                </a:solidFill>
              </a:rPr>
              <a:t>1.2- Leveraging Generative AI in Software Testing: Core Principles </a:t>
            </a:r>
          </a:p>
        </p:txBody>
      </p:sp>
      <p:sp>
        <p:nvSpPr>
          <p:cNvPr id="3" name="Content Placeholder 2">
            <a:extLst>
              <a:ext uri="{FF2B5EF4-FFF2-40B4-BE49-F238E27FC236}">
                <a16:creationId xmlns:a16="http://schemas.microsoft.com/office/drawing/2014/main" id="{E6FFA001-3877-3087-8918-92DA9B580E99}"/>
              </a:ext>
            </a:extLst>
          </p:cNvPr>
          <p:cNvSpPr>
            <a:spLocks noGrp="1"/>
          </p:cNvSpPr>
          <p:nvPr>
            <p:ph idx="1"/>
          </p:nvPr>
        </p:nvSpPr>
        <p:spPr>
          <a:xfrm>
            <a:off x="677334" y="1561499"/>
            <a:ext cx="8596668" cy="3880773"/>
          </a:xfrm>
        </p:spPr>
        <p:txBody>
          <a:bodyPr>
            <a:normAutofit/>
          </a:bodyPr>
          <a:lstStyle/>
          <a:p>
            <a:pPr marL="0" indent="0">
              <a:buNone/>
            </a:pPr>
            <a:r>
              <a:rPr lang="en-US" sz="1400" dirty="0">
                <a:solidFill>
                  <a:srgbClr val="FF0000"/>
                </a:solidFill>
              </a:rPr>
              <a:t>1.2.2 AI Chatbots and LLM-Powered Testing Applications for Software Testing</a:t>
            </a:r>
          </a:p>
          <a:p>
            <a:pPr marL="0" indent="0">
              <a:buNone/>
            </a:pPr>
            <a:r>
              <a:rPr lang="en-IN" sz="1400" dirty="0">
                <a:solidFill>
                  <a:srgbClr val="FF0000"/>
                </a:solidFill>
              </a:rPr>
              <a:t>LLM-Powered Testing Applications</a:t>
            </a:r>
          </a:p>
          <a:p>
            <a:r>
              <a:rPr lang="en-US" sz="1400" b="1" dirty="0"/>
              <a:t>Examples of LLM-Powered Testing Tools</a:t>
            </a:r>
          </a:p>
          <a:p>
            <a:r>
              <a:rPr lang="en-US" sz="1400" dirty="0"/>
              <a:t>Some modern tools integrating LLM capabilities include:</a:t>
            </a:r>
          </a:p>
          <a:p>
            <a:r>
              <a:rPr lang="en-US" sz="1400" dirty="0" err="1"/>
              <a:t>Testim</a:t>
            </a:r>
            <a:endParaRPr lang="en-US" sz="1400" dirty="0"/>
          </a:p>
          <a:p>
            <a:r>
              <a:rPr lang="en-US" sz="1400" dirty="0" err="1"/>
              <a:t>Functionize</a:t>
            </a:r>
            <a:endParaRPr lang="en-US" sz="1400" dirty="0"/>
          </a:p>
          <a:p>
            <a:r>
              <a:rPr lang="en-US" sz="1400" dirty="0" err="1"/>
              <a:t>Mabl</a:t>
            </a:r>
            <a:endParaRPr lang="en-US" sz="1400" dirty="0"/>
          </a:p>
          <a:p>
            <a:r>
              <a:rPr lang="en-US" sz="1400" dirty="0" err="1"/>
              <a:t>Katalon</a:t>
            </a:r>
            <a:r>
              <a:rPr lang="en-US" sz="1400" dirty="0"/>
              <a:t> Studio</a:t>
            </a:r>
          </a:p>
          <a:p>
            <a:r>
              <a:rPr lang="en-US" sz="1400" dirty="0"/>
              <a:t>These tools use AI to assist in </a:t>
            </a:r>
            <a:r>
              <a:rPr lang="en-US" sz="1400" b="1" dirty="0"/>
              <a:t>test creation, execution, and maintenance</a:t>
            </a:r>
            <a:r>
              <a:rPr lang="en-US" sz="1400" dirty="0"/>
              <a:t>.</a:t>
            </a:r>
          </a:p>
          <a:p>
            <a:pPr marL="0" indent="0">
              <a:buNone/>
            </a:pPr>
            <a:endParaRPr lang="en-IN" sz="1400" dirty="0">
              <a:solidFill>
                <a:srgbClr val="FF0000"/>
              </a:solidFill>
            </a:endParaRPr>
          </a:p>
          <a:p>
            <a:pPr marL="0" indent="0">
              <a:buNone/>
            </a:pPr>
            <a:endParaRPr lang="en-IN" sz="1400" dirty="0"/>
          </a:p>
          <a:p>
            <a:pPr marL="0" indent="0">
              <a:buNone/>
            </a:pPr>
            <a:endParaRPr lang="en-US" sz="1400" dirty="0">
              <a:solidFill>
                <a:srgbClr val="FF0000"/>
              </a:solidFill>
            </a:endParaRPr>
          </a:p>
          <a:p>
            <a:pPr lvl="1"/>
            <a:endParaRPr lang="en-US" sz="1200" dirty="0">
              <a:solidFill>
                <a:schemeClr val="tx1"/>
              </a:solidFill>
            </a:endParaRPr>
          </a:p>
          <a:p>
            <a:pPr marL="0" indent="0">
              <a:buNone/>
            </a:pPr>
            <a:endParaRPr lang="en-US" sz="1400" dirty="0">
              <a:solidFill>
                <a:srgbClr val="FF0000"/>
              </a:solidFill>
            </a:endParaRPr>
          </a:p>
        </p:txBody>
      </p:sp>
    </p:spTree>
    <p:extLst>
      <p:ext uri="{BB962C8B-B14F-4D97-AF65-F5344CB8AC3E}">
        <p14:creationId xmlns:p14="http://schemas.microsoft.com/office/powerpoint/2010/main" val="30670138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0B5CC-D226-B92F-DADC-C87AF6A46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0F3BF-EE65-4156-774F-2E7B766F1603}"/>
              </a:ext>
            </a:extLst>
          </p:cNvPr>
          <p:cNvSpPr>
            <a:spLocks noGrp="1"/>
          </p:cNvSpPr>
          <p:nvPr>
            <p:ph type="title"/>
          </p:nvPr>
        </p:nvSpPr>
        <p:spPr/>
        <p:txBody>
          <a:bodyPr>
            <a:normAutofit/>
          </a:bodyPr>
          <a:lstStyle/>
          <a:p>
            <a:r>
              <a:rPr lang="en-IN" sz="2000" dirty="0">
                <a:solidFill>
                  <a:srgbClr val="FF0000"/>
                </a:solidFill>
              </a:rPr>
              <a:t>1.2- Leveraging Generative AI in Software Testing: Core Principles </a:t>
            </a:r>
          </a:p>
        </p:txBody>
      </p:sp>
      <p:sp>
        <p:nvSpPr>
          <p:cNvPr id="3" name="Content Placeholder 2">
            <a:extLst>
              <a:ext uri="{FF2B5EF4-FFF2-40B4-BE49-F238E27FC236}">
                <a16:creationId xmlns:a16="http://schemas.microsoft.com/office/drawing/2014/main" id="{2DB4BFC3-CDC2-C1CD-B5A3-F692F17A69FD}"/>
              </a:ext>
            </a:extLst>
          </p:cNvPr>
          <p:cNvSpPr>
            <a:spLocks noGrp="1"/>
          </p:cNvSpPr>
          <p:nvPr>
            <p:ph idx="1"/>
          </p:nvPr>
        </p:nvSpPr>
        <p:spPr>
          <a:xfrm>
            <a:off x="677334" y="1561499"/>
            <a:ext cx="8596668" cy="3880773"/>
          </a:xfrm>
        </p:spPr>
        <p:txBody>
          <a:bodyPr>
            <a:normAutofit/>
          </a:bodyPr>
          <a:lstStyle/>
          <a:p>
            <a:pPr marL="0" indent="0">
              <a:buNone/>
            </a:pPr>
            <a:r>
              <a:rPr lang="en-US" sz="1400" dirty="0">
                <a:solidFill>
                  <a:srgbClr val="FF0000"/>
                </a:solidFill>
              </a:rPr>
              <a:t>1.2.2 AI Chatbots and LLM-Powered Testing Applications for Software Testing</a:t>
            </a:r>
          </a:p>
          <a:p>
            <a:pPr marL="0" indent="0">
              <a:buNone/>
            </a:pPr>
            <a:r>
              <a:rPr lang="en-IN" sz="1400" dirty="0">
                <a:solidFill>
                  <a:srgbClr val="FF0000"/>
                </a:solidFill>
              </a:rPr>
              <a:t>Factors for successful Implementation of Generative AI in testing</a:t>
            </a:r>
          </a:p>
          <a:p>
            <a:pPr>
              <a:buFont typeface="Wingdings" panose="05000000000000000000" pitchFamily="2" charset="2"/>
              <a:buChar char="Ø"/>
            </a:pPr>
            <a:r>
              <a:rPr lang="en-US" sz="1400" dirty="0"/>
              <a:t>Successful implementation of generative AI in testing requires strong prompt engineering</a:t>
            </a:r>
          </a:p>
          <a:p>
            <a:pPr>
              <a:buFont typeface="Wingdings" panose="05000000000000000000" pitchFamily="2" charset="2"/>
              <a:buChar char="Ø"/>
            </a:pPr>
            <a:r>
              <a:rPr lang="en-US" sz="1400" dirty="0"/>
              <a:t>Clear, specific instructions are essential to ensure that LLM-generated outputs are accurate, relevant, and aligned with testing objectives</a:t>
            </a:r>
          </a:p>
          <a:p>
            <a:pPr marL="0" indent="0">
              <a:buNone/>
            </a:pPr>
            <a:r>
              <a:rPr lang="en-US" sz="1400" dirty="0"/>
              <a:t>Example prompts:</a:t>
            </a:r>
          </a:p>
          <a:p>
            <a:pPr>
              <a:buFont typeface="Wingdings" panose="05000000000000000000" pitchFamily="2" charset="2"/>
              <a:buChar char="Ø"/>
            </a:pPr>
            <a:r>
              <a:rPr lang="en-US" sz="1400" dirty="0"/>
              <a:t>Vague prompts – “Test login” (you will get unclear output)</a:t>
            </a:r>
          </a:p>
          <a:p>
            <a:pPr>
              <a:buFont typeface="Wingdings" panose="05000000000000000000" pitchFamily="2" charset="2"/>
              <a:buChar char="Ø"/>
            </a:pPr>
            <a:r>
              <a:rPr lang="en-US" sz="1400" dirty="0"/>
              <a:t>Clear prompts – “Generate 5 testcases for login with valid/invalid credentials” (you will get better result )</a:t>
            </a:r>
          </a:p>
          <a:p>
            <a:pPr marL="0" indent="0">
              <a:buNone/>
            </a:pPr>
            <a:r>
              <a:rPr lang="en-US" sz="1400" dirty="0"/>
              <a:t>	</a:t>
            </a:r>
          </a:p>
          <a:p>
            <a:pPr marL="0" indent="0">
              <a:buNone/>
            </a:pPr>
            <a:endParaRPr lang="en-IN" sz="1400" dirty="0">
              <a:solidFill>
                <a:srgbClr val="FF0000"/>
              </a:solidFill>
            </a:endParaRPr>
          </a:p>
          <a:p>
            <a:pPr marL="0" indent="0">
              <a:buNone/>
            </a:pPr>
            <a:endParaRPr lang="en-IN" sz="1400" dirty="0"/>
          </a:p>
          <a:p>
            <a:pPr marL="0" indent="0">
              <a:buNone/>
            </a:pPr>
            <a:endParaRPr lang="en-US" sz="1400" dirty="0">
              <a:solidFill>
                <a:srgbClr val="FF0000"/>
              </a:solidFill>
            </a:endParaRPr>
          </a:p>
          <a:p>
            <a:pPr lvl="1"/>
            <a:endParaRPr lang="en-US" sz="1200" dirty="0">
              <a:solidFill>
                <a:schemeClr val="tx1"/>
              </a:solidFill>
            </a:endParaRPr>
          </a:p>
          <a:p>
            <a:pPr marL="0" indent="0">
              <a:buNone/>
            </a:pPr>
            <a:endParaRPr lang="en-US" sz="1400" dirty="0">
              <a:solidFill>
                <a:srgbClr val="FF0000"/>
              </a:solidFill>
            </a:endParaRPr>
          </a:p>
        </p:txBody>
      </p:sp>
    </p:spTree>
    <p:extLst>
      <p:ext uri="{BB962C8B-B14F-4D97-AF65-F5344CB8AC3E}">
        <p14:creationId xmlns:p14="http://schemas.microsoft.com/office/powerpoint/2010/main" val="15368191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C1199-A98F-C4FD-DCD2-3DE9D534AF5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7F5061D-3880-2847-E1C0-20B6E13A192E}"/>
              </a:ext>
            </a:extLst>
          </p:cNvPr>
          <p:cNvSpPr>
            <a:spLocks noGrp="1"/>
          </p:cNvSpPr>
          <p:nvPr>
            <p:ph type="title"/>
          </p:nvPr>
        </p:nvSpPr>
        <p:spPr>
          <a:xfrm>
            <a:off x="590624" y="2934137"/>
            <a:ext cx="9310122" cy="1320800"/>
          </a:xfrm>
        </p:spPr>
        <p:txBody>
          <a:bodyPr/>
          <a:lstStyle/>
          <a:p>
            <a:r>
              <a:rPr lang="en-IN" dirty="0"/>
              <a:t>Thank You – We are done with 1.2 module</a:t>
            </a:r>
          </a:p>
        </p:txBody>
      </p:sp>
    </p:spTree>
    <p:extLst>
      <p:ext uri="{BB962C8B-B14F-4D97-AF65-F5344CB8AC3E}">
        <p14:creationId xmlns:p14="http://schemas.microsoft.com/office/powerpoint/2010/main" val="16026650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3698</TotalTime>
  <Words>7988</Words>
  <Application>Microsoft Office PowerPoint</Application>
  <PresentationFormat>Widescreen</PresentationFormat>
  <Paragraphs>1181</Paragraphs>
  <Slides>119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119</vt:i4>
      </vt:variant>
    </vt:vector>
  </HeadingPairs>
  <TitlesOfParts>
    <vt:vector size="124" baseType="lpstr">
      <vt:lpstr>Arial</vt:lpstr>
      <vt:lpstr>Trebuchet MS</vt:lpstr>
      <vt:lpstr>Wingdings</vt:lpstr>
      <vt:lpstr>Wingdings 3</vt:lpstr>
      <vt:lpstr>Facet</vt:lpstr>
      <vt:lpstr>ISTQB® Certified Tester – Testing with Generative AI (CT-GenAI) </vt:lpstr>
      <vt:lpstr>Why ISTQB® Certified Tester – Testing with Generative AI (CT-GenAI)  </vt:lpstr>
      <vt:lpstr>Introduction – CT-GenAI Syllabus</vt:lpstr>
      <vt:lpstr>Introduction – CT-GenAI Syllabus</vt:lpstr>
      <vt:lpstr>Introduction – CT-GenAI Syllabus</vt:lpstr>
      <vt:lpstr>Introduction – CT-GenAI Syllabus</vt:lpstr>
      <vt:lpstr>Introduction – CT-GenAI Syllabus</vt:lpstr>
      <vt:lpstr>Introduction – CT-GenAI Syllabus</vt:lpstr>
      <vt:lpstr>Introduction – CT-GenAI Syllabus</vt:lpstr>
      <vt:lpstr>Introduction – CT-GenAI Syllabus</vt:lpstr>
      <vt:lpstr>Introduction – CT-GenAI Syllabus</vt:lpstr>
      <vt:lpstr>Introduction – CT-GenAI Syllabus</vt:lpstr>
      <vt:lpstr>Introduction – CT-GenAI Syllabus</vt:lpstr>
      <vt:lpstr>Introduction – CT-GenAI Syllabus</vt:lpstr>
      <vt:lpstr>Introduction – CT-GenAI Syllabus</vt:lpstr>
      <vt:lpstr>Chapter 1  1.Introduction to Generative AI for Software Testing</vt:lpstr>
      <vt:lpstr>Chapter 1</vt:lpstr>
      <vt:lpstr>1.1 Generative AI Foundations and Key Concepts   </vt:lpstr>
      <vt:lpstr>1.1 Generative AI Foundations and Key Concepts   </vt:lpstr>
      <vt:lpstr> </vt:lpstr>
      <vt:lpstr>1.1 Generative AI Foundations and Key Concepts   </vt:lpstr>
      <vt:lpstr>1.1 Generative AI Foundations and Key Concepts   </vt:lpstr>
      <vt:lpstr>1.1 Generative AI Foundations and Key Concepts   </vt:lpstr>
      <vt:lpstr>1.1 Generative AI Foundations and Key Concepts   </vt:lpstr>
      <vt:lpstr>1.1 Generative AI Foundations and Key Concepts   </vt:lpstr>
      <vt:lpstr>1.1 Generative AI Foundations and Key Concepts   </vt:lpstr>
      <vt:lpstr>1.1 Generative AI Foundations and Key Concepts   </vt:lpstr>
      <vt:lpstr>1.1.1 - AI Spectrum: Symbolic AI, Classical Machine Learning, Deep Learning, and Generative AI</vt:lpstr>
      <vt:lpstr>1.1.1  - Symbolic AI</vt:lpstr>
      <vt:lpstr>1.1.1 - Symbolic AI</vt:lpstr>
      <vt:lpstr>1.1.1 - Symbolic AI</vt:lpstr>
      <vt:lpstr>1.1.1  - Symbolic AI</vt:lpstr>
      <vt:lpstr> 1.1.1 - Types of Symbolic AI</vt:lpstr>
      <vt:lpstr>1.1.1  - Types of Symbolic AI</vt:lpstr>
      <vt:lpstr>1.1.1 - Types of Symbolic AI</vt:lpstr>
      <vt:lpstr>1.1.1  - Types of Symbolic AI</vt:lpstr>
      <vt:lpstr>1.1.1  - Symbolic AI</vt:lpstr>
      <vt:lpstr>1.1.1  - Symbolic AI</vt:lpstr>
      <vt:lpstr>1.1.1 - Classical Machine Learning</vt:lpstr>
      <vt:lpstr>1.1.1 - Classical Machine Learning</vt:lpstr>
      <vt:lpstr>1.1.1 - Types of Classical Machine Learning</vt:lpstr>
      <vt:lpstr>1.1.1 - Types of Classical Machine Learning</vt:lpstr>
      <vt:lpstr>1.1.1 - Types of Classical Machine Learning</vt:lpstr>
      <vt:lpstr>1.1.1  - Advantages of Classical Machine Learning</vt:lpstr>
      <vt:lpstr>1.1.1 - Limitations of Classical Machine Learning</vt:lpstr>
      <vt:lpstr>1.1.1 - Deep Learning</vt:lpstr>
      <vt:lpstr>1.1.1  - Deep Learning</vt:lpstr>
      <vt:lpstr>1.1.1 - Deep Learning</vt:lpstr>
      <vt:lpstr>1.1.1  -Types of Deep Learning Networks</vt:lpstr>
      <vt:lpstr>1.1.1 - Deep Learning</vt:lpstr>
      <vt:lpstr>1.1.1 - What is Generative AI </vt:lpstr>
      <vt:lpstr>1.1.1 - What is Generative AI </vt:lpstr>
      <vt:lpstr>1.1.1 - What is Generative AI </vt:lpstr>
      <vt:lpstr>1.1.1 - What is Generative AI </vt:lpstr>
      <vt:lpstr>1.1.1 - What is Generative AI </vt:lpstr>
      <vt:lpstr>1.1.1 - What is Generative AI </vt:lpstr>
      <vt:lpstr>1.1.1 - What is Generative AI </vt:lpstr>
      <vt:lpstr>1.1.1 - What is Generative AI </vt:lpstr>
      <vt:lpstr>1.1.1 - What is Generative AI </vt:lpstr>
      <vt:lpstr>1.1.1 - What is Generative AI </vt:lpstr>
      <vt:lpstr>1.1.1 - Key Concepts in GenAI</vt:lpstr>
      <vt:lpstr>1.1.1 - Tokenization</vt:lpstr>
      <vt:lpstr>1.1.1 - Tokenization</vt:lpstr>
      <vt:lpstr>1.1.1 - Why Tokenization is important</vt:lpstr>
      <vt:lpstr>1.1.1 - Types of Tokenization</vt:lpstr>
      <vt:lpstr>1.1.1 -Pattern Learning </vt:lpstr>
      <vt:lpstr>1.1.1 -Pattern Learning </vt:lpstr>
      <vt:lpstr>1.1.1 -Predicting the Next Token</vt:lpstr>
      <vt:lpstr>1.1.1 -Predicting the Next Token</vt:lpstr>
      <vt:lpstr>1.1.1 - Context Window</vt:lpstr>
      <vt:lpstr>1.1.1 - Context Window</vt:lpstr>
      <vt:lpstr>1.1.1 - Context Window</vt:lpstr>
      <vt:lpstr>1.1.1 - Context Window</vt:lpstr>
      <vt:lpstr>1.1.1 - Context Window</vt:lpstr>
      <vt:lpstr>1.1.1 - Multimodal models</vt:lpstr>
      <vt:lpstr>1.1.1 - Multimodal models</vt:lpstr>
      <vt:lpstr>1.1.1 - Multimodal models</vt:lpstr>
      <vt:lpstr>1.1.1 - Multimodal models</vt:lpstr>
      <vt:lpstr>1.1.1 - Multimodal models</vt:lpstr>
      <vt:lpstr>1.1.1 - Applications of Multimodal AI</vt:lpstr>
      <vt:lpstr>1.1.1 - Applications of Multimodal AI</vt:lpstr>
      <vt:lpstr>1.1.1 - Applications of Multimodal AI</vt:lpstr>
      <vt:lpstr>1.1.1 - Applications of Multimodal AI</vt:lpstr>
      <vt:lpstr>1.1.2- Basics of Generative AI and LLM’s</vt:lpstr>
      <vt:lpstr>1.1.2- Basics of Generative AI and LLM’s</vt:lpstr>
      <vt:lpstr>1.1.2- Basics of Generative AI and LLM’s</vt:lpstr>
      <vt:lpstr>1.1.2- Basics of Generative AI and LLM’s</vt:lpstr>
      <vt:lpstr>1.1.2- Basics of Generative AI and LLM’s</vt:lpstr>
      <vt:lpstr>1.1.2- Basics of Generative AI and LLM’s</vt:lpstr>
      <vt:lpstr>1.1.2- Basics of Generative AI and LLM’s</vt:lpstr>
      <vt:lpstr>1.1.2- Basics of Generative AI and LLM’s</vt:lpstr>
      <vt:lpstr>1.1.2- Basics of Generative AI and LLM’s</vt:lpstr>
      <vt:lpstr>1.1.2- Basics of Generative AI and LLM’s</vt:lpstr>
      <vt:lpstr>1.1.2- Basics of Generative AI and LLM’s</vt:lpstr>
      <vt:lpstr>1.1.3 Foundation, Instruction-Tuned and Reasoning LLMs</vt:lpstr>
      <vt:lpstr>1.1.3 Foundation LLMs</vt:lpstr>
      <vt:lpstr>1.1.3 Foundation LLM’s</vt:lpstr>
      <vt:lpstr>1.1.3 Foundation LLM’s</vt:lpstr>
      <vt:lpstr>1.1.3  Instruction-Tuned</vt:lpstr>
      <vt:lpstr>1.1.3  Instruction-Tuned</vt:lpstr>
      <vt:lpstr>1.1.3  Instruction-Tuned</vt:lpstr>
      <vt:lpstr>1.1.3  Reasoning LLMs </vt:lpstr>
      <vt:lpstr>1.1.3 Application in software testing</vt:lpstr>
      <vt:lpstr>1.1.3 Application in software testing</vt:lpstr>
      <vt:lpstr>1.1.3 Application in software testing</vt:lpstr>
      <vt:lpstr>1.1.3 Application in software testing</vt:lpstr>
      <vt:lpstr>1.1.4 Multimodal LLMs and Vision-Language Models</vt:lpstr>
      <vt:lpstr>1.1.4 Vision-Language Models</vt:lpstr>
      <vt:lpstr>1.1.4 Vision-Language Models</vt:lpstr>
      <vt:lpstr>1.1.4 Hands-On Objective HO-1.1.4 (H1) you need to check this </vt:lpstr>
      <vt:lpstr>Thank You – We are done with 1.1 module</vt:lpstr>
      <vt:lpstr>1.2- Leveraging Generative AI in Software Testing: Core Principles </vt:lpstr>
      <vt:lpstr>1.2- Leveraging Generative AI in Software Testing: Core Principles </vt:lpstr>
      <vt:lpstr>1.2- Leveraging Generative AI in Software Testing: Core Principles </vt:lpstr>
      <vt:lpstr>1.2- Leveraging Generative AI in Software Testing: Core Principles </vt:lpstr>
      <vt:lpstr>1.2- Leveraging Generative AI in Software Testing: Core Principles </vt:lpstr>
      <vt:lpstr>1.2- Leveraging Generative AI in Software Testing: Core Principles </vt:lpstr>
      <vt:lpstr>1.2- Leveraging Generative AI in Software Testing: Core Principles </vt:lpstr>
      <vt:lpstr>Thank You – We are done with 1.2 module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Anurag Patil</dc:creator>
  <cp:lastModifiedBy>Anurag Patil</cp:lastModifiedBy>
  <cp:revision>630</cp:revision>
  <dcterms:created xsi:type="dcterms:W3CDTF">2026-03-10T02:11:16Z</dcterms:created>
  <dcterms:modified xsi:type="dcterms:W3CDTF">2026-03-23T06:33:55Z</dcterms:modified>
</cp:coreProperties>
</file>