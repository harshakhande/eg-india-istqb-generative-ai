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6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17016-1CA1-4B8A-93DD-953BC1BC0FF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C5863-6259-44D5-A3D2-B83F27B9A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12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C5863-6259-44D5-A3D2-B83F27B9A0A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946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902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19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8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4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75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36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2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8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98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84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1515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374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56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13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023E9-9803-4103-9CE0-56CF15ED222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31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6D84-A124-4690-FCC2-C156C497A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1734" y="2183523"/>
            <a:ext cx="10001761" cy="2688021"/>
          </a:xfrm>
        </p:spPr>
        <p:txBody>
          <a:bodyPr/>
          <a:lstStyle/>
          <a:p>
            <a:r>
              <a:rPr lang="en-US" sz="4000" b="1" dirty="0"/>
              <a:t>ISTQB® Certified Tester – Testing with Generative AI (CT-GenAI)</a:t>
            </a:r>
            <a:br>
              <a:rPr lang="en-US" sz="4000" b="1" dirty="0"/>
            </a:br>
            <a:r>
              <a:rPr lang="en-US" sz="4000" b="1" dirty="0"/>
              <a:t>Chapter 2 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2385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81082A-3AB1-49F8-E944-DA8EF12C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1527D6-E31D-0CDA-15AA-80E109316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2.1 Effective Prompt Development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GenAI-2.1.1 (K2) Give examples of the structure of prompts used in generative AI for software</a:t>
            </a:r>
          </a:p>
          <a:p>
            <a:r>
              <a:rPr lang="en-US" dirty="0">
                <a:solidFill>
                  <a:schemeClr val="tx1"/>
                </a:solidFill>
              </a:rPr>
              <a:t>testing</a:t>
            </a:r>
          </a:p>
          <a:p>
            <a:r>
              <a:rPr lang="en-US" dirty="0">
                <a:solidFill>
                  <a:schemeClr val="tx1"/>
                </a:solidFill>
              </a:rPr>
              <a:t>HO-2.1.1 (H0) Observe several given prompts for software test tasks, identifying the</a:t>
            </a:r>
          </a:p>
          <a:p>
            <a:r>
              <a:rPr lang="en-US" dirty="0">
                <a:solidFill>
                  <a:schemeClr val="tx1"/>
                </a:solidFill>
              </a:rPr>
              <a:t>components of role, context, instruction, input data, constraints and output</a:t>
            </a:r>
          </a:p>
          <a:p>
            <a:r>
              <a:rPr lang="en-US" dirty="0">
                <a:solidFill>
                  <a:schemeClr val="tx1"/>
                </a:solidFill>
              </a:rPr>
              <a:t>format in each</a:t>
            </a:r>
          </a:p>
          <a:p>
            <a:r>
              <a:rPr lang="en-US" dirty="0">
                <a:solidFill>
                  <a:schemeClr val="tx1"/>
                </a:solidFill>
              </a:rPr>
              <a:t>GenAI-2.1.2 (K2) Differentiate core prompting techniques for software testing</a:t>
            </a:r>
          </a:p>
          <a:p>
            <a:r>
              <a:rPr lang="en-US" dirty="0">
                <a:solidFill>
                  <a:schemeClr val="tx1"/>
                </a:solidFill>
              </a:rPr>
              <a:t>HO-2.1.2a (H0) Observe demonstrations of prompt chaining, few-shot prompting, and meta</a:t>
            </a:r>
          </a:p>
          <a:p>
            <a:r>
              <a:rPr lang="en-US" dirty="0">
                <a:solidFill>
                  <a:schemeClr val="tx1"/>
                </a:solidFill>
              </a:rPr>
              <a:t>prompting applied to software test tasks</a:t>
            </a:r>
          </a:p>
          <a:p>
            <a:r>
              <a:rPr lang="en-US" dirty="0">
                <a:solidFill>
                  <a:schemeClr val="tx1"/>
                </a:solidFill>
              </a:rPr>
              <a:t>HO-2.1.2b (H1) Identify which prompt engineering techniques are being used in given examples</a:t>
            </a:r>
          </a:p>
          <a:p>
            <a:r>
              <a:rPr lang="en-US" dirty="0">
                <a:solidFill>
                  <a:schemeClr val="tx1"/>
                </a:solidFill>
              </a:rPr>
              <a:t>GenAI-2.1.3 (K2) Distinguish between system prompts and user prompts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09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5684-E7A6-FBCC-B83D-8C04843D1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AFB652-4DD0-2F2A-2BDD-0F442BC7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380BE2-17E1-D428-2493-A0E8AF6B1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2.2 Applying Prompt Engineering Techniques to Software Test tasks</a:t>
            </a:r>
          </a:p>
          <a:p>
            <a:r>
              <a:rPr lang="en-US" sz="1400" dirty="0">
                <a:solidFill>
                  <a:schemeClr val="tx1"/>
                </a:solidFill>
              </a:rPr>
              <a:t>GenAI-2.2.1 (K3) Apply generative AI to test analysis tasks</a:t>
            </a:r>
          </a:p>
          <a:p>
            <a:r>
              <a:rPr lang="en-US" sz="1400" dirty="0">
                <a:solidFill>
                  <a:schemeClr val="tx1"/>
                </a:solidFill>
              </a:rPr>
              <a:t>HO-2.2.1a (H2) Practice multimodal prompting to generate acceptance criteria for a user</a:t>
            </a:r>
          </a:p>
          <a:p>
            <a:r>
              <a:rPr lang="en-US" sz="1400" dirty="0">
                <a:solidFill>
                  <a:schemeClr val="tx1"/>
                </a:solidFill>
              </a:rPr>
              <a:t>story based on a GUI wireframe</a:t>
            </a:r>
          </a:p>
          <a:p>
            <a:r>
              <a:rPr lang="en-US" sz="1400" dirty="0">
                <a:solidFill>
                  <a:schemeClr val="tx1"/>
                </a:solidFill>
              </a:rPr>
              <a:t>HO-2.2.1b (H2) Practice prompt chaining and human verification to progressively analyze a</a:t>
            </a:r>
          </a:p>
          <a:p>
            <a:r>
              <a:rPr lang="en-US" sz="1400" dirty="0">
                <a:solidFill>
                  <a:schemeClr val="tx1"/>
                </a:solidFill>
              </a:rPr>
              <a:t>given user story and refine acceptance criteria</a:t>
            </a:r>
          </a:p>
          <a:p>
            <a:r>
              <a:rPr lang="en-US" sz="1400" dirty="0">
                <a:solidFill>
                  <a:schemeClr val="tx1"/>
                </a:solidFill>
              </a:rPr>
              <a:t>GenAI-2.2.2 (K3) Apply generative AI to test design and test implementation tasks</a:t>
            </a:r>
          </a:p>
          <a:p>
            <a:r>
              <a:rPr lang="en-US" sz="1400" dirty="0">
                <a:solidFill>
                  <a:schemeClr val="tx1"/>
                </a:solidFill>
              </a:rPr>
              <a:t>HO-2.2.2a (H2) Practice functional test case generation from user stories with generative AI</a:t>
            </a:r>
          </a:p>
          <a:p>
            <a:r>
              <a:rPr lang="en-US" sz="1400" dirty="0">
                <a:solidFill>
                  <a:schemeClr val="tx1"/>
                </a:solidFill>
              </a:rPr>
              <a:t>using prompt chaining, structured prompts and meta-prompting</a:t>
            </a:r>
          </a:p>
          <a:p>
            <a:r>
              <a:rPr lang="en-US" sz="1400" dirty="0">
                <a:solidFill>
                  <a:schemeClr val="tx1"/>
                </a:solidFill>
              </a:rPr>
              <a:t>HO-2.2.2b (H2) Use few-shot prompting technique to generate Gherkin style test conditions</a:t>
            </a:r>
          </a:p>
          <a:p>
            <a:r>
              <a:rPr lang="en-US" sz="1400" dirty="0">
                <a:solidFill>
                  <a:schemeClr val="tx1"/>
                </a:solidFill>
              </a:rPr>
              <a:t>and test cases from user stories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HO-2.2.2c (H2) Use prompt chaining to prioritize test cases within a given test suite, taking</a:t>
            </a:r>
          </a:p>
          <a:p>
            <a:r>
              <a:rPr lang="en-US" sz="1400" dirty="0">
                <a:solidFill>
                  <a:schemeClr val="tx1"/>
                </a:solidFill>
              </a:rPr>
              <a:t>into account their specific priorities and dependencies</a:t>
            </a:r>
          </a:p>
          <a:p>
            <a:r>
              <a:rPr lang="en-US" sz="1400" dirty="0">
                <a:solidFill>
                  <a:schemeClr val="tx1"/>
                </a:solidFill>
              </a:rPr>
              <a:t>GenAI-2.2.3 (K3) Apply generative AI to automated regression testing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88668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1739-CC74-26E7-4B3B-BFAC9134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C98D94-135F-9712-3E68-D99AF82B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F53C8E-C570-E1B9-D025-C889CC248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2.2 Applying Prompt Engineering Techniques to Software Test tasks</a:t>
            </a:r>
          </a:p>
          <a:p>
            <a:endParaRPr lang="en-US" sz="1400" dirty="0"/>
          </a:p>
          <a:p>
            <a:r>
              <a:rPr lang="en-US" sz="1400" dirty="0"/>
              <a:t>HO-2.2.3a (H2) Practice few-shot prompting to create and manage keyword-driven test</a:t>
            </a:r>
          </a:p>
          <a:p>
            <a:r>
              <a:rPr lang="en-US" sz="1400" dirty="0"/>
              <a:t>scripts</a:t>
            </a:r>
          </a:p>
          <a:p>
            <a:r>
              <a:rPr lang="en-US" sz="1400" dirty="0"/>
              <a:t>HO-2.2.3b (H2) Practice structured prompt engineering for test report analysis</a:t>
            </a:r>
          </a:p>
          <a:p>
            <a:r>
              <a:rPr lang="en-US" sz="1400" dirty="0"/>
              <a:t>GenAI-2.2.4 (K3) Apply generative AI to test control and monitoring tasks</a:t>
            </a:r>
          </a:p>
          <a:p>
            <a:r>
              <a:rPr lang="en-US" sz="1400" dirty="0"/>
              <a:t>HO-2.2.4 (H0) Observe test monitoring metrics prepared by generative AI from test data</a:t>
            </a:r>
          </a:p>
          <a:p>
            <a:r>
              <a:rPr lang="en-US" sz="1400" dirty="0"/>
              <a:t>GenAI-2.2.5 (K3) Select and apply appropriate prompting techniques for a given context and</a:t>
            </a:r>
          </a:p>
          <a:p>
            <a:r>
              <a:rPr lang="en-US" sz="1400" dirty="0"/>
              <a:t>test task</a:t>
            </a:r>
          </a:p>
          <a:p>
            <a:r>
              <a:rPr lang="en-US" sz="1400" dirty="0"/>
              <a:t>HO-2.2.5 (H1) Select and apply context-appropriate prompting techniques for a given test</a:t>
            </a:r>
          </a:p>
          <a:p>
            <a:r>
              <a:rPr lang="en-US" sz="1400" dirty="0"/>
              <a:t>task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9496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AFDFF-5EC4-D3E0-B5B4-5E52BB98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7905E9-6CCE-29FC-9B6C-B55558C7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2C1D28-83FF-CBCF-0603-6664D9B9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r>
              <a:rPr lang="en-US" sz="1600" dirty="0"/>
              <a:t>GenAI-2.3.1 (K2) Understand the metrics for evaluating the results of generative AI on test tasks</a:t>
            </a:r>
          </a:p>
          <a:p>
            <a:r>
              <a:rPr lang="en-US" sz="1600" dirty="0"/>
              <a:t>HO-2.3.1 (H0) Observe how metrics can be used for evaluating the result of generative AI on</a:t>
            </a:r>
          </a:p>
          <a:p>
            <a:r>
              <a:rPr lang="en-US" sz="1600" dirty="0"/>
              <a:t>a test task</a:t>
            </a:r>
          </a:p>
          <a:p>
            <a:r>
              <a:rPr lang="en-US" sz="1600" dirty="0"/>
              <a:t>GenAI-2.3.2 (K2) Give examples of techniques for evaluating and iteratively refining prompts</a:t>
            </a:r>
          </a:p>
          <a:p>
            <a:r>
              <a:rPr lang="en-US" sz="1600" dirty="0"/>
              <a:t>HO-2.3.2 (H1) Evaluate and optimize a prompt for a given test tasks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2149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BC5C-FECA-FABB-A5A0-B449EF35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00CC3A-8484-9D9A-802D-FBF7661E9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BA1BC9-04B5-8901-EC4F-4A501E633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2.1 Effective Prompt Development</a:t>
            </a:r>
          </a:p>
          <a:p>
            <a:r>
              <a:rPr lang="en-US" dirty="0"/>
              <a:t>Effective prompt design ensures that GenAI tools perform software test tasks accurately and efficiently and that testers obtain useful results from the LLMs.</a:t>
            </a:r>
          </a:p>
          <a:p>
            <a:r>
              <a:rPr lang="en-US" dirty="0">
                <a:solidFill>
                  <a:schemeClr val="tx1"/>
                </a:solidFill>
              </a:rPr>
              <a:t>Effective prompts help testers to obtain useful results from LLm’s</a:t>
            </a:r>
          </a:p>
          <a:p>
            <a:r>
              <a:rPr lang="en-US" dirty="0"/>
              <a:t>Techniques such as prompt chaining, few-shot prompting, and meta prompting help address complex testing challenge</a:t>
            </a:r>
          </a:p>
          <a:p>
            <a:r>
              <a:rPr lang="en-US" dirty="0"/>
              <a:t>The combination of structured prompts (see section 2.1.1) with core prompting techniques is aimed at achieving good results when querying an LLM for software testing tasks (see section 2.1.3).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68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B593-18CD-D295-CCD0-153834F0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016034-A4BB-4558-D049-F6A96F70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346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F28380-0147-A375-0F6F-24C2372E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13865"/>
            <a:ext cx="8596668" cy="5690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2.1.1 Structure of Prompts for Generative AI in Software Testing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Gen AI outputs depend heavily on how prompts are designed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A well-structured prompt ensures accuracy, relevance and quality in test ware generation.</a:t>
            </a:r>
          </a:p>
          <a:p>
            <a:r>
              <a:rPr lang="en-US" sz="1600" dirty="0"/>
              <a:t>A structured prompt for software testing typically includes six components: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Role</a:t>
            </a:r>
            <a:r>
              <a:rPr lang="en-US" sz="1600" dirty="0"/>
              <a:t>: The role defines the perspective or persona that the GenAI model should take when generating a response. (tester, test manager, or test automation engineer)</a:t>
            </a:r>
          </a:p>
          <a:p>
            <a:r>
              <a:rPr lang="en-US" sz="1600" dirty="0"/>
              <a:t>Shapes tone  and responsibility.</a:t>
            </a:r>
          </a:p>
          <a:p>
            <a:pPr marL="0" indent="0">
              <a:buNone/>
            </a:pPr>
            <a:r>
              <a:rPr lang="en-US" sz="1600" dirty="0"/>
              <a:t>Example : Act as functional tester and design the functional testcases 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Context</a:t>
            </a:r>
            <a:r>
              <a:rPr lang="en-US" sz="1600" dirty="0"/>
              <a:t>: Context provides the background information that the GenAI model needs to determine the test conditions</a:t>
            </a:r>
          </a:p>
          <a:p>
            <a:pPr marL="0" indent="0">
              <a:buNone/>
            </a:pPr>
            <a:r>
              <a:rPr lang="en-US" sz="1600" dirty="0"/>
              <a:t>Example : we are testing the login module for a banking application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Instruction</a:t>
            </a:r>
            <a:r>
              <a:rPr lang="en-US" sz="1600" dirty="0"/>
              <a:t>: Clear, imperative and concise instructions should be given</a:t>
            </a:r>
          </a:p>
          <a:p>
            <a:pPr marL="0" indent="0">
              <a:buNone/>
            </a:pPr>
            <a:r>
              <a:rPr lang="en-US" sz="1600" dirty="0"/>
              <a:t>Example: “Generate boundary test cases for username length between 5 to 15 </a:t>
            </a:r>
            <a:r>
              <a:rPr lang="en-US" sz="1600" dirty="0" err="1"/>
              <a:t>charaters</a:t>
            </a:r>
            <a:r>
              <a:rPr lang="en-US" sz="1600" dirty="0"/>
              <a:t>”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Input data: </a:t>
            </a:r>
            <a:r>
              <a:rPr lang="en-IN" sz="1600" dirty="0">
                <a:solidFill>
                  <a:schemeClr val="tx1"/>
                </a:solidFill>
              </a:rPr>
              <a:t>Include user stories , acceptance criteria, screenshots , code or existing testcases</a:t>
            </a:r>
          </a:p>
          <a:p>
            <a:pPr marL="0" indent="0">
              <a:buNone/>
            </a:pPr>
            <a:r>
              <a:rPr lang="en-US" sz="1600" dirty="0"/>
              <a:t>It helps the LLM to generate more accurate and context-aware results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  <a:p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13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D1ED-B8EA-58D6-8264-4997DA2C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3E2B2C-51BE-AE40-741D-1E34334B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93A9AB-F0AE-C919-6B0E-8E3F4DD26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2.1.1 Structure of Prompts for Generative AI in Software Testing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Gen AI outputs depend heavily on how prompts are designed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well-structured prompt ensures accuracy, relevance and quality in test ware generation.</a:t>
            </a:r>
          </a:p>
          <a:p>
            <a:r>
              <a:rPr lang="en-US" dirty="0"/>
              <a:t>A structured prompt for software testing typically includes six components: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Constraints</a:t>
            </a:r>
            <a:r>
              <a:rPr lang="en-IN" dirty="0"/>
              <a:t> </a:t>
            </a:r>
            <a:r>
              <a:rPr lang="en-US" dirty="0"/>
              <a:t>: Constraints outline any restrictions or special considerations that the LLM should adhere to.</a:t>
            </a:r>
          </a:p>
          <a:p>
            <a:pPr marL="0" indent="0">
              <a:buNone/>
            </a:pPr>
            <a:r>
              <a:rPr lang="en-US" dirty="0"/>
              <a:t>Example: “Generate only functional testcases exclude performance testcases”</a:t>
            </a:r>
          </a:p>
          <a:p>
            <a:pPr marL="0" indent="0">
              <a:buNone/>
            </a:pPr>
            <a:r>
              <a:rPr lang="en-US" dirty="0"/>
              <a:t> Constraints help to specify how instructions should be applied to input data.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Output format:</a:t>
            </a:r>
            <a:r>
              <a:rPr lang="en-IN" dirty="0">
                <a:solidFill>
                  <a:schemeClr val="tx1"/>
                </a:solidFill>
              </a:rPr>
              <a:t> Specifies expected structure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Example : “Provide test cases in Gherkin format(Given- when - then)”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41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EC5A-AB69-D75C-8F46-3F6E2166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FC9F88-6E0F-838E-1BB9-22B7E2C2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C1E876-BD60-651E-85FF-6EEBF18A2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2.1.1 Hands-On Objective </a:t>
            </a:r>
            <a:r>
              <a:rPr lang="en-US" dirty="0"/>
              <a:t>HO-2.1.1 (H0): Observe and analyze prompt components In a demonstration, several structured prompts are experimented with on an AI chatbot, each tailored to specific software testing tasks. </a:t>
            </a:r>
          </a:p>
          <a:p>
            <a:pPr marL="0" indent="0">
              <a:buNone/>
            </a:pPr>
            <a:r>
              <a:rPr lang="en-US" dirty="0"/>
              <a:t>These prompts follow a structured format consisting of six key components: role, context, instruction, input data, constraints, and output format. </a:t>
            </a:r>
          </a:p>
          <a:p>
            <a:pPr marL="0" indent="0">
              <a:buNone/>
            </a:pPr>
            <a:r>
              <a:rPr lang="en-US" dirty="0"/>
              <a:t>The demonstration aims to facilitate observation and analysis of these structured prompts, highlighting how each component contributes to providing accurate, relevant, and actionable insights to an LLM used for a software testing task. 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75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CC180-6A64-7B0D-C778-0470EEAA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0D1C6D-49DC-0C54-9319-94302126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72" y="215462"/>
            <a:ext cx="8596668" cy="832944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C6B380-42DE-9688-2C08-29011223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217" y="691768"/>
            <a:ext cx="8596668" cy="6498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2.1.1 Hands-On Objective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Core Components of Good Prompt</a:t>
            </a:r>
          </a:p>
          <a:p>
            <a:r>
              <a:rPr lang="en-US" sz="1600" b="1" dirty="0"/>
              <a:t>Role</a:t>
            </a:r>
          </a:p>
          <a:p>
            <a:r>
              <a:rPr lang="en-US" sz="1600" dirty="0"/>
              <a:t>I am a software tester with 1 year of experience.</a:t>
            </a:r>
          </a:p>
          <a:p>
            <a:r>
              <a:rPr lang="en-US" sz="1600" b="1" dirty="0"/>
              <a:t>Instruction/Task</a:t>
            </a:r>
          </a:p>
          <a:p>
            <a:r>
              <a:rPr lang="en-US" sz="1600" dirty="0"/>
              <a:t>Suggest top 5 topics.</a:t>
            </a:r>
          </a:p>
          <a:p>
            <a:r>
              <a:rPr lang="en-US" sz="1600" b="1" dirty="0"/>
              <a:t>Context</a:t>
            </a:r>
          </a:p>
          <a:p>
            <a:r>
              <a:rPr lang="en-US" sz="1600" dirty="0"/>
              <a:t>To explain software testing to freshers, the tone should be encouraging and professional.</a:t>
            </a:r>
          </a:p>
          <a:p>
            <a:r>
              <a:rPr lang="en-US" sz="1600" b="1" dirty="0"/>
              <a:t>Format</a:t>
            </a:r>
          </a:p>
          <a:p>
            <a:r>
              <a:rPr lang="en-US" sz="1600" dirty="0"/>
              <a:t>Create a bullet list for each topic suitable for presentation.</a:t>
            </a:r>
          </a:p>
          <a:p>
            <a:r>
              <a:rPr lang="en-US" sz="1600" b="1" dirty="0"/>
              <a:t>Constraints</a:t>
            </a:r>
          </a:p>
          <a:p>
            <a:r>
              <a:rPr lang="en-US" sz="1600" dirty="0"/>
              <a:t>The content should not contain any advanced software testing topics.</a:t>
            </a:r>
          </a:p>
          <a:p>
            <a:r>
              <a:rPr lang="en-US" sz="1600" b="1" dirty="0"/>
              <a:t>Examples</a:t>
            </a:r>
          </a:p>
          <a:p>
            <a:r>
              <a:rPr lang="en-US" sz="1600" b="1" dirty="0"/>
              <a:t>a. What is Software Testing</a:t>
            </a:r>
            <a:endParaRPr lang="en-US" sz="1600" dirty="0"/>
          </a:p>
          <a:p>
            <a:r>
              <a:rPr lang="en-US" sz="1600" dirty="0" err="1"/>
              <a:t>i</a:t>
            </a:r>
            <a:r>
              <a:rPr lang="en-US" sz="1600" dirty="0"/>
              <a:t>. Software testing is the process of evaluating a system to ensure it meets requirements.</a:t>
            </a:r>
            <a:br>
              <a:rPr lang="en-US" sz="1600" dirty="0"/>
            </a:br>
            <a:r>
              <a:rPr lang="en-US" sz="1600" dirty="0"/>
              <a:t>ii. It helps identify bugs or issues before software reaches users.</a:t>
            </a:r>
            <a:br>
              <a:rPr lang="en-US" sz="1600" dirty="0"/>
            </a:br>
            <a:r>
              <a:rPr lang="en-US" sz="1600" dirty="0"/>
              <a:t>iii. Testing improves product quality, reliability, and user satisfaction.</a:t>
            </a:r>
            <a:br>
              <a:rPr lang="en-US" sz="1600" dirty="0"/>
            </a:br>
            <a:r>
              <a:rPr lang="en-US" sz="1600" dirty="0"/>
              <a:t>iv. It’s a critical part of the software development lifecycle (SDLC).</a:t>
            </a:r>
            <a:br>
              <a:rPr lang="en-US" sz="1600" dirty="0"/>
            </a:br>
            <a:r>
              <a:rPr lang="en-US" sz="1600" dirty="0"/>
              <a:t>v. Every tester plays a key role in building trust in technology.</a:t>
            </a:r>
          </a:p>
          <a:p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99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CAE54-BBA9-5EEC-7F4C-ABDDA5AE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37CE7E-E555-9471-0435-0F597021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5808F1-F0CE-8940-96B1-75EFC000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2.1.1 Hands-On Objective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Core Components of Good Prompt</a:t>
            </a:r>
          </a:p>
          <a:p>
            <a:r>
              <a:rPr lang="en-US" dirty="0"/>
              <a:t>I am software tester with 1 year experience. Suggest top 5 topics to explain software testing to freshers, the tone should be encouraging and professional. Create a bullet list with 5 list items for each topic suitable for presentation. The content should not contain any advanced software testing topics.</a:t>
            </a:r>
          </a:p>
          <a:p>
            <a:r>
              <a:rPr lang="en-US" b="1" dirty="0"/>
              <a:t>Example:</a:t>
            </a:r>
          </a:p>
          <a:p>
            <a:r>
              <a:rPr lang="en-US" b="1" dirty="0"/>
              <a:t>1. What is Software Testing</a:t>
            </a:r>
            <a:endParaRPr lang="en-US" dirty="0"/>
          </a:p>
          <a:p>
            <a:r>
              <a:rPr lang="en-US" dirty="0"/>
              <a:t>a. Software testing is the process of evaluating a system to ensure it meets requirements.</a:t>
            </a:r>
            <a:br>
              <a:rPr lang="en-US" dirty="0"/>
            </a:br>
            <a:r>
              <a:rPr lang="en-US" dirty="0"/>
              <a:t>b. It helps identify bugs or issues before software reaches users.</a:t>
            </a:r>
            <a:br>
              <a:rPr lang="en-US" dirty="0"/>
            </a:br>
            <a:r>
              <a:rPr lang="en-US" dirty="0"/>
              <a:t>c. Testing improves product quality, reliability, and user satisfaction.</a:t>
            </a:r>
            <a:br>
              <a:rPr lang="en-US" dirty="0"/>
            </a:br>
            <a:r>
              <a:rPr lang="en-US" dirty="0"/>
              <a:t>d. It’s a critical part of the software development lifecycle (SDLC).</a:t>
            </a:r>
            <a:br>
              <a:rPr lang="en-US" dirty="0"/>
            </a:br>
            <a:r>
              <a:rPr lang="en-US" dirty="0"/>
              <a:t>e. Every tester plays a key role in building trust in technology.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727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0A52D-F1E2-D4F0-9547-6B1A85EDA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A97B09-24F3-744F-1952-3346A5A7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1974E-11C7-AB33-8E21-01BAC3EF6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2.1.2 Core Prompting Techniques for Software Testing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Prompt Chaining</a:t>
            </a:r>
          </a:p>
          <a:p>
            <a:r>
              <a:rPr lang="en-US" sz="1600" dirty="0"/>
              <a:t>Involves breaking a complex task into a series of intermediate steps (multiple prompts)</a:t>
            </a:r>
          </a:p>
          <a:p>
            <a:r>
              <a:rPr lang="en-US" sz="1600" dirty="0"/>
              <a:t>Each step’s output is checked/refined before moving forward</a:t>
            </a:r>
          </a:p>
          <a:p>
            <a:r>
              <a:rPr lang="en-US" sz="1600" dirty="0"/>
              <a:t>This approach builds accuracy as each response informs the next prompt</a:t>
            </a:r>
          </a:p>
          <a:p>
            <a:r>
              <a:rPr lang="en-US" sz="1600" dirty="0"/>
              <a:t>Ideal for complicated test processes</a:t>
            </a:r>
          </a:p>
          <a:p>
            <a:r>
              <a:rPr lang="en-US" sz="1600" dirty="0"/>
              <a:t>It also allows for dynamic interactions in test processes.</a:t>
            </a:r>
          </a:p>
          <a:p>
            <a:r>
              <a:rPr lang="en-US" sz="1600" b="1" dirty="0"/>
              <a:t>Example</a:t>
            </a:r>
          </a:p>
          <a:p>
            <a:r>
              <a:rPr lang="en-US" sz="1600" b="1" dirty="0"/>
              <a:t>Step 1:</a:t>
            </a:r>
            <a:r>
              <a:rPr lang="en-US" sz="1600" dirty="0"/>
              <a:t> Ask LLM to generate test cases for login functionality</a:t>
            </a:r>
          </a:p>
          <a:p>
            <a:r>
              <a:rPr lang="en-US" sz="1600" b="1" dirty="0"/>
              <a:t>Step 2:</a:t>
            </a:r>
            <a:r>
              <a:rPr lang="en-US" sz="1600" dirty="0"/>
              <a:t> Refine cases to include edge scenarios (e.g., empty password, SQL injection)</a:t>
            </a:r>
          </a:p>
          <a:p>
            <a:r>
              <a:rPr lang="en-US" sz="1600" b="1" dirty="0"/>
              <a:t>Step 3:</a:t>
            </a:r>
            <a:r>
              <a:rPr lang="en-US" sz="1600" dirty="0"/>
              <a:t> Validate outputs against requirements and refine again if needed</a:t>
            </a:r>
          </a:p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874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8600-DFF9-2789-541B-DFB8ABDC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FA030D-46E3-20A4-9CEA-ECF6B0EA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784AA2-A57B-7764-0B0A-51ED87193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5830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2.1.2 Core Prompting Techniques for Software Testing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C4089-7395-B3C1-8486-6B5EC352076A}"/>
              </a:ext>
            </a:extLst>
          </p:cNvPr>
          <p:cNvSpPr txBox="1"/>
          <p:nvPr/>
        </p:nvSpPr>
        <p:spPr>
          <a:xfrm>
            <a:off x="677334" y="1532757"/>
            <a:ext cx="83405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Zero-Shot Prompting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Zero-Shot Prompting relies entirely on the LLM’s pre-existing knowledge.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examples are provided in the prompt.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quick and simple prompting but may lack precision.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Prompt:</a:t>
            </a:r>
            <a:r>
              <a:rPr lang="en-US" dirty="0"/>
              <a:t> “Generate boundary test cases for the age field.”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LLM uses its own knowledge to produce cases (e.g., negative values, large numbers, valid ranges).</a:t>
            </a:r>
          </a:p>
        </p:txBody>
      </p:sp>
    </p:spTree>
    <p:extLst>
      <p:ext uri="{BB962C8B-B14F-4D97-AF65-F5344CB8AC3E}">
        <p14:creationId xmlns:p14="http://schemas.microsoft.com/office/powerpoint/2010/main" val="2446103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A875-0367-ADE9-C985-BB14A49C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FBAE8-77EA-FB20-A9DD-DF2F3F00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19293F-BC0A-D082-092E-D9209202E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2.1.2 Core Prompting Techniques for Software Testing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43DDB-9D07-0832-A0C1-7A447B40D926}"/>
              </a:ext>
            </a:extLst>
          </p:cNvPr>
          <p:cNvSpPr txBox="1"/>
          <p:nvPr/>
        </p:nvSpPr>
        <p:spPr>
          <a:xfrm>
            <a:off x="519679" y="1690412"/>
            <a:ext cx="83405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One-Shot Prompting</a:t>
            </a:r>
          </a:p>
          <a:p>
            <a:endParaRPr lang="en-US" b="1" dirty="0"/>
          </a:p>
          <a:p>
            <a:r>
              <a:rPr lang="en-US" dirty="0"/>
              <a:t>In One-Shot Prompting you provide one example to demonstrate the desired outcome.</a:t>
            </a:r>
          </a:p>
          <a:p>
            <a:r>
              <a:rPr lang="en-US" dirty="0"/>
              <a:t>It helps in guiding the LLM towards the expected format or behavior.</a:t>
            </a:r>
          </a:p>
          <a:p>
            <a:endParaRPr lang="en-US" dirty="0"/>
          </a:p>
          <a:p>
            <a:r>
              <a:rPr lang="en-US" b="1" dirty="0"/>
              <a:t>Example</a:t>
            </a:r>
          </a:p>
          <a:p>
            <a:endParaRPr lang="en-US" b="1" dirty="0"/>
          </a:p>
          <a:p>
            <a:r>
              <a:rPr lang="en-US" b="1" dirty="0"/>
              <a:t>Prompt:</a:t>
            </a:r>
            <a:r>
              <a:rPr lang="en-US" dirty="0"/>
              <a:t> “Generate boundary test cases in tabular format for the age field with range 1 and 110.</a:t>
            </a:r>
          </a:p>
          <a:p>
            <a:r>
              <a:rPr lang="en-US" dirty="0"/>
              <a:t> Example: TC ID, Age Value, Expected Result TC-xx, -1, INVALID”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920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7337-167F-17AA-0161-9EF4EA2D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EC49E-CC64-B3BB-4F7B-1E73D63DE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F8ABFB-86F2-9A14-3A77-D4B31445E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2.1.2 Core Prompting Techniques for Software Testing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5B50B-EB05-1371-6572-774AE905626A}"/>
              </a:ext>
            </a:extLst>
          </p:cNvPr>
          <p:cNvSpPr txBox="1"/>
          <p:nvPr/>
        </p:nvSpPr>
        <p:spPr>
          <a:xfrm>
            <a:off x="519679" y="1690412"/>
            <a:ext cx="83405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Few-Shot Prompting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Few-Shot Prompting you provide multiple examples in the prompt.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reinforces the expected behavior and format.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helps the LLM to generalize more effectively.</a:t>
            </a:r>
          </a:p>
          <a:p>
            <a:endParaRPr lang="en-US" dirty="0"/>
          </a:p>
          <a:p>
            <a:r>
              <a:rPr lang="en-US" b="1" dirty="0"/>
              <a:t>Example</a:t>
            </a:r>
          </a:p>
          <a:p>
            <a:endParaRPr lang="en-US" b="1" dirty="0"/>
          </a:p>
          <a:p>
            <a:r>
              <a:rPr lang="en-US" b="1" dirty="0"/>
              <a:t>Prompt:</a:t>
            </a:r>
            <a:r>
              <a:rPr lang="en-US" dirty="0"/>
              <a:t> Generate boundary test cases for the age field with range 1 and 110. Examples: Age = -1 is Invalid, Age = 0 is Valid, Age = 120 is Invalid.</a:t>
            </a:r>
          </a:p>
          <a:p>
            <a:endParaRPr lang="en-US" dirty="0"/>
          </a:p>
          <a:p>
            <a:r>
              <a:rPr lang="en-US" dirty="0"/>
              <a:t>LLM continues with consistent outputs (e.g., Age = 25 is Valid, Age = 130 is Invalid).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9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C50A-5A5B-00FB-A85E-70F6E7FF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278A5E-BF7E-EBF8-D9B9-011CDF24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F2DE43-164B-EC84-1EE0-24C6F4C9C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2.1.2 Core Prompting Techniques for Software Testing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Meta Prompting</a:t>
            </a:r>
          </a:p>
          <a:p>
            <a:r>
              <a:rPr lang="en-US" dirty="0">
                <a:solidFill>
                  <a:schemeClr val="tx1"/>
                </a:solidFill>
              </a:rPr>
              <a:t>In Meta Prompting LLM helps generate or refine its own prompts.</a:t>
            </a:r>
          </a:p>
          <a:p>
            <a:r>
              <a:rPr lang="en-US" dirty="0">
                <a:solidFill>
                  <a:schemeClr val="tx1"/>
                </a:solidFill>
              </a:rPr>
              <a:t>It follows iterative cycle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If tester is unsure of prompt, in that case tester evaluates and LLM improves prompt, this cycle is repeated until best prompt is achieved.</a:t>
            </a:r>
          </a:p>
          <a:p>
            <a:r>
              <a:rPr lang="en-US" dirty="0">
                <a:solidFill>
                  <a:schemeClr val="tx1"/>
                </a:solidFill>
              </a:rPr>
              <a:t>It reduces manual effort in designing effective prompts.</a:t>
            </a:r>
          </a:p>
          <a:p>
            <a:r>
              <a:rPr lang="en-US" dirty="0">
                <a:solidFill>
                  <a:schemeClr val="tx1"/>
                </a:solidFill>
              </a:rPr>
              <a:t>Example</a:t>
            </a:r>
          </a:p>
          <a:p>
            <a:r>
              <a:rPr lang="en-US" dirty="0">
                <a:solidFill>
                  <a:schemeClr val="tx1"/>
                </a:solidFill>
              </a:rPr>
              <a:t>Tester: “Suggest a better way to phrase this test prompt for login security.”</a:t>
            </a:r>
          </a:p>
          <a:p>
            <a:r>
              <a:rPr lang="en-US" dirty="0">
                <a:solidFill>
                  <a:schemeClr val="tx1"/>
                </a:solidFill>
              </a:rPr>
              <a:t>LLM: Refines prompt to include password complexity, lockout rules, error handling.</a:t>
            </a:r>
          </a:p>
          <a:p>
            <a:r>
              <a:rPr lang="en-US" dirty="0">
                <a:solidFill>
                  <a:schemeClr val="tx1"/>
                </a:solidFill>
              </a:rPr>
              <a:t>Tester: Accepts or adjusts until desired outcome.</a:t>
            </a:r>
          </a:p>
          <a:p>
            <a:r>
              <a:rPr lang="en-US" dirty="0">
                <a:solidFill>
                  <a:schemeClr val="tx1"/>
                </a:solidFill>
              </a:rPr>
              <a:t>Benefits of Meta Prompting</a:t>
            </a:r>
          </a:p>
          <a:p>
            <a:r>
              <a:rPr lang="en-US" dirty="0">
                <a:solidFill>
                  <a:schemeClr val="tx1"/>
                </a:solidFill>
              </a:rPr>
              <a:t>It encourages collaboration (pairing) between tester &amp; AI.</a:t>
            </a:r>
          </a:p>
          <a:p>
            <a:r>
              <a:rPr lang="en-US" dirty="0">
                <a:solidFill>
                  <a:schemeClr val="tx1"/>
                </a:solidFill>
              </a:rPr>
              <a:t>It enhances productivity, learning, and creativity.</a:t>
            </a:r>
          </a:p>
          <a:p>
            <a:r>
              <a:rPr lang="en-US" dirty="0">
                <a:solidFill>
                  <a:schemeClr val="tx1"/>
                </a:solidFill>
              </a:rPr>
              <a:t>It is useful in pair programming/pair testing contexts.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232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9330-EDD6-D713-5B5A-224D7323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B6914C-D21B-4876-4197-D1A2AECA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585895-A904-51DA-C9B9-03B4980BB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2.1.2 Core Prompting Techniques for Software Testing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Hands on Zero Shot prompting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 1: Translate “hello” in Spanish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 2: Write functional testcases for ecommerce registration functionality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Hands-on One-Shot prompting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r>
              <a:rPr lang="en-US" b="1" dirty="0"/>
              <a:t>Input:</a:t>
            </a:r>
            <a:r>
              <a:rPr lang="en-US" dirty="0"/>
              <a:t> User enters correct username and password.</a:t>
            </a:r>
            <a:br>
              <a:rPr lang="en-US" dirty="0"/>
            </a:br>
            <a:r>
              <a:rPr lang="en-US" b="1" dirty="0"/>
              <a:t>Output:</a:t>
            </a:r>
            <a:r>
              <a:rPr lang="en-US" dirty="0"/>
              <a:t> TC01 – Verify that user is successfully logged in with valid credentials.</a:t>
            </a:r>
          </a:p>
          <a:p>
            <a:r>
              <a:rPr lang="en-US" b="1" dirty="0"/>
              <a:t>Now, write test case for:</a:t>
            </a:r>
            <a:endParaRPr lang="en-US" dirty="0"/>
          </a:p>
          <a:p>
            <a:r>
              <a:rPr lang="en-US" b="1" dirty="0"/>
              <a:t>Input:</a:t>
            </a:r>
            <a:r>
              <a:rPr lang="en-US" dirty="0"/>
              <a:t> User enters incorrect password.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596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1ABF-4D5C-277F-BC37-340F4556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7059DA-0046-54A4-AC22-419B6619E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F1FF1A-9995-DDDF-B353-4B3425DD5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2.1.2 Core Prompting Techniques for Software Testing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Hands-on Few shot  prompting</a:t>
            </a:r>
          </a:p>
          <a:p>
            <a:r>
              <a:rPr lang="en-US" dirty="0"/>
              <a:t>Example 1:</a:t>
            </a:r>
            <a:br>
              <a:rPr lang="en-US" dirty="0"/>
            </a:br>
            <a:r>
              <a:rPr lang="en-US" dirty="0"/>
              <a:t>Question - What is Smoke Testing?</a:t>
            </a:r>
            <a:br>
              <a:rPr lang="en-US" dirty="0"/>
            </a:br>
            <a:r>
              <a:rPr lang="en-US" dirty="0"/>
              <a:t>Answer - A preliminary test to check the basic functionality of an application before deeper testing.</a:t>
            </a:r>
          </a:p>
          <a:p>
            <a:r>
              <a:rPr lang="en-US" dirty="0"/>
              <a:t>Example 2:</a:t>
            </a:r>
            <a:br>
              <a:rPr lang="en-US" dirty="0"/>
            </a:br>
            <a:r>
              <a:rPr lang="en-US" dirty="0"/>
              <a:t>Question - What is Unit Testing?</a:t>
            </a:r>
            <a:br>
              <a:rPr lang="en-US" dirty="0"/>
            </a:br>
            <a:r>
              <a:rPr lang="en-US" dirty="0"/>
              <a:t>Answer - A type of testing where individual components or functions of a software are tested in isolation.</a:t>
            </a:r>
          </a:p>
          <a:p>
            <a:r>
              <a:rPr lang="en-US" dirty="0"/>
              <a:t>Example 3:</a:t>
            </a:r>
            <a:br>
              <a:rPr lang="en-US" dirty="0"/>
            </a:br>
            <a:r>
              <a:rPr lang="en-US" dirty="0"/>
              <a:t>Question - What is Integration Testing?</a:t>
            </a:r>
            <a:br>
              <a:rPr lang="en-US" dirty="0"/>
            </a:br>
            <a:r>
              <a:rPr lang="en-US" dirty="0"/>
              <a:t>Answer - A process of testing the interaction between integrated modules to ensure they work together correctly.</a:t>
            </a:r>
          </a:p>
          <a:p>
            <a:r>
              <a:rPr lang="en-US" dirty="0"/>
              <a:t>Now define: What is Regression Testing?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958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F68-F8B7-6580-C054-A9BAAE74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F100F7-5E5B-FB93-1A82-C7E59948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2612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83CCCC-6C09-7B08-EEF5-43D13CBBF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117" y="786525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2.1.3 System Prompt and User Prompt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System Prompts</a:t>
            </a:r>
          </a:p>
          <a:p>
            <a:r>
              <a:rPr lang="en-US" dirty="0"/>
              <a:t>System Prompts are defined by the developer or tester.</a:t>
            </a:r>
          </a:p>
          <a:p>
            <a:r>
              <a:rPr lang="en-US" dirty="0"/>
              <a:t>They are invisible to end-users in most chatbot interfaces.</a:t>
            </a:r>
          </a:p>
          <a:p>
            <a:r>
              <a:rPr lang="en-US" dirty="0"/>
              <a:t>They act as a predefined command set guiding overall LLM behavior.</a:t>
            </a:r>
          </a:p>
          <a:p>
            <a:r>
              <a:rPr lang="en-US" b="1" dirty="0">
                <a:solidFill>
                  <a:srgbClr val="FF0000"/>
                </a:solidFill>
              </a:rPr>
              <a:t>Purpose</a:t>
            </a:r>
          </a:p>
          <a:p>
            <a:r>
              <a:rPr lang="en-US" dirty="0"/>
              <a:t>Establishes tone, personality, and operational parameters.</a:t>
            </a:r>
          </a:p>
          <a:p>
            <a:r>
              <a:rPr lang="en-US" dirty="0"/>
              <a:t>Sets rules for the entire conversation.</a:t>
            </a:r>
          </a:p>
          <a:p>
            <a:r>
              <a:rPr lang="en-US" dirty="0"/>
              <a:t>May include structured prompt parts: role, context, constraints.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(Using a formal tone, keeping answers concise, respecting domain-specific rules or avoiding certain behavior)</a:t>
            </a:r>
          </a:p>
          <a:p>
            <a:r>
              <a:rPr lang="en-US" dirty="0"/>
              <a:t>“You are a professional software testing assistant. Always respond clearly, use formal language, and focus on ISTQB-aligned practices. Avoid speculation and cite testing principles when relevant.”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535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B3D3-4A23-4091-A086-85211448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6570A5-B7BF-E2A5-7FF7-A6DFBAD8B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ADB488-28E9-2CBB-D2BD-B53B3DD6A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5" y="1143712"/>
            <a:ext cx="9782287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2.1.3 System Prompt and User Prompt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User Prompts</a:t>
            </a:r>
          </a:p>
          <a:p>
            <a:r>
              <a:rPr lang="en-US" sz="1600" dirty="0"/>
              <a:t>System Prompts are defined by the developer or tester.</a:t>
            </a:r>
          </a:p>
          <a:p>
            <a:r>
              <a:rPr lang="en-US" sz="1600" dirty="0"/>
              <a:t>They are invisible to end-users in most chatbot interfaces.</a:t>
            </a:r>
          </a:p>
          <a:p>
            <a:r>
              <a:rPr lang="en-US" sz="1600" dirty="0"/>
              <a:t>They act as a predefined command set guiding overall LLM behavior.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Purpose</a:t>
            </a:r>
          </a:p>
          <a:p>
            <a:r>
              <a:rPr lang="en-US" sz="1600" dirty="0"/>
              <a:t>Establishes tone, personality, and operational parameters.</a:t>
            </a:r>
          </a:p>
          <a:p>
            <a:r>
              <a:rPr lang="en-US" sz="1600" dirty="0"/>
              <a:t>Sets rules for the entire conversation.</a:t>
            </a:r>
          </a:p>
          <a:p>
            <a:r>
              <a:rPr lang="en-US" sz="1600" dirty="0"/>
              <a:t>May include structured prompt parts: role, context, constraints.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1600" dirty="0"/>
              <a:t>(Using a formal tone, keeping answers concise, respecting domain-specific rules or avoiding certain behavior)</a:t>
            </a:r>
          </a:p>
          <a:p>
            <a:r>
              <a:rPr lang="en-US" sz="1600" dirty="0"/>
              <a:t>“You are a professional software testing assistant. Always respond clearly, use formal language, and focus on ISTQB-aligned practices. Avoid speculation and cite testing principles when relevant.”</a:t>
            </a:r>
          </a:p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131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C8B9-3E79-CE07-BED5-FC27D2AF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CD5BBD-672B-EC02-C8F2-62C597FC8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08" y="263091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73E502-7F8F-B6E9-74FA-348A27C42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742" y="923491"/>
            <a:ext cx="10090296" cy="61029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2.1.3 System Prompt and User Prompt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How Both Work Together</a:t>
            </a:r>
          </a:p>
          <a:p>
            <a:r>
              <a:rPr lang="en-US" dirty="0"/>
              <a:t>System prompt is set once at the start of the conversation and defines the framework.</a:t>
            </a:r>
          </a:p>
          <a:p>
            <a:r>
              <a:rPr lang="en-US" dirty="0"/>
              <a:t>User prompts are sent successively for each interaction.</a:t>
            </a:r>
          </a:p>
          <a:p>
            <a:r>
              <a:rPr lang="en-US" dirty="0"/>
              <a:t>LLM considers both together to generate responses.</a:t>
            </a:r>
          </a:p>
          <a:p>
            <a:r>
              <a:rPr lang="en-US" b="1" dirty="0">
                <a:solidFill>
                  <a:srgbClr val="FF0000"/>
                </a:solidFill>
              </a:rPr>
              <a:t>Best Practices</a:t>
            </a:r>
          </a:p>
          <a:p>
            <a:r>
              <a:rPr lang="en-US" dirty="0"/>
              <a:t>System prompts should be clear, specific, define role &amp; constraints.</a:t>
            </a:r>
          </a:p>
          <a:p>
            <a:r>
              <a:rPr lang="en-US" dirty="0"/>
              <a:t>User prompts should be focused, structured, include context &amp; output format.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a. </a:t>
            </a:r>
            <a:r>
              <a:rPr lang="en-US" b="1" dirty="0"/>
              <a:t>System prompt:</a:t>
            </a:r>
            <a:r>
              <a:rPr lang="en-US" dirty="0"/>
              <a:t> “You are a software testing assistant. Use ISTQB practices.”</a:t>
            </a:r>
            <a:br>
              <a:rPr lang="en-US" dirty="0"/>
            </a:br>
            <a:r>
              <a:rPr lang="en-US" dirty="0"/>
              <a:t>b. </a:t>
            </a:r>
            <a:r>
              <a:rPr lang="en-US" b="1" dirty="0"/>
              <a:t>User prompt:</a:t>
            </a:r>
            <a:r>
              <a:rPr lang="en-US" dirty="0"/>
              <a:t> “Generate boundary test cases for a login form.”</a:t>
            </a:r>
            <a:br>
              <a:rPr lang="en-US" dirty="0"/>
            </a:br>
            <a:r>
              <a:rPr lang="en-US" dirty="0"/>
              <a:t>c. </a:t>
            </a:r>
            <a:r>
              <a:rPr lang="en-US" b="1" dirty="0"/>
              <a:t>LLM response:</a:t>
            </a:r>
            <a:r>
              <a:rPr lang="en-US" dirty="0"/>
              <a:t> Provides ISTQB-aligned test cases, concise and formal.</a:t>
            </a:r>
          </a:p>
          <a:p>
            <a:r>
              <a:rPr lang="en-US" dirty="0"/>
              <a:t>Together, system and user prompts ensure consistent, accurate, and relevant outputs.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2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084D-7D2E-B233-433B-CCDA9272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EDABDD-35C0-197C-39B4-02D0A5CD4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BDB519-85C5-C643-994C-F8F4D35BF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r>
              <a:rPr lang="en-US" sz="1200" b="1" dirty="0"/>
              <a:t>GenAI-2.2.1 (K3)</a:t>
            </a:r>
            <a:r>
              <a:rPr lang="en-US" sz="1200" dirty="0"/>
              <a:t> Apply generative AI to test analysis tasks</a:t>
            </a:r>
          </a:p>
          <a:p>
            <a:r>
              <a:rPr lang="en-US" sz="1200" b="1" dirty="0"/>
              <a:t>HO-2.2.1a (H2)</a:t>
            </a:r>
            <a:r>
              <a:rPr lang="en-US" sz="1200" dirty="0"/>
              <a:t> Practice multimodal prompting to generate acceptance criteria for a user story based on a GUI wireframe</a:t>
            </a:r>
          </a:p>
          <a:p>
            <a:r>
              <a:rPr lang="en-US" sz="1200" b="1" dirty="0"/>
              <a:t>HO-2.2.1b (H2)</a:t>
            </a:r>
            <a:r>
              <a:rPr lang="en-US" sz="1200" dirty="0"/>
              <a:t> Practice prompt chaining and human verification to progressively analyze a given user story and refine acceptance criteria</a:t>
            </a:r>
          </a:p>
          <a:p>
            <a:r>
              <a:rPr lang="en-US" sz="1200" b="1" dirty="0"/>
              <a:t>GenAI-2.2.2 (K3)</a:t>
            </a:r>
            <a:r>
              <a:rPr lang="en-US" sz="1200" dirty="0"/>
              <a:t> Apply generative AI to test design and test implementation tasks</a:t>
            </a:r>
          </a:p>
          <a:p>
            <a:r>
              <a:rPr lang="en-US" sz="1200" b="1" dirty="0"/>
              <a:t>HO-2.2.2a (H2)</a:t>
            </a:r>
            <a:r>
              <a:rPr lang="en-US" sz="1200" dirty="0"/>
              <a:t> Practice functional test case generation from user stories with AI using prompt chaining, structured prompts and meta-prompting</a:t>
            </a:r>
          </a:p>
          <a:p>
            <a:r>
              <a:rPr lang="en-US" sz="1200" dirty="0"/>
              <a:t>HO-2.2.2b (H2) Use few-shot prompting technique to generate Gherkin style test conditions and test cases from user stories</a:t>
            </a:r>
          </a:p>
          <a:p>
            <a:r>
              <a:rPr lang="en-US" sz="1200" dirty="0"/>
              <a:t>HO-2.2.2c (H2) Use prompt chaining to prioritize test cases within a given test suite, taking into account their specific priorities and dependencies</a:t>
            </a:r>
          </a:p>
          <a:p>
            <a:r>
              <a:rPr lang="en-US" sz="1200" dirty="0"/>
              <a:t>GenAI-2.2.3 (K3) Apply generative AI to automated regression testing</a:t>
            </a:r>
          </a:p>
          <a:p>
            <a:r>
              <a:rPr lang="en-US" sz="1200" dirty="0"/>
              <a:t>HO-2.2.3a (H2) Practice few-shot prompting to create and manage keyword-driven test scripts</a:t>
            </a:r>
          </a:p>
          <a:p>
            <a:r>
              <a:rPr lang="en-US" sz="1200" dirty="0"/>
              <a:t>HO-2.2.3b (H2) Practice structured prompt engineering for test report analysis</a:t>
            </a:r>
          </a:p>
          <a:p>
            <a:r>
              <a:rPr lang="en-US" sz="1200" dirty="0"/>
              <a:t>GenAI-2.2.4 (K3) Apply generative AI to test control and monitoring tasks</a:t>
            </a:r>
          </a:p>
          <a:p>
            <a:r>
              <a:rPr lang="en-US" sz="1200" dirty="0"/>
              <a:t>HO-2.2.4 (H0) Observe test monitoring metrics prepared by AI from test data</a:t>
            </a:r>
          </a:p>
          <a:p>
            <a:r>
              <a:rPr lang="en-US" sz="1200" dirty="0"/>
              <a:t>GenAI-2.2.5 (K3) Select and apply appropriate prompting techniques for a given context and test task</a:t>
            </a:r>
          </a:p>
          <a:p>
            <a:r>
              <a:rPr lang="en-US" sz="1200" dirty="0"/>
              <a:t>HO-2.2.5 (H1) Select and apply context-appropriate prompting techniques for a given test task</a:t>
            </a:r>
          </a:p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171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4048-103F-9C57-6DB4-7050E5FB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BE365-B3C3-D94C-FDD0-FDAB12B9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6ECCD5-1787-4C54-6322-879BE747F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Why Prompt Engineering Matters in Software Testing</a:t>
            </a:r>
          </a:p>
          <a:p>
            <a:r>
              <a:rPr lang="en-US" sz="1600" dirty="0"/>
              <a:t>Prompt Engineering enables GenAI to support core test tasks like:</a:t>
            </a:r>
          </a:p>
          <a:p>
            <a:pPr lvl="1"/>
            <a:r>
              <a:rPr lang="en-US" dirty="0"/>
              <a:t>Test analysis</a:t>
            </a:r>
          </a:p>
          <a:p>
            <a:pPr lvl="1"/>
            <a:r>
              <a:rPr lang="en-US" dirty="0"/>
              <a:t>Test design</a:t>
            </a:r>
          </a:p>
          <a:p>
            <a:pPr lvl="1"/>
            <a:r>
              <a:rPr lang="en-US" dirty="0"/>
              <a:t>Test automation</a:t>
            </a:r>
          </a:p>
          <a:p>
            <a:pPr lvl="1"/>
            <a:r>
              <a:rPr lang="en-US" dirty="0"/>
              <a:t>Test case prioritization</a:t>
            </a:r>
          </a:p>
          <a:p>
            <a:pPr lvl="1"/>
            <a:r>
              <a:rPr lang="en-US" dirty="0"/>
              <a:t>Defect detection</a:t>
            </a:r>
          </a:p>
          <a:p>
            <a:pPr lvl="1"/>
            <a:r>
              <a:rPr lang="en-US" dirty="0"/>
              <a:t>Coverage analysis</a:t>
            </a:r>
          </a:p>
          <a:p>
            <a:pPr lvl="1"/>
            <a:r>
              <a:rPr lang="en-US" dirty="0"/>
              <a:t>Test monitoring &amp; control</a:t>
            </a:r>
          </a:p>
          <a:p>
            <a:r>
              <a:rPr lang="en-US" sz="1600" b="1" dirty="0"/>
              <a:t>Example:</a:t>
            </a:r>
          </a:p>
          <a:p>
            <a:r>
              <a:rPr lang="en-US" sz="1600" dirty="0"/>
              <a:t>If we prompt Gen AI: </a:t>
            </a:r>
            <a:r>
              <a:rPr lang="en-US" sz="1600" b="1" dirty="0"/>
              <a:t>“Design test cases for a login form.”</a:t>
            </a:r>
            <a:r>
              <a:rPr lang="en-US" sz="1600" dirty="0"/>
              <a:t>, you will get very generalized answers.</a:t>
            </a:r>
          </a:p>
          <a:p>
            <a:r>
              <a:rPr lang="en-US" sz="1600" dirty="0"/>
              <a:t>With prompt engineering, the AI can generate </a:t>
            </a:r>
            <a:r>
              <a:rPr lang="en-US" sz="1600" b="1" dirty="0"/>
              <a:t>structured test cases instead of generic answers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456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23C3-8CD0-F108-065E-88D8C6FF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D3F681-BC31-D3D2-A4E2-5263456F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4C794E-7DE9-4625-A617-16AA2621C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12C4F-CD6E-0FA4-4F29-4B56C2B18E2E}"/>
              </a:ext>
            </a:extLst>
          </p:cNvPr>
          <p:cNvSpPr txBox="1"/>
          <p:nvPr/>
        </p:nvSpPr>
        <p:spPr>
          <a:xfrm>
            <a:off x="391615" y="1639725"/>
            <a:ext cx="8350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GenAI-2.2.1 (K3) Apply generative AI to test analysis tasks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HO-2.2.1a (H2) Practice multimodal prompting to generate acceptance criteria for a user story based on a GUI wireframe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HO-2.2.1b (H2) Practice prompt chaining and human verification to progressively analyze a given user story and refine acceptance criteria</a:t>
            </a:r>
          </a:p>
        </p:txBody>
      </p:sp>
    </p:spTree>
    <p:extLst>
      <p:ext uri="{BB962C8B-B14F-4D97-AF65-F5344CB8AC3E}">
        <p14:creationId xmlns:p14="http://schemas.microsoft.com/office/powerpoint/2010/main" val="3584179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6E2C0-7980-1A7D-49A0-EAC39CA5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1BA31D-65F5-872D-5741-09AC5F96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6C183F-E944-77F6-022A-8B6AF48F7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54EB6-C07D-B882-70E1-0833B74A656C}"/>
              </a:ext>
            </a:extLst>
          </p:cNvPr>
          <p:cNvSpPr txBox="1"/>
          <p:nvPr/>
        </p:nvSpPr>
        <p:spPr>
          <a:xfrm>
            <a:off x="780780" y="1710670"/>
            <a:ext cx="835036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What Generative AI Can Do</a:t>
            </a:r>
          </a:p>
          <a:p>
            <a:endParaRPr lang="en-US" sz="1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Generate and prioritize test conditions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Identify defects in the test basis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Provide coverage analysis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Inputs to GenAI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Technical specifications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GUI wireframes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Other relevant project information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Outputs from GenAI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Typical test analysis work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 Prioritized test conditions (e.g., acceptance criteria)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Generative AI is like a smart assistant that helps testers to expedite test analysis activities.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84189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795B-EAC2-2545-79C4-8A39B40A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7EE460-F6AB-1756-0AEE-BE84C7A3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1E487B-751A-E488-41B4-E9713DC8A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216B-97A3-A2D2-61EA-3C5C2CA522E7}"/>
              </a:ext>
            </a:extLst>
          </p:cNvPr>
          <p:cNvSpPr txBox="1"/>
          <p:nvPr/>
        </p:nvSpPr>
        <p:spPr>
          <a:xfrm>
            <a:off x="780780" y="1710670"/>
            <a:ext cx="835036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Identifying Defects in the Test Basis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GenAI can help analyze the test basis for inconsistencies, ambiguities, or incomplete information that could lead to defects.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compare patterns with previous defect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flags anomalies and suggests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example, if the requirement says </a:t>
            </a:r>
            <a:r>
              <a:rPr lang="en-US" sz="1400" b="1" dirty="0"/>
              <a:t>“System must allow secure login.”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Generative AI detects ambiguity.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What does </a:t>
            </a:r>
            <a:r>
              <a:rPr lang="en-US" sz="1400" b="1" dirty="0"/>
              <a:t>“secure”</a:t>
            </a:r>
            <a:r>
              <a:rPr lang="en-US" sz="1400" dirty="0"/>
              <a:t> mean?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Is it password rules? or Multi-factor authentication?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suggests clarifying details to avoid defects later.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8647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81B2F-9366-6E37-505E-0AB3D76A2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F1BE32-9E47-4C5F-EFC2-0ED0006F5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28BF52-44DD-096E-E9E5-57FFACA53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E88AF-B62A-A63F-114E-32417E72DB37}"/>
              </a:ext>
            </a:extLst>
          </p:cNvPr>
          <p:cNvSpPr txBox="1"/>
          <p:nvPr/>
        </p:nvSpPr>
        <p:spPr>
          <a:xfrm>
            <a:off x="780780" y="1710670"/>
            <a:ext cx="83503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Generating Test Conditions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LLMs can analyze requirements and user stories to generate test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uses natural language processing to interpret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breaks requirements into measurable and testable statements.</a:t>
            </a:r>
          </a:p>
          <a:p>
            <a:endParaRPr lang="en-US" sz="1400" dirty="0"/>
          </a:p>
          <a:p>
            <a:r>
              <a:rPr lang="en-US" sz="1400" dirty="0"/>
              <a:t>Example</a:t>
            </a:r>
          </a:p>
          <a:p>
            <a:endParaRPr lang="en-US" sz="1400" dirty="0"/>
          </a:p>
          <a:p>
            <a:r>
              <a:rPr lang="en-US" sz="1400" dirty="0"/>
              <a:t>User Story: “As a user, I want to reset my password.”</a:t>
            </a:r>
          </a:p>
          <a:p>
            <a:endParaRPr lang="en-US" sz="1400" dirty="0"/>
          </a:p>
          <a:p>
            <a:r>
              <a:rPr lang="en-US" sz="1400" dirty="0"/>
              <a:t>GenAI generates test conditions based on above story:</a:t>
            </a:r>
          </a:p>
          <a:p>
            <a:endParaRPr lang="en-US" sz="1400" dirty="0"/>
          </a:p>
          <a:p>
            <a:pPr lvl="1"/>
            <a:r>
              <a:rPr lang="en-US" sz="1400" dirty="0"/>
              <a:t>Reset link is sent to registered email.</a:t>
            </a:r>
          </a:p>
          <a:p>
            <a:pPr lvl="1"/>
            <a:r>
              <a:rPr lang="en-US" sz="1400" dirty="0"/>
              <a:t>Reset password link should expire after set time.</a:t>
            </a:r>
          </a:p>
          <a:p>
            <a:pPr lvl="1"/>
            <a:r>
              <a:rPr lang="en-US" sz="1400" dirty="0"/>
              <a:t>Error message is shown if invalid email is used.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70959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FF6E-8636-451F-DE4D-6FEE89C6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3E5901-D66C-E613-709D-47F86C20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97DB5A-823E-B67A-DC20-9330A6305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8AC42F-4A62-195D-E936-C0FFE8009CCA}"/>
              </a:ext>
            </a:extLst>
          </p:cNvPr>
          <p:cNvSpPr txBox="1"/>
          <p:nvPr/>
        </p:nvSpPr>
        <p:spPr>
          <a:xfrm>
            <a:off x="780780" y="1710670"/>
            <a:ext cx="83503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Prioritizing Test Conditions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With information on the risk likelihood and risk impact of failure for each test condition, LLM can help prioritize test effort.</a:t>
            </a:r>
          </a:p>
          <a:p>
            <a:endParaRPr lang="en-US" sz="1400" dirty="0"/>
          </a:p>
          <a:p>
            <a:r>
              <a:rPr lang="en-US" sz="1400" dirty="0"/>
              <a:t>The LLM can recommend priority levels by considering factors like:</a:t>
            </a:r>
          </a:p>
          <a:p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Regulatory compliance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User-facing features (login, payments)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Historical defect data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Example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Payment processing test conditions (High priority)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Cosmetic UI alignment (Low priority)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58540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E756-D696-B351-C8D7-77E08190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EE043-09CF-AA4F-72B8-AC955CCA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67051C-3246-AAA0-D7B0-4E13DA4B1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40478-E808-E43B-EDEC-11B8B6D6F9A8}"/>
              </a:ext>
            </a:extLst>
          </p:cNvPr>
          <p:cNvSpPr txBox="1"/>
          <p:nvPr/>
        </p:nvSpPr>
        <p:spPr>
          <a:xfrm>
            <a:off x="780780" y="1710670"/>
            <a:ext cx="835036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Support Coverage Analysis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dirty="0"/>
              <a:t>LLMs help to perform coverage analysis to determine whether all aspects of the test basis are covered by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Mapping requirements/user stories to test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highlights the gaps that could lead to escaped defects.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helps teams to achieve complete coverage in complex projects.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78731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4319-8A27-070A-5D6B-5B04254E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EADF40-FAF9-BC71-A41E-40E6AF43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4AA367-68F8-5EA9-30D6-D5E76A58B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02E4D-95D3-0BB1-387A-BF59B81FCA5C}"/>
              </a:ext>
            </a:extLst>
          </p:cNvPr>
          <p:cNvSpPr txBox="1"/>
          <p:nvPr/>
        </p:nvSpPr>
        <p:spPr>
          <a:xfrm>
            <a:off x="780780" y="1710670"/>
            <a:ext cx="835036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Suggesting Test Techniques</a:t>
            </a:r>
          </a:p>
          <a:p>
            <a:endParaRPr lang="en-US" sz="1400" b="1" dirty="0"/>
          </a:p>
          <a:p>
            <a:r>
              <a:rPr lang="en-US" sz="1400" dirty="0"/>
              <a:t>GenAI can suggest relevant test techniques based on the type of requirement or user story being tested, for example:</a:t>
            </a:r>
          </a:p>
          <a:p>
            <a:endParaRPr lang="en-US" sz="1400" dirty="0"/>
          </a:p>
          <a:p>
            <a:pPr lvl="1"/>
            <a:r>
              <a:rPr lang="en-US" sz="1400" dirty="0"/>
              <a:t>Boundary Value Analysis</a:t>
            </a:r>
          </a:p>
          <a:p>
            <a:pPr lvl="1"/>
            <a:r>
              <a:rPr lang="en-US" sz="1400" dirty="0"/>
              <a:t>Equivalence Partitioning</a:t>
            </a:r>
          </a:p>
          <a:p>
            <a:pPr lvl="1"/>
            <a:endParaRPr lang="en-US" sz="1400" dirty="0"/>
          </a:p>
          <a:p>
            <a:r>
              <a:rPr lang="en-US" sz="1400" dirty="0"/>
              <a:t>This helps testers to apply the most effective test techniques for specific test conditions.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FF0000"/>
                </a:solidFill>
              </a:rPr>
              <a:t>Example</a:t>
            </a:r>
          </a:p>
          <a:p>
            <a:endParaRPr lang="en-US" sz="1400" dirty="0"/>
          </a:p>
          <a:p>
            <a:r>
              <a:rPr lang="en-US" sz="1400" dirty="0"/>
              <a:t>If requirement says “Age must be between 18 and 65.”</a:t>
            </a:r>
          </a:p>
          <a:p>
            <a:r>
              <a:rPr lang="en-US" sz="1400" dirty="0"/>
              <a:t>GenAI suggests Boundary Values to test [17, 18, 65, 66].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70064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8F605-AE0C-9D08-E732-FAF482DD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2902DF-46EB-3423-1A12-6B7822402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18EA17-14A9-0F0F-51B2-F4CB81E24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81199-7D53-A75C-DC0A-8625AD3172D1}"/>
              </a:ext>
            </a:extLst>
          </p:cNvPr>
          <p:cNvSpPr txBox="1"/>
          <p:nvPr/>
        </p:nvSpPr>
        <p:spPr>
          <a:xfrm>
            <a:off x="780780" y="1710670"/>
            <a:ext cx="835036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2.2.1 Test Analysis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Importance of High-Quality Input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Quality of input is directly proportional to quality of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Poor input will lead to vague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Clear, structured input in Gen AI will produce precise and actionable outputs.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FF0000"/>
                </a:solidFill>
              </a:rPr>
              <a:t>For example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Poor prompt: “Test eCommerce mobile app.”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Good prompt: “Generate boundary test cases for the age field in registration form. Include valid and invalid examples.”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67695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5977-C798-F30A-C64A-BB3A7839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EB3D05-044B-E6AE-9556-FB55A15F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2A6C3-FAAE-9DCD-C9A7-089E0CD66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16" y="1143712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B99F3-E8FA-DD50-A7C5-CE46506FE35D}"/>
              </a:ext>
            </a:extLst>
          </p:cNvPr>
          <p:cNvSpPr txBox="1"/>
          <p:nvPr/>
        </p:nvSpPr>
        <p:spPr>
          <a:xfrm>
            <a:off x="514768" y="1537250"/>
            <a:ext cx="835036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2.2.2 Test Design and Test Implementation with Generative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GenAI-2.2.2 (K3) Apply generative AI to test design and test implementation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HO-2.2.2a (H2) Practice functional test case generation from user stories with AI using prompt chaining, structured prompts and meta-prompting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HO-2.2.2b (H2) Use few-shot prompting technique to generate Gherkin style test conditions and test cases from 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HO-2.2.2c (H2) Use prompt chaining to prioritize test cases within a given test suite, taking into account their specific priorities and dependencies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81161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278B7-BD2D-CABC-C950-2E0D2DC3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B192B9-B860-78D5-7C5C-DFC48AF78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2A6098-28FC-D4CD-C4FF-B93628A6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41360-EBE9-33C0-D7F7-D1459CB5FF33}"/>
              </a:ext>
            </a:extLst>
          </p:cNvPr>
          <p:cNvSpPr txBox="1"/>
          <p:nvPr/>
        </p:nvSpPr>
        <p:spPr>
          <a:xfrm>
            <a:off x="646772" y="1219260"/>
            <a:ext cx="92776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2.2.2 Test Design and Test Implementation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Generative AI elaborates and refines test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It translates test conditions into test cases &amp; </a:t>
            </a:r>
            <a:r>
              <a:rPr lang="en-US" sz="1200" dirty="0" err="1"/>
              <a:t>testware</a:t>
            </a:r>
            <a:r>
              <a:rPr lang="en-US" sz="1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Test Implementation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Creation or acquisition of the necessary </a:t>
            </a:r>
            <a:r>
              <a:rPr lang="en-US" sz="1200" dirty="0" err="1"/>
              <a:t>testware</a:t>
            </a:r>
            <a:r>
              <a:rPr lang="en-US" sz="1200" dirty="0"/>
              <a:t> to perform the tests.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Both manual tests and automated test scripts can be created, prioritized, and arranged within a test execution schedule with the support of GenAI.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GenAI supports creation &amp; evaluation of: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Test cases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Test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Test scripts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Test environments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It helps arrange tests into execution schedules.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15806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7CEF-933B-10E6-6CD9-94D0DCB1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48A4A-8041-42B4-BC24-E7DB2545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6EDAF9-8935-1B9F-60B4-BE8571AD3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2784C-5CC3-A1EF-4D5B-8F004B21F885}"/>
              </a:ext>
            </a:extLst>
          </p:cNvPr>
          <p:cNvSpPr txBox="1"/>
          <p:nvPr/>
        </p:nvSpPr>
        <p:spPr>
          <a:xfrm>
            <a:off x="646772" y="1219260"/>
            <a:ext cx="92776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2.2.2 Test Design and Test Implementation with Generative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  <a:p>
            <a:r>
              <a:rPr lang="en-US" sz="1400" dirty="0">
                <a:solidFill>
                  <a:srgbClr val="FF0000"/>
                </a:solidFill>
              </a:rPr>
              <a:t>Test Case Generation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Gen AI uses natural language processing to interpret requirements and suggests: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Preconditions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Inputs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Expected results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Coverage criteria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r>
              <a:rPr lang="en-US" sz="1400" dirty="0">
                <a:solidFill>
                  <a:srgbClr val="FF0000"/>
                </a:solidFill>
              </a:rPr>
              <a:t>For example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If we have the requirement which says: “System must allow password reset via email.”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Generative AI generates draft test cases for above requirement: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Send reset password link if valid email ID provided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Display error message if invalid email provided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Reset password link should expire after 30 minutes</a:t>
            </a:r>
          </a:p>
        </p:txBody>
      </p:sp>
    </p:spTree>
    <p:extLst>
      <p:ext uri="{BB962C8B-B14F-4D97-AF65-F5344CB8AC3E}">
        <p14:creationId xmlns:p14="http://schemas.microsoft.com/office/powerpoint/2010/main" val="3384837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ADBE-C748-3F36-1E3E-042E9916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7C22C1-BBEE-34ED-9ABF-5F2EB85A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5F4E41-8C1A-1EE4-6406-F876476E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680FF-4569-5FC4-3F59-2D4824B62A1D}"/>
              </a:ext>
            </a:extLst>
          </p:cNvPr>
          <p:cNvSpPr txBox="1"/>
          <p:nvPr/>
        </p:nvSpPr>
        <p:spPr>
          <a:xfrm>
            <a:off x="646772" y="1219260"/>
            <a:ext cx="92776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2.2.2 Test Design and Test Implementation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Test Data Synthesis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Creates synthetic test data resembling production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preserves data privacy.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cover extreme situations &amp; varied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For an e-commerce app, Generative AI can generate test data for:</a:t>
            </a:r>
          </a:p>
          <a:p>
            <a:pPr lvl="1"/>
            <a:r>
              <a:rPr lang="en-US" sz="1400" dirty="0"/>
              <a:t>Test credit card numbers</a:t>
            </a:r>
          </a:p>
          <a:p>
            <a:pPr lvl="1"/>
            <a:r>
              <a:rPr lang="en-US" sz="1400" dirty="0"/>
              <a:t>Customer names and address</a:t>
            </a:r>
          </a:p>
          <a:p>
            <a:pPr lvl="1"/>
            <a:r>
              <a:rPr lang="en-US" sz="1400" dirty="0"/>
              <a:t>Edge cases (e.g., max transaction amount)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56456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C4978-44FA-3CED-C003-59C5DEF3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69DB4-B384-2DDB-C688-3C932E8A0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07314A-2E01-AF06-3872-7D423E8D4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A6F88-1ECF-6998-ECF8-156FF0C55690}"/>
              </a:ext>
            </a:extLst>
          </p:cNvPr>
          <p:cNvSpPr txBox="1"/>
          <p:nvPr/>
        </p:nvSpPr>
        <p:spPr>
          <a:xfrm>
            <a:off x="631007" y="1187729"/>
            <a:ext cx="927762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2.2.2 Test Design and Test Implementation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Automated Test Script Generation</a:t>
            </a:r>
          </a:p>
          <a:p>
            <a:endParaRPr lang="en-US" sz="1400" b="1" dirty="0"/>
          </a:p>
          <a:p>
            <a:r>
              <a:rPr lang="en-US" sz="1400" dirty="0"/>
              <a:t>Gen AI translates structured test cases into: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Manual test procedures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Automated scripts (compatible with frameworks like Selenium, Playwright, Cypress etc.)</a:t>
            </a:r>
          </a:p>
          <a:p>
            <a:pPr lvl="1"/>
            <a:endParaRPr lang="en-US" sz="1400" dirty="0"/>
          </a:p>
          <a:p>
            <a:r>
              <a:rPr lang="en-US" sz="1400" dirty="0"/>
              <a:t>It can update/extend scripts as requirements evolve.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r>
              <a:rPr lang="en-US" sz="1400" dirty="0"/>
              <a:t>If we provide a test case for valid user login and user lands on dashboard, then GenAI can generate Selenium script for the same.</a:t>
            </a:r>
          </a:p>
          <a:p>
            <a:endParaRPr lang="en-US" sz="1400" dirty="0"/>
          </a:p>
          <a:p>
            <a:r>
              <a:rPr lang="en-US" sz="1400" dirty="0"/>
              <a:t>Gen AI saves testers time by automating repetitive coding tasks.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256489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84AF-C614-4616-4819-3361E19C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08057-75A1-0E4A-8C48-4588C072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93A480-DE6A-36A0-02D6-347F0B2A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6F930-1558-FD86-001A-B42D1B3E43B4}"/>
              </a:ext>
            </a:extLst>
          </p:cNvPr>
          <p:cNvSpPr txBox="1"/>
          <p:nvPr/>
        </p:nvSpPr>
        <p:spPr>
          <a:xfrm>
            <a:off x="765014" y="1211374"/>
            <a:ext cx="927762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2.2.2 Test Design and Test Implementation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Test Execution Scheduling &amp; Prioritization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400" dirty="0"/>
              <a:t>Gen AI can analyze test case &amp; its interdependencies.</a:t>
            </a:r>
          </a:p>
          <a:p>
            <a:endParaRPr lang="en-US" sz="1400" dirty="0"/>
          </a:p>
          <a:p>
            <a:r>
              <a:rPr lang="en-US" sz="1400" dirty="0"/>
              <a:t>It can optimize execution schedule based on:</a:t>
            </a:r>
          </a:p>
          <a:p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Priority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Risk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Resource availability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Test objectives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Payment processing (High-risk): will be scheduled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Profile updates (Medium-risk): will be scheduled after high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UI color scheme (Low-risk): will be scheduled after high and medium priority.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31724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E780-95CD-2210-24F6-70DDA39C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54AA22-BA95-F5BE-F589-C0F7D3CE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378CFE-6D66-BBB9-3092-4142BB0F1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4DA9E-BA99-F10C-C152-49E6D8721065}"/>
              </a:ext>
            </a:extLst>
          </p:cNvPr>
          <p:cNvSpPr txBox="1"/>
          <p:nvPr/>
        </p:nvSpPr>
        <p:spPr>
          <a:xfrm>
            <a:off x="662538" y="1400561"/>
            <a:ext cx="92776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GenAI-2.2.3 (K3) Apply generative AI to automated regression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HO-2.2.3a (H2) Practice few-shot prompting to create and manage keyword-driven test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HO-2.2.3b (H2) Practice structured prompt engineering for test report analysis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56579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0736-4AD5-0431-335E-EA7FDBF3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AC0D61-D30E-B0E6-3AAD-74BF5F37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30E59A-C029-AF1F-EE36-DC59A7D35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7EAA4-C9F0-9F2B-6C5B-5E7C3DC607FB}"/>
              </a:ext>
            </a:extLst>
          </p:cNvPr>
          <p:cNvSpPr txBox="1"/>
          <p:nvPr/>
        </p:nvSpPr>
        <p:spPr>
          <a:xfrm>
            <a:off x="662538" y="1400561"/>
            <a:ext cx="92776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Automated Regression Testing with Generative AI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With each new iteration or release, regression test cases increase in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regression tests are ideal candidates for automation in CI/CD pipelines due to high frequency of execution.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Role of Generative AI in Automated Regression Testing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assists in creation, maintenance, and optimization of regression suites.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performs impact analysis to focus testing where most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dynamically adapt to codebase changes.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954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DE04-4D6E-65B1-3501-578A2AB8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8BCE19-C104-37BD-2E40-4133E5D9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0D9403-7FD5-698D-2F89-7AF838946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1C539-A7FE-EA9D-F460-1A4DA7031BED}"/>
              </a:ext>
            </a:extLst>
          </p:cNvPr>
          <p:cNvSpPr txBox="1"/>
          <p:nvPr/>
        </p:nvSpPr>
        <p:spPr>
          <a:xfrm>
            <a:off x="662538" y="1400561"/>
            <a:ext cx="92776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Automated Test Script Implementation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LLMs can be used to implement test scripts based on keyword-driven test automation frameworks, where predefined keywords represent common test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map predefined keywords to test cases and generates test scripts automatically.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r>
              <a:rPr lang="en-US" sz="1400" dirty="0"/>
              <a:t>(If we have the keyword: Login the GenAI generates 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Open login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Enter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Verify dashboard 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And can also generate automation code.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5993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AF4D-CBC9-B2C5-532B-D1DEF6DB3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F7937A-9CA2-A303-F585-11FA187C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F316E-D606-879B-7D44-E4C02BF1E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D29C5-7C9C-5799-3382-FBE8734BDC1A}"/>
              </a:ext>
            </a:extLst>
          </p:cNvPr>
          <p:cNvSpPr txBox="1"/>
          <p:nvPr/>
        </p:nvSpPr>
        <p:spPr>
          <a:xfrm>
            <a:off x="662538" y="1400561"/>
            <a:ext cx="92776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Impact Analysis &amp; Test Optimization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analyzes code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identify high-risk areas and enables targeted regression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r>
              <a:rPr lang="en-US" sz="1400" dirty="0"/>
              <a:t>If there is a code change in the payment module, then GenAI prioritizes regression tests for checkout, billing, and refunds.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732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3D06-C54F-4501-7483-F029DCF5E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2F2353-C058-E971-47F1-2CFC5C1D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2B1D85-67A6-0935-F9C5-E2D8A3A6F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939600-9E97-9246-6E75-0180E8710AE3}"/>
              </a:ext>
            </a:extLst>
          </p:cNvPr>
          <p:cNvSpPr txBox="1"/>
          <p:nvPr/>
        </p:nvSpPr>
        <p:spPr>
          <a:xfrm>
            <a:off x="662538" y="1400561"/>
            <a:ext cx="92776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IN" sz="1400" b="1" dirty="0">
                <a:solidFill>
                  <a:srgbClr val="FF0000"/>
                </a:solidFill>
              </a:rPr>
              <a:t>Self-Healing &amp; Adaptive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Gen AI adjusts scripts for minor UI/API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It prevents failures from small modifications.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It keeps test suites stable over time.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If UI locator changes from </a:t>
            </a:r>
            <a:r>
              <a:rPr lang="en-IN" sz="1400" b="1" dirty="0"/>
              <a:t>#loginBtn</a:t>
            </a:r>
            <a:r>
              <a:rPr lang="en-IN" sz="1400" dirty="0"/>
              <a:t> to </a:t>
            </a:r>
            <a:r>
              <a:rPr lang="en-IN" sz="1400" b="1" dirty="0"/>
              <a:t>#signinBtn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GenAI auto-updates script to avoid script failures.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762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BF62-E039-6A9A-5F18-91180E0D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D6FF4-A49D-BECF-7576-67F65A1A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FE958D-F0BD-7028-0779-798A8F97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B341A-7471-7096-92B8-7BBF1282F986}"/>
              </a:ext>
            </a:extLst>
          </p:cNvPr>
          <p:cNvSpPr txBox="1"/>
          <p:nvPr/>
        </p:nvSpPr>
        <p:spPr>
          <a:xfrm>
            <a:off x="662538" y="1400561"/>
            <a:ext cx="92776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Automated Test Reporting &amp; Insights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Generative AI generates detailed and timely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include success metrics, failures,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provide dashboards with trends &amp; predictive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r>
              <a:rPr lang="en-US" sz="1400" dirty="0"/>
              <a:t>Report shows login tests failing frequently and GenAI provides predictive insight for the failure (possible authentication issue).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136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A360-CE1B-FF13-D161-9D83C902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70F6C0-CD52-00D4-5DC4-CCB8CD20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482504-CC24-54A0-C32C-7C03DF52C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FDA6E-DEA0-E43A-5E3F-E8E62875D05A}"/>
              </a:ext>
            </a:extLst>
          </p:cNvPr>
          <p:cNvSpPr txBox="1"/>
          <p:nvPr/>
        </p:nvSpPr>
        <p:spPr>
          <a:xfrm>
            <a:off x="662538" y="1400561"/>
            <a:ext cx="92776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IN" sz="1400" dirty="0"/>
              <a:t>Enhanced Defect Reporting &amp; Root Cause Analysis</a:t>
            </a:r>
          </a:p>
          <a:p>
            <a:endParaRPr lang="en-IN" sz="1400" b="1" dirty="0"/>
          </a:p>
          <a:p>
            <a:r>
              <a:rPr lang="en-IN" sz="1400" dirty="0"/>
              <a:t>Gen AI can compile comprehensive defect reports with:</a:t>
            </a:r>
          </a:p>
          <a:p>
            <a:endParaRPr lang="en-I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Test logs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Screenshots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Environment data</a:t>
            </a:r>
          </a:p>
          <a:p>
            <a:pPr lvl="1"/>
            <a:endParaRPr lang="en-IN" sz="1400" dirty="0"/>
          </a:p>
          <a:p>
            <a:r>
              <a:rPr lang="en-IN" sz="1400" dirty="0"/>
              <a:t>And also supports root cause analysis.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Failed checkout test (GenAI report includes API logs and screenshot of error page).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Gen AI provides comprehensive defect evidence for faster resolution.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416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19BD-BE39-CC12-7AC4-2F1774BD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933049-A917-EEFC-27A8-E5D7A2C8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556145-6959-E2BD-75BF-0E17EE3AD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A6D070-B111-EA18-46DE-07A8FFF5C33A}"/>
              </a:ext>
            </a:extLst>
          </p:cNvPr>
          <p:cNvSpPr txBox="1"/>
          <p:nvPr/>
        </p:nvSpPr>
        <p:spPr>
          <a:xfrm>
            <a:off x="662538" y="1400561"/>
            <a:ext cx="927762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2.2.3 Automated Regression Testing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IN" sz="1400" b="1" dirty="0">
                <a:solidFill>
                  <a:srgbClr val="FF0000"/>
                </a:solidFill>
              </a:rPr>
              <a:t>GUI &amp; API Regression Testing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GenAI can assist end-to-end GUI and API-based automated regression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GUI tests are unstable because of frequent UI changes. GenAI adapts scripts for dynamic locators &amp; modified interactions.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FF0000"/>
              </a:solidFill>
            </a:endParaRPr>
          </a:p>
          <a:p>
            <a:r>
              <a:rPr lang="en-IN" sz="1400" b="1" dirty="0">
                <a:solidFill>
                  <a:srgbClr val="FF0000"/>
                </a:solidFill>
              </a:rPr>
              <a:t>API Challenges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Changing request/response formats, endpoints,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GenAI adapts scripts &amp; generates diverse test data.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Examples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GUI:</a:t>
            </a:r>
            <a:r>
              <a:rPr lang="en-IN" sz="1400" dirty="0"/>
              <a:t> GenAI updates locator if button is renamed.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API:</a:t>
            </a:r>
            <a:r>
              <a:rPr lang="en-IN" sz="1400" dirty="0"/>
              <a:t> For new endpoint added, GenAI generates updated test cases.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632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0C81-1453-12B4-8811-5BACFA1A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49A31D-790F-1E10-A602-E89C6377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D48D0-8496-7D3E-FC00-0874A2A22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55535-ACC2-905D-F1B7-5D71FCC37DAD}"/>
              </a:ext>
            </a:extLst>
          </p:cNvPr>
          <p:cNvSpPr txBox="1"/>
          <p:nvPr/>
        </p:nvSpPr>
        <p:spPr>
          <a:xfrm>
            <a:off x="662538" y="1400561"/>
            <a:ext cx="92776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2.2.4 Test Monitoring and Test Control with Generative AI</a:t>
            </a:r>
            <a:br>
              <a:rPr lang="en-US" sz="1400" b="1" dirty="0"/>
            </a:b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GenAI-2.2.4 (K3)</a:t>
            </a:r>
            <a:r>
              <a:rPr lang="en-US" sz="1400" dirty="0"/>
              <a:t> Apply generative AI to test control and monitoring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HO-2.2.4 (H0)</a:t>
            </a:r>
            <a:r>
              <a:rPr lang="en-US" sz="1400" dirty="0"/>
              <a:t> Observe test monitoring metrics prepared by AI from test data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092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28D36-1ED3-4355-3786-6BD7F7A80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295B23-3B86-EB35-62D6-27740535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B5C403-BC0E-D6AB-AF49-102685496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AA47-E6D2-59BF-A36D-7CFAE60A4973}"/>
              </a:ext>
            </a:extLst>
          </p:cNvPr>
          <p:cNvSpPr txBox="1"/>
          <p:nvPr/>
        </p:nvSpPr>
        <p:spPr>
          <a:xfrm>
            <a:off x="623124" y="1593115"/>
            <a:ext cx="92776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2.2.4 Test Monitoring and Test Control with Generative AI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Test Monitoring and Test Control with Generative AI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Test monitoring requires large volumes of data which is often unstructured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data already exists in test management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Manual analysis is time-consuming and error-prone.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retrieves, analyzes, and synthesizes test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can automate monitoring tasks and provides actionable insights for test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150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CE1B-9800-C364-DDC5-395F1E57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1A5637-E4E7-D1D7-36AB-1ECA3C2E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8BE4E8-0AF0-9A35-180F-F13490610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B0768B-9866-1091-576A-7DE89AE34F9C}"/>
              </a:ext>
            </a:extLst>
          </p:cNvPr>
          <p:cNvSpPr txBox="1"/>
          <p:nvPr/>
        </p:nvSpPr>
        <p:spPr>
          <a:xfrm>
            <a:off x="623124" y="1593115"/>
            <a:ext cx="92776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2.2.4 Test Monitoring and Test Control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Test Monitoring and Metrics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automates test monitoring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analyses trends and patterns in test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predicts potential risks before they occur and alerts teams to deviations from the plan.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GenAI detects regression test failures increasing in the login module.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predicts risk of release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Alerts team to investigate authentication changes.</a:t>
            </a:r>
          </a:p>
          <a:p>
            <a:br>
              <a:rPr lang="en-US" sz="1400" b="1" dirty="0"/>
            </a:br>
            <a:endParaRPr lang="en-US" sz="1400" b="1" dirty="0"/>
          </a:p>
          <a:p>
            <a:endParaRPr lang="en-US" sz="1400" b="1" dirty="0"/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8409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6D8C-7654-E70A-FE67-36468331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A93496-58AE-C6F7-AF16-3F008279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AEC558-AD62-FD85-848A-F0AC17B2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07E5F-CF53-2EF4-171D-AC3B8D78534E}"/>
              </a:ext>
            </a:extLst>
          </p:cNvPr>
          <p:cNvSpPr txBox="1"/>
          <p:nvPr/>
        </p:nvSpPr>
        <p:spPr>
          <a:xfrm>
            <a:off x="623124" y="1593115"/>
            <a:ext cx="92776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2.2.4 Test Monitoring and Test Control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Test Control</a:t>
            </a:r>
          </a:p>
          <a:p>
            <a:endParaRPr lang="en-US" sz="1400" b="1" dirty="0"/>
          </a:p>
          <a:p>
            <a:r>
              <a:rPr lang="en-US" sz="1400" dirty="0"/>
              <a:t>Gen AI provides insights for:</a:t>
            </a:r>
          </a:p>
          <a:p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Reprioritizing tests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Adjusting schedules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Reallocating resources</a:t>
            </a:r>
          </a:p>
          <a:p>
            <a:pPr lvl="1"/>
            <a:endParaRPr lang="en-US" sz="1400" dirty="0"/>
          </a:p>
          <a:p>
            <a:r>
              <a:rPr lang="en-US" sz="1400" dirty="0"/>
              <a:t>It ensures testing remains flexible and focused on high-priority areas.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GenAI suggests moving payment tests earlier in the cycle due to recent code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Low-risk UI tests are rescheduled to later phase.</a:t>
            </a:r>
          </a:p>
        </p:txBody>
      </p:sp>
    </p:spTree>
    <p:extLst>
      <p:ext uri="{BB962C8B-B14F-4D97-AF65-F5344CB8AC3E}">
        <p14:creationId xmlns:p14="http://schemas.microsoft.com/office/powerpoint/2010/main" val="1978418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D2EC-8656-BBAA-D44A-89DCCD8D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87F51-CCFF-5AB4-7CCF-7FEF64A6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C8A0A4-2E22-B613-D829-D90B96AFD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EC54D-6155-8ED0-E343-310C76D954AF}"/>
              </a:ext>
            </a:extLst>
          </p:cNvPr>
          <p:cNvSpPr txBox="1"/>
          <p:nvPr/>
        </p:nvSpPr>
        <p:spPr>
          <a:xfrm>
            <a:off x="535445" y="1403929"/>
            <a:ext cx="92776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2.2.4 Test Monitoring and Test Control with Generative AI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Test Completion Insights and Continuous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generates completion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highlights successes and lessons learned.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refines strategies for future test processes.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Report shows login tests consistently pass, but checkout tests fail often.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suggests (Lesson learned: strengthen test coverage in payment workflows).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68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8259-0CCE-DD2C-5CF6-A5F952C3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F9B38-9328-C5EA-CDB7-E639A41A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6B2E73-A335-F8FB-A17E-E61A11A9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C5B7C-98D3-E817-CE97-C23625B20695}"/>
              </a:ext>
            </a:extLst>
          </p:cNvPr>
          <p:cNvSpPr txBox="1"/>
          <p:nvPr/>
        </p:nvSpPr>
        <p:spPr>
          <a:xfrm>
            <a:off x="535445" y="1403929"/>
            <a:ext cx="92776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2.2.4 Test Monitoring and Test Control with Generative AI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Enhanced Test Metrics Visualization and Reporting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can create dynamic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provides natural language summaries for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 AI ensures quick access to relevant metrics and supports fast decision-making.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r>
              <a:rPr lang="en-US" sz="1400" dirty="0"/>
              <a:t>Generative AI created dashboard which shows:</a:t>
            </a:r>
          </a:p>
          <a:p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Pass rate trend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Defect density trend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Risk alerts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Summary:</a:t>
            </a:r>
            <a:r>
              <a:rPr lang="en-US" sz="1400" dirty="0"/>
              <a:t> “Checkout module has highest defect rate, prioritize regression tests here.”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2304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19D1-09DF-57EC-89DA-C9D69442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CB1BCF-0E73-A7BA-98E0-FAE02D82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790818-1CA0-7B99-9B61-FD9067BE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771C1-B77F-3256-D874-779310EBF6FE}"/>
              </a:ext>
            </a:extLst>
          </p:cNvPr>
          <p:cNvSpPr txBox="1"/>
          <p:nvPr/>
        </p:nvSpPr>
        <p:spPr>
          <a:xfrm>
            <a:off x="535445" y="1403929"/>
            <a:ext cx="92776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2.2.5 Choosing Prompting Techniques for Software Testing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GenAI-2.2.5 (K3)</a:t>
            </a:r>
            <a:r>
              <a:rPr lang="en-US" sz="1400" dirty="0"/>
              <a:t> Select and apply appropriate prompting techniques for a given context and test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HO-2.2.5 (H1)</a:t>
            </a:r>
            <a:r>
              <a:rPr lang="en-US" sz="1400" dirty="0"/>
              <a:t> Select and apply context-appropriate prompting techniques for a given test task.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0124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F681-1105-EA27-8769-73F1C7C7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E43B44-937D-8739-D6A2-99F7E1F7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6B3D1A-C866-6500-8FEB-D01992EC4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9D73E-C554-1135-F994-6D64D41C4A5B}"/>
              </a:ext>
            </a:extLst>
          </p:cNvPr>
          <p:cNvSpPr txBox="1"/>
          <p:nvPr/>
        </p:nvSpPr>
        <p:spPr>
          <a:xfrm>
            <a:off x="535445" y="1403929"/>
            <a:ext cx="92776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2.2.5 Choosing Prompting Techniques for Software Testing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Prompt Chaining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Prompt Chaining is used for complex tasks which require precision with human verification at each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Prompt chaining b</a:t>
            </a:r>
            <a:r>
              <a:rPr lang="en-US" sz="1400" dirty="0"/>
              <a:t>reaks tasks into smaller, sequential prompts where the output of one becomes the input for the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Is useful for test analysis, test design, and test automation, where each test step is checked for accuracy and refined.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Example (Test Case Refinement)</a:t>
            </a:r>
          </a:p>
          <a:p>
            <a:endParaRPr lang="en-US" sz="1400" b="1" dirty="0"/>
          </a:p>
          <a:p>
            <a:r>
              <a:rPr lang="en-US" sz="1400" dirty="0"/>
              <a:t>a. </a:t>
            </a:r>
            <a:r>
              <a:rPr lang="en-US" sz="1400" b="1" dirty="0"/>
              <a:t>Prompt 1:</a:t>
            </a:r>
            <a:r>
              <a:rPr lang="en-US" sz="1400" dirty="0"/>
              <a:t> Generate initial test cases for a login feature.</a:t>
            </a:r>
            <a:br>
              <a:rPr lang="en-US" sz="1400" dirty="0"/>
            </a:br>
            <a:r>
              <a:rPr lang="en-US" sz="1400" dirty="0"/>
              <a:t>b. </a:t>
            </a:r>
            <a:r>
              <a:rPr lang="en-US" sz="1400" b="1" dirty="0"/>
              <a:t>Prompt 2:</a:t>
            </a:r>
            <a:r>
              <a:rPr lang="en-US" sz="1400" dirty="0"/>
              <a:t> Review the generated test cases for boundary conditions.</a:t>
            </a:r>
            <a:br>
              <a:rPr lang="en-US" sz="1400" dirty="0"/>
            </a:br>
            <a:r>
              <a:rPr lang="en-US" sz="1400" dirty="0"/>
              <a:t>c. </a:t>
            </a:r>
            <a:r>
              <a:rPr lang="en-US" sz="1400" b="1" dirty="0"/>
              <a:t>Prompt 3:</a:t>
            </a:r>
            <a:r>
              <a:rPr lang="en-US" sz="1400" dirty="0"/>
              <a:t> Refine the test cases based on the boundary condition analysis.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9508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C0E1-8A2B-12EC-8AC1-565D41CC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BA2C1C-05AC-1AA8-A2A1-4ABCC489F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E1A64E-C616-57CE-15A1-2B28346E2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1E4B9-41C8-EB4B-EE5A-5D023DEA9DCC}"/>
              </a:ext>
            </a:extLst>
          </p:cNvPr>
          <p:cNvSpPr txBox="1"/>
          <p:nvPr/>
        </p:nvSpPr>
        <p:spPr>
          <a:xfrm>
            <a:off x="535445" y="1403929"/>
            <a:ext cx="92776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2.2.5 Choosing Prompting Techniques for Software Testing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Few-Shot Prompting</a:t>
            </a:r>
          </a:p>
          <a:p>
            <a:endParaRPr lang="en-US" sz="1400" b="1" dirty="0"/>
          </a:p>
          <a:p>
            <a:r>
              <a:rPr lang="en-US" sz="1400" dirty="0"/>
              <a:t>Few-Shot prompting is used for repetitive or specific/constrained output format tasks.</a:t>
            </a:r>
          </a:p>
          <a:p>
            <a:endParaRPr lang="en-US" sz="1400" dirty="0"/>
          </a:p>
          <a:p>
            <a:r>
              <a:rPr lang="en-US" sz="1400" dirty="0"/>
              <a:t>Few shot prompting typically uses </a:t>
            </a:r>
            <a:r>
              <a:rPr lang="en-US" sz="1400" b="1" dirty="0"/>
              <a:t>2–5 examples</a:t>
            </a:r>
            <a:r>
              <a:rPr lang="en-US" sz="1400" dirty="0"/>
              <a:t> to provide sufficient context without overfitting or exceeding token limits.</a:t>
            </a:r>
          </a:p>
          <a:p>
            <a:endParaRPr lang="en-US" sz="1400" dirty="0"/>
          </a:p>
          <a:p>
            <a:r>
              <a:rPr lang="en-US" sz="1400" dirty="0"/>
              <a:t>Especially useful in </a:t>
            </a:r>
            <a:r>
              <a:rPr lang="en-US" sz="1400" b="1" dirty="0"/>
              <a:t>Gherkin style test cases (e.g., scenario-based), keyword-driven testing, or test reporting with a specific output format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Example (Test Data Generation):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Prompt:</a:t>
            </a:r>
          </a:p>
          <a:p>
            <a:br>
              <a:rPr lang="en-US" sz="1400" dirty="0"/>
            </a:br>
            <a:r>
              <a:rPr lang="en-US" sz="1400" dirty="0"/>
              <a:t>"Generate user details in JSON format.</a:t>
            </a:r>
            <a:br>
              <a:rPr lang="en-US" sz="1400" dirty="0"/>
            </a:br>
            <a:r>
              <a:rPr lang="en-US" sz="1400" dirty="0"/>
              <a:t>Example 1: {"name": "John Doe", "email": "john.doe@example.com"}.</a:t>
            </a:r>
            <a:br>
              <a:rPr lang="en-US" sz="1400" dirty="0"/>
            </a:br>
            <a:r>
              <a:rPr lang="en-US" sz="1400" dirty="0"/>
              <a:t>Example 2: {"name": "Jane Smith", "email": "jane.smith@example.com"}.</a:t>
            </a:r>
            <a:br>
              <a:rPr lang="en-US" sz="1400" dirty="0"/>
            </a:br>
            <a:r>
              <a:rPr lang="en-US" sz="1400" dirty="0"/>
              <a:t>Generate details for a new user: </a:t>
            </a:r>
            <a:r>
              <a:rPr lang="en-US" sz="1400" b="1" dirty="0"/>
              <a:t>Alex Johnson</a:t>
            </a:r>
            <a:r>
              <a:rPr lang="en-US" sz="1400" dirty="0"/>
              <a:t>."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8410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9D5FA-1D32-609D-A6E9-3F1781E4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D1C164-209D-9464-1A01-2241D2EC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2DB3F2-E979-1961-E8F9-EE54A2EF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88067-9CA0-FA0D-7EA0-2745E0BCC03A}"/>
              </a:ext>
            </a:extLst>
          </p:cNvPr>
          <p:cNvSpPr txBox="1"/>
          <p:nvPr/>
        </p:nvSpPr>
        <p:spPr>
          <a:xfrm>
            <a:off x="535445" y="1403929"/>
            <a:ext cx="92776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2.2.5 Choosing Prompting Techniques for Software Testing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Meta Prompting: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Involves a higher-level prompt that guides the LLM to create, improve, or interpret other prompts or its own thinking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general description of the objective and the task guides the LLM in the creation of the final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Useful for all kinds of complex tasks such as test report analysis and anomaly detection.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Example (Test Strategy Generation):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Prompt:</a:t>
            </a:r>
          </a:p>
          <a:p>
            <a:br>
              <a:rPr lang="en-US" sz="1400" dirty="0"/>
            </a:br>
            <a:r>
              <a:rPr lang="en-US" sz="1400" dirty="0"/>
              <a:t>"You are an expert Test Manager. Your task is to generate a comprehensive testing strategy prompt for a junior tester to test a new e-commerce checkout system. The prompt should ask for risk identification, test types to consider, and a suggested testing approach."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04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8BAC9-3459-F59A-A04E-659D15C0B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493BE3-BD59-AA0F-4919-CFC76B3B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ADAD14-DCDA-4C2A-CBFC-BDC6A7A3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2.2 Applying Prompt Engineering Techniques to Software Test Tasks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7FCE4-3DAC-6947-E168-A1AF5388B057}"/>
              </a:ext>
            </a:extLst>
          </p:cNvPr>
          <p:cNvSpPr txBox="1"/>
          <p:nvPr/>
        </p:nvSpPr>
        <p:spPr>
          <a:xfrm>
            <a:off x="535445" y="1403929"/>
            <a:ext cx="92776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2.2.5 Choosing Prompting Techniques for Software Testing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Combining Prompting Techniques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possible to use multiple prompting techniques together for a single complex use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integrated approach leverages the strengths of each method to achieve high-precision, flexible, and accurate outcomes in software testing.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Meta prompting can be used to create an initial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generated prompt may contain examples that must be adapted and can be enhanced (few-shot prompting).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Finally, it can be useful to divide the task into smaller subtasks to enable validation of the intermediate steps (prompt chaining).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298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0231-9B9F-FDE4-DD4E-FB552E18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48355A-F330-E0EE-E668-3A027AA58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56BFE3-F977-D6F8-C44E-1BBCC345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/>
              <a:t>GenAI-2.3.1 (K2)</a:t>
            </a:r>
            <a:r>
              <a:rPr lang="en-US" sz="1400" dirty="0"/>
              <a:t> Understand the metrics for evaluating the results of Generative AI on test tasks.</a:t>
            </a:r>
          </a:p>
          <a:p>
            <a:r>
              <a:rPr lang="en-US" sz="1400" b="1" dirty="0"/>
              <a:t>HO-2.3.1 (H0)</a:t>
            </a:r>
            <a:r>
              <a:rPr lang="en-US" sz="1400" dirty="0"/>
              <a:t> Observe how metrics can be used for evaluating the result of generative AI on a test task.</a:t>
            </a:r>
          </a:p>
          <a:p>
            <a:r>
              <a:rPr lang="en-US" sz="1400" b="1" dirty="0"/>
              <a:t>GenAI-2.3.2 (K2)</a:t>
            </a:r>
            <a:r>
              <a:rPr lang="en-US" sz="1400" dirty="0"/>
              <a:t> Give examples of techniques for evaluating and iteratively refining prompts.</a:t>
            </a:r>
          </a:p>
          <a:p>
            <a:r>
              <a:rPr lang="en-US" sz="1400" b="1" dirty="0"/>
              <a:t>HO-2.3.2 (H1)</a:t>
            </a:r>
            <a:r>
              <a:rPr lang="en-US" sz="1400" dirty="0"/>
              <a:t> Evaluate and optimize a prompt for a given test task.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F6729-D6CF-2ECA-5475-A5E92555AC33}"/>
              </a:ext>
            </a:extLst>
          </p:cNvPr>
          <p:cNvSpPr txBox="1"/>
          <p:nvPr/>
        </p:nvSpPr>
        <p:spPr>
          <a:xfrm>
            <a:off x="-5179556" y="1427577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532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78D9-BC39-7EEA-9B58-D9F30FBD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070BB-EF86-F0C4-F0F0-8514FCBD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5EFAB4-4BAB-1A26-5E8F-34C803E5A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dirty="0"/>
              <a:t>Evaluating the performance of GenAI in software testing requires a clear set of metrics to assess the quality, relevance, and effectiveness of the generated outputs.</a:t>
            </a:r>
          </a:p>
          <a:p>
            <a:r>
              <a:rPr lang="en-US" sz="1400" dirty="0"/>
              <a:t>These metrics, whether general or task-specific, help optimize LLM prompting.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F004F-D421-6AEB-D0AC-74E9569D777E}"/>
              </a:ext>
            </a:extLst>
          </p:cNvPr>
          <p:cNvSpPr txBox="1"/>
          <p:nvPr/>
        </p:nvSpPr>
        <p:spPr>
          <a:xfrm>
            <a:off x="-5179556" y="1427577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9840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6649D-F01E-E2A5-714C-183F11ED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FA95A3-7079-5817-742D-2BE7DC0D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C6E35A-54E1-1191-4370-A54734A54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dirty="0"/>
              <a:t>Several metrics can be used to evaluate the quality and efficiency of GenAI results on a test task, few of those metrics are:</a:t>
            </a:r>
          </a:p>
          <a:p>
            <a:r>
              <a:rPr lang="en-US" sz="1400" dirty="0"/>
              <a:t>Accuracy</a:t>
            </a:r>
          </a:p>
          <a:p>
            <a:r>
              <a:rPr lang="en-US" sz="1400" dirty="0"/>
              <a:t>Precision</a:t>
            </a:r>
          </a:p>
          <a:p>
            <a:r>
              <a:rPr lang="en-US" sz="1400" dirty="0"/>
              <a:t>Recall</a:t>
            </a:r>
          </a:p>
          <a:p>
            <a:r>
              <a:rPr lang="en-US" sz="1400" dirty="0"/>
              <a:t>Relevance and Contextual Fit</a:t>
            </a:r>
          </a:p>
          <a:p>
            <a:r>
              <a:rPr lang="en-US" sz="1400" dirty="0"/>
              <a:t>Diversity</a:t>
            </a:r>
          </a:p>
          <a:p>
            <a:r>
              <a:rPr lang="en-US" sz="1400" dirty="0"/>
              <a:t>Execution Success Rate</a:t>
            </a:r>
          </a:p>
          <a:p>
            <a:r>
              <a:rPr lang="en-US" sz="1400" dirty="0"/>
              <a:t>Time Efficiency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F2EE0-0DA0-FCCB-F46E-199AE8E17561}"/>
              </a:ext>
            </a:extLst>
          </p:cNvPr>
          <p:cNvSpPr txBox="1"/>
          <p:nvPr/>
        </p:nvSpPr>
        <p:spPr>
          <a:xfrm>
            <a:off x="399499" y="2491750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2256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5A12-7D22-8D18-CB72-08CA52C5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42F7B-E354-B6E8-A91D-01AE2634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7B38C4-98C1-9175-4F87-B6B5A6F57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Accuracy</a:t>
            </a:r>
          </a:p>
          <a:p>
            <a:r>
              <a:rPr lang="en-US" sz="1400" dirty="0"/>
              <a:t>Accuracy measures the overall correctness of the generated output against expert-written test cases, requirements, or other established standards.</a:t>
            </a:r>
          </a:p>
          <a:p>
            <a:r>
              <a:rPr lang="en-US" sz="1400" dirty="0"/>
              <a:t>For example, in test case generation the GenAI model is asked to create test cases for the calculator app.</a:t>
            </a:r>
          </a:p>
          <a:p>
            <a:pPr lvl="1"/>
            <a:r>
              <a:rPr lang="en-US" sz="1400" b="1" dirty="0"/>
              <a:t>High Accuracy:</a:t>
            </a:r>
            <a:r>
              <a:rPr lang="en-US" sz="1400" dirty="0"/>
              <a:t> The generated test cases correctly identify the expected output for basic addition, subtraction, multiplication, and division operations.</a:t>
            </a:r>
          </a:p>
          <a:p>
            <a:pPr lvl="1"/>
            <a:r>
              <a:rPr lang="en-US" sz="1400" b="1" dirty="0"/>
              <a:t>Low Accuracy:</a:t>
            </a:r>
            <a:r>
              <a:rPr lang="en-US" sz="1400" dirty="0"/>
              <a:t> The test cases suggest dividing by zero as a valid operation, which is incorrect as per requirements.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91BF8-00B4-F53B-A840-D996CBAC7D16}"/>
              </a:ext>
            </a:extLst>
          </p:cNvPr>
          <p:cNvSpPr txBox="1"/>
          <p:nvPr/>
        </p:nvSpPr>
        <p:spPr>
          <a:xfrm>
            <a:off x="399499" y="2491750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5768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CA4C-3C1F-A591-E616-FBC134A8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B82A62-911E-2528-026F-ABD91F151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1DEB81-AAA7-9B52-6EC8-BDE809FD8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Precision</a:t>
            </a:r>
          </a:p>
          <a:p>
            <a:r>
              <a:rPr lang="en-US" sz="1400" dirty="0"/>
              <a:t>Precision evaluates the correctness of the generated output with respect to a specific objective, focusing on the proportion of positive identifications that were actually correct.</a:t>
            </a:r>
          </a:p>
          <a:p>
            <a:r>
              <a:rPr lang="en-US" sz="1400" dirty="0"/>
              <a:t>For example, in defect prediction the GenAI model predicts which code modules are likely to contain defects.</a:t>
            </a:r>
          </a:p>
          <a:p>
            <a:pPr lvl="1"/>
            <a:r>
              <a:rPr lang="en-US" sz="1400" b="1" dirty="0"/>
              <a:t>High Precision:</a:t>
            </a:r>
            <a:r>
              <a:rPr lang="en-US" sz="1400" dirty="0"/>
              <a:t> When the model says a module has defects, it is almost always correct (few false positives). This is good for saving tester time by directing them to reliable predictions.</a:t>
            </a:r>
          </a:p>
          <a:p>
            <a:pPr lvl="1"/>
            <a:r>
              <a:rPr lang="en-US" sz="1400" b="1" dirty="0"/>
              <a:t>Low Precision:</a:t>
            </a:r>
            <a:r>
              <a:rPr lang="en-US" sz="1400" dirty="0"/>
              <a:t> The model flags defects in many modules, but the tester finds a lot of modules are actually fine (many false positives), which wastes time.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B2F3F-22D4-59A9-8CCC-D920B814BA03}"/>
              </a:ext>
            </a:extLst>
          </p:cNvPr>
          <p:cNvSpPr txBox="1"/>
          <p:nvPr/>
        </p:nvSpPr>
        <p:spPr>
          <a:xfrm>
            <a:off x="399499" y="2491750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9568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DB0C-D123-5BAD-0F7C-D5B4C82A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AC6968-83F3-D2C0-8F3E-D63271D4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EDFACF-12D5-744C-4BF9-FF06F99CA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Recall</a:t>
            </a:r>
          </a:p>
          <a:p>
            <a:r>
              <a:rPr lang="en-US" sz="1400" dirty="0"/>
              <a:t>Recall measures how diverse and comprehensive the generated samples are compared to the true dataset.</a:t>
            </a:r>
          </a:p>
          <a:p>
            <a:r>
              <a:rPr lang="en-US" sz="1400" dirty="0"/>
              <a:t>For example, in </a:t>
            </a:r>
            <a:r>
              <a:rPr lang="en-US" sz="1400" b="1" dirty="0"/>
              <a:t>Test Scenario Identification</a:t>
            </a:r>
            <a:r>
              <a:rPr lang="en-US" sz="1400" dirty="0"/>
              <a:t> the GenAI model reviews requirements and lists all necessary test scenarios.</a:t>
            </a:r>
          </a:p>
          <a:p>
            <a:pPr lvl="1"/>
            <a:r>
              <a:rPr lang="en-US" sz="1400" b="1" dirty="0"/>
              <a:t>High Recall:</a:t>
            </a:r>
            <a:r>
              <a:rPr lang="en-US" sz="1400" dirty="0"/>
              <a:t> The list includes scenarios for positive testing, negative testing, boundary conditions, and performance testing.</a:t>
            </a:r>
          </a:p>
          <a:p>
            <a:pPr lvl="1"/>
            <a:r>
              <a:rPr lang="en-US" sz="1400" b="1" dirty="0"/>
              <a:t>Low Recall:</a:t>
            </a:r>
            <a:r>
              <a:rPr lang="en-US" sz="1400" dirty="0"/>
              <a:t> The list only includes basic happy-path (positive) scenarios and misses all the negative test conditions.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1A842-6407-8440-E277-05DA608E9E3E}"/>
              </a:ext>
            </a:extLst>
          </p:cNvPr>
          <p:cNvSpPr txBox="1"/>
          <p:nvPr/>
        </p:nvSpPr>
        <p:spPr>
          <a:xfrm>
            <a:off x="399499" y="2491750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1851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9027-BAD2-C94E-EAB4-D8594B60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C2B70D-8122-D03E-69F2-1FEAE5F2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E31202-1464-99E6-74FA-DFEA4785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r>
              <a:rPr lang="en-US" b="1" dirty="0"/>
              <a:t>Relevance and Contextual Fit</a:t>
            </a:r>
          </a:p>
          <a:p>
            <a:r>
              <a:rPr lang="en-US" dirty="0"/>
              <a:t>Relevance and Contextual Fit determines whether the generated output is applicable and appropriate for a given context and task. This is crucial in GenAI for avoiding </a:t>
            </a:r>
            <a:r>
              <a:rPr lang="en-US" b="1" dirty="0"/>
              <a:t>"hallucinations"</a:t>
            </a:r>
            <a:r>
              <a:rPr lang="en-US" dirty="0"/>
              <a:t>.</a:t>
            </a:r>
          </a:p>
          <a:p>
            <a:r>
              <a:rPr lang="en-US" dirty="0"/>
              <a:t>For example in </a:t>
            </a:r>
            <a:r>
              <a:rPr lang="en-US" b="1" dirty="0"/>
              <a:t>Test Reporting</a:t>
            </a:r>
            <a:r>
              <a:rPr lang="en-US" dirty="0"/>
              <a:t>, a GenAI model summarizes daily test execution results.</a:t>
            </a:r>
          </a:p>
          <a:p>
            <a:pPr lvl="1"/>
            <a:r>
              <a:rPr lang="en-US" b="1" dirty="0"/>
              <a:t>High Relevance:</a:t>
            </a:r>
            <a:r>
              <a:rPr lang="en-US" dirty="0"/>
              <a:t> The summary focuses on open defects, pass/fail rates, and critical blockers for the current sprint.</a:t>
            </a:r>
          </a:p>
          <a:p>
            <a:pPr lvl="1"/>
            <a:r>
              <a:rPr lang="en-US" b="1" dirty="0"/>
              <a:t>Low Relevance:</a:t>
            </a:r>
            <a:r>
              <a:rPr lang="en-US" dirty="0"/>
              <a:t> The summary discusses defects found in a legacy product that has no connection to the current project.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8C055-5000-1AAD-9128-4A89648C5C0B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1401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497E-0831-4ECE-7785-1A16488BB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D1C30F-02DD-D05D-E704-0984991C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C929D5-AA36-DE01-5466-FFED81B24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Diversity of Generative AI Output</a:t>
            </a:r>
          </a:p>
          <a:p>
            <a:r>
              <a:rPr lang="en-US" sz="1400" dirty="0"/>
              <a:t>Diversity of Generative AI output ensures a wide range of inputs and scenarios are covered, avoiding repetition. A lack of diversity can lead to model bias.</a:t>
            </a:r>
          </a:p>
          <a:p>
            <a:r>
              <a:rPr lang="en-US" sz="1400" dirty="0"/>
              <a:t>For example, in </a:t>
            </a:r>
            <a:r>
              <a:rPr lang="en-US" sz="1400" b="1" dirty="0"/>
              <a:t>User Persona Generation</a:t>
            </a:r>
            <a:r>
              <a:rPr lang="en-US" sz="1400" dirty="0"/>
              <a:t> a GenAI model creates a set of user personas for usability testing.</a:t>
            </a:r>
          </a:p>
          <a:p>
            <a:pPr lvl="1"/>
            <a:r>
              <a:rPr lang="en-US" sz="1400" b="1" dirty="0"/>
              <a:t>High Diversity:</a:t>
            </a:r>
            <a:r>
              <a:rPr lang="en-US" sz="1400" dirty="0"/>
              <a:t> The personas cover different ages, technical abilities, languages, and accessibility needs.</a:t>
            </a:r>
          </a:p>
          <a:p>
            <a:pPr lvl="1"/>
            <a:r>
              <a:rPr lang="en-US" sz="1400" b="1" dirty="0"/>
              <a:t>Low Diversity:</a:t>
            </a:r>
            <a:r>
              <a:rPr lang="en-US" sz="1400" dirty="0"/>
              <a:t> All personas describe the same type of power user with perfect vision and technical expertise.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DBFAA-F76A-F4E5-41F8-48E00E5C5CB9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003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A772-0313-7E1A-D79E-C9BD1F33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F3E41C-887F-6375-B6DF-BBE3CFE9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B03EA7-EE14-8FA0-5AFA-487FB606D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Execution Success Rate (ESR)</a:t>
            </a:r>
          </a:p>
          <a:p>
            <a:r>
              <a:rPr lang="en-US" sz="1400" dirty="0"/>
              <a:t>Execution Success Rate (ESR) measures the proportion of generated test cases or test scripts that can be executed successfully.</a:t>
            </a:r>
          </a:p>
          <a:p>
            <a:r>
              <a:rPr lang="en-US" sz="1400" dirty="0"/>
              <a:t>ESR is a key measure of the quality and usability of the AI's output from an automation perspective. A high ESR means less time is spent debugging AI-generated code, indicating a reliable testing infrastructure.</a:t>
            </a:r>
          </a:p>
          <a:p>
            <a:r>
              <a:rPr lang="en-US" sz="1400" b="1" dirty="0"/>
              <a:t>ESR = (Number of successfully executed scripts / Total number of generated scripts) × 100%</a:t>
            </a:r>
            <a:endParaRPr lang="en-US" sz="1400" dirty="0"/>
          </a:p>
          <a:p>
            <a:r>
              <a:rPr lang="en-US" sz="1400" dirty="0"/>
              <a:t>If a GenAI model creates </a:t>
            </a:r>
            <a:r>
              <a:rPr lang="en-US" sz="1400" b="1" dirty="0"/>
              <a:t>100 Selenium scripts</a:t>
            </a:r>
            <a:r>
              <a:rPr lang="en-US" sz="1400" dirty="0"/>
              <a:t>, and </a:t>
            </a:r>
            <a:r>
              <a:rPr lang="en-US" sz="1400" b="1" dirty="0"/>
              <a:t>95 run without syntax errors or environmental issues</a:t>
            </a:r>
            <a:r>
              <a:rPr lang="en-US" sz="1400" dirty="0"/>
              <a:t>:</a:t>
            </a:r>
          </a:p>
          <a:p>
            <a:pPr lvl="1"/>
            <a:r>
              <a:rPr lang="en-US" sz="1400" b="1" dirty="0"/>
              <a:t>ESR: 95%</a:t>
            </a:r>
            <a:endParaRPr lang="en-US" sz="1400" dirty="0"/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CC6F5-649A-7D69-9F43-F5AD4F17AB12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1399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8352-6D19-9096-E8E2-0A6D9E1C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FAE8B3-A7F1-2315-AAAF-C58D272B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A361C3-3B26-A05E-79FC-752F5EB4B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Time Efficiency (TE)</a:t>
            </a:r>
          </a:p>
          <a:p>
            <a:r>
              <a:rPr lang="en-US" sz="1400" dirty="0"/>
              <a:t>Time Efficiency (TE) evaluates the time saved compared to manual test efforts. This is a crucial </a:t>
            </a:r>
            <a:r>
              <a:rPr lang="en-US" sz="1400" b="1" dirty="0"/>
              <a:t>Key Performance Indicator (KPI)</a:t>
            </a:r>
            <a:r>
              <a:rPr lang="en-US" sz="1400" dirty="0"/>
              <a:t> for demonstrating a clear </a:t>
            </a:r>
            <a:r>
              <a:rPr lang="en-US" sz="1400" b="1" dirty="0"/>
              <a:t>Return on Investment (ROI)</a:t>
            </a:r>
            <a:r>
              <a:rPr lang="en-US" sz="1400" dirty="0"/>
              <a:t> for AI integration.</a:t>
            </a:r>
          </a:p>
          <a:p>
            <a:r>
              <a:rPr lang="en-US" sz="1400" b="1" dirty="0"/>
              <a:t>Time Efficiency (TE) = (Time without AI – Time with AI / Time without AI) × 100%</a:t>
            </a:r>
            <a:endParaRPr lang="en-US" sz="1400" dirty="0"/>
          </a:p>
          <a:p>
            <a:r>
              <a:rPr lang="en-US" sz="1400" dirty="0"/>
              <a:t>For example, if a tester typically takes </a:t>
            </a:r>
            <a:r>
              <a:rPr lang="en-US" sz="1400" b="1" dirty="0"/>
              <a:t>8 hours</a:t>
            </a:r>
            <a:r>
              <a:rPr lang="en-US" sz="1400" dirty="0"/>
              <a:t> to write a set of regression test cases for a new feature and a GenAI model generates the equivalent test cases in </a:t>
            </a:r>
            <a:r>
              <a:rPr lang="en-US" sz="1400" b="1" dirty="0"/>
              <a:t>2 hours</a:t>
            </a:r>
            <a:r>
              <a:rPr lang="en-US" sz="1400" dirty="0"/>
              <a:t>:</a:t>
            </a:r>
          </a:p>
          <a:p>
            <a:pPr lvl="1"/>
            <a:r>
              <a:rPr lang="en-US" sz="1400" b="1" dirty="0"/>
              <a:t>Time Efficiency (TE) = (8 – 2 / 8) × 100% = 75%</a:t>
            </a:r>
            <a:endParaRPr lang="en-US" sz="1400" dirty="0"/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BFC15-0708-3019-1724-A53499F278AD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1794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FE00-ABFB-FDBE-6C53-FEF9BC3C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C879F-3F71-7F9C-C2B9-36F3D696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6844D-9AEC-62D5-4145-B89C414C3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2.3.1 Metrics for Evaluating the Results of Generative AI on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Task-Specific Metrics &amp; Evaluation</a:t>
            </a:r>
          </a:p>
          <a:p>
            <a:r>
              <a:rPr lang="en-US" sz="1400" dirty="0"/>
              <a:t>In addition to general quality and efficiency metrics, task-specific metrics can be tailored to evaluate how effectively Generative AI supports highly specific test activities.</a:t>
            </a:r>
          </a:p>
          <a:p>
            <a:r>
              <a:rPr lang="en-US" sz="1400" dirty="0"/>
              <a:t>Testers can evaluate these metrics using a combination of manual and automated approaches:</a:t>
            </a:r>
          </a:p>
          <a:p>
            <a:pPr lvl="1"/>
            <a:r>
              <a:rPr lang="en-US" sz="1400" b="1" dirty="0"/>
              <a:t>Manual Reviews:</a:t>
            </a:r>
            <a:r>
              <a:rPr lang="en-US" sz="1400" dirty="0"/>
              <a:t> Human testers assess the AI's output against requirements or predefined criteria (e.g., assessing the creativity of generated edge cases).</a:t>
            </a:r>
          </a:p>
          <a:p>
            <a:pPr lvl="1"/>
            <a:r>
              <a:rPr lang="en-US" sz="1400" b="1" dirty="0"/>
              <a:t>Automated Evaluation:</a:t>
            </a:r>
            <a:r>
              <a:rPr lang="en-US" sz="1400" dirty="0"/>
              <a:t> Comparing the Language Model (LLM) output against a predefined reference or expected output using scripts or tools (e.g., using a diff tool to check generated code syntax).</a:t>
            </a:r>
          </a:p>
          <a:p>
            <a:r>
              <a:rPr lang="en-US" sz="1400" dirty="0"/>
              <a:t>Due to the non-deterministic nature of GenAI (meaning the same prompt can produce slightly different results each time), the metrics must be based on statistically relevant data.</a:t>
            </a:r>
          </a:p>
          <a:p>
            <a:r>
              <a:rPr lang="en-US" sz="1400" dirty="0"/>
              <a:t>This requires running the evaluation multiple times across a sufficient dataset to ensure reliable conclusions about the AI's performance.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1DC43-84CF-509B-9B2E-5AC3098457A0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694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E67AA-4984-222F-3B40-66C2F4BB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02AFB8-F00D-CFE9-76A9-C7607598B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A4C355-3350-D826-805A-4969D0791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r>
              <a:rPr lang="en-US" sz="1400" b="1" dirty="0"/>
              <a:t>GenAI-2.3.2 (K2)</a:t>
            </a:r>
            <a:r>
              <a:rPr lang="en-US" sz="1400" dirty="0"/>
              <a:t> Give examples of techniques for evaluating and iteratively refining prompts.</a:t>
            </a:r>
          </a:p>
          <a:p>
            <a:r>
              <a:rPr lang="en-US" sz="1400" b="1" dirty="0"/>
              <a:t>HO-2.3.2 (H1)</a:t>
            </a:r>
            <a:r>
              <a:rPr lang="en-US" sz="1400" dirty="0"/>
              <a:t> Evaluate and optimize a prompt for a given test task.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E009D-CCA7-C028-5F30-BF00EB2154AC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5299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060A9-37C5-8542-62E6-91A05660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39B700-8AE2-D083-9FD2-497BEDFA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A17DBA-ACCB-A2FD-7B86-5281BE00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Introduction to Prompt Evaluation &amp; Refinement</a:t>
            </a:r>
          </a:p>
          <a:p>
            <a:r>
              <a:rPr lang="en-US" sz="1400" dirty="0"/>
              <a:t>Building on the metrics for accuracy and efficiency, we utilize specific techniques for prompt evaluation and refinement to systematically improve the results generated by AI tools.</a:t>
            </a:r>
          </a:p>
          <a:p>
            <a:r>
              <a:rPr lang="en-US" sz="1400" dirty="0"/>
              <a:t>Goal is to move from basic interactions to precise, reliable GenAI outputs that meet rigorous testing standards.</a:t>
            </a:r>
          </a:p>
          <a:p>
            <a:r>
              <a:rPr lang="en-US" sz="1400" dirty="0"/>
              <a:t>The quality of the output is heavily dependent on the quality of the input prompt.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Techniques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Covered:</a:t>
            </a:r>
          </a:p>
          <a:p>
            <a:r>
              <a:rPr lang="en-US" sz="1400" dirty="0"/>
              <a:t>Iterative Modification</a:t>
            </a:r>
          </a:p>
          <a:p>
            <a:r>
              <a:rPr lang="en-US" sz="1400" dirty="0"/>
              <a:t>A/B Testing</a:t>
            </a:r>
          </a:p>
          <a:p>
            <a:r>
              <a:rPr lang="en-US" sz="1400" dirty="0"/>
              <a:t>Output Analysis</a:t>
            </a:r>
          </a:p>
          <a:p>
            <a:r>
              <a:rPr lang="en-US" sz="1400" dirty="0"/>
              <a:t>User Feedback Integration</a:t>
            </a:r>
          </a:p>
          <a:p>
            <a:r>
              <a:rPr lang="en-US" sz="1400" dirty="0"/>
              <a:t>Prompt Length Adjustment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0D296-7B7D-2352-6177-08D9CBB5822A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6923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DAC8-2F79-B6C6-2C76-0566927A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F2A6A4-C80C-5C65-C316-5C440D6F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AC4352-B2A3-C2F0-7534-F145E0FC3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9" y="804754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Iterative Prompt Modification</a:t>
            </a:r>
          </a:p>
          <a:p>
            <a:r>
              <a:rPr lang="en-US" sz="1400" dirty="0"/>
              <a:t>Start with a base prompt and iteratively modify it based on observed results, gradually adding more context or adjusting wording to improve specificity and relevance.</a:t>
            </a:r>
          </a:p>
          <a:p>
            <a:r>
              <a:rPr lang="en-US" sz="1400" dirty="0"/>
              <a:t>A continuous feedback loop of observation, adjustment, and re-testing.</a:t>
            </a:r>
          </a:p>
          <a:p>
            <a:r>
              <a:rPr lang="en-US" sz="1400" b="1" dirty="0"/>
              <a:t>Example for test data generation:</a:t>
            </a:r>
          </a:p>
          <a:p>
            <a:r>
              <a:rPr lang="en-US" sz="1400" b="1" dirty="0"/>
              <a:t>First prompt:</a:t>
            </a:r>
            <a:br>
              <a:rPr lang="en-US" sz="1400" dirty="0"/>
            </a:br>
            <a:r>
              <a:rPr lang="en-US" sz="1400" dirty="0"/>
              <a:t>"Generate test data for a user signup form."</a:t>
            </a:r>
          </a:p>
          <a:p>
            <a:r>
              <a:rPr lang="en-US" sz="1400" b="1" dirty="0"/>
              <a:t>Second prompt with adding Context:</a:t>
            </a:r>
            <a:br>
              <a:rPr lang="en-US" sz="1400" dirty="0"/>
            </a:br>
            <a:r>
              <a:rPr lang="en-US" sz="1400" dirty="0"/>
              <a:t>"Generate test data for a user signup form that complies with GDPR regulations."</a:t>
            </a:r>
          </a:p>
          <a:p>
            <a:r>
              <a:rPr lang="en-US" sz="1400" b="1" dirty="0"/>
              <a:t>Third prompt with adjusting terminology:</a:t>
            </a:r>
            <a:br>
              <a:rPr lang="en-US" sz="1400" dirty="0"/>
            </a:br>
            <a:r>
              <a:rPr lang="en-US" sz="1400" dirty="0"/>
              <a:t>"Generate data using the 'Equivalence Partitioning' technique for a user signup form compliant with GDPR."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FCD42-D9FC-5722-F8D9-261D84CB3F34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8347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EF90-8E33-03C0-E013-46C1EF69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81DB4F-257A-BBE3-E72E-5BD5469F2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5289B7-41E5-491B-7A99-256B1FB05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16" y="875699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A/B Testing of Prompts</a:t>
            </a:r>
          </a:p>
          <a:p>
            <a:r>
              <a:rPr lang="en-US" sz="1400" dirty="0"/>
              <a:t>A/B Testing of Prompts creates multiple versions of prompts and evaluates which version produces better results based on predefined metrics.</a:t>
            </a:r>
          </a:p>
          <a:p>
            <a:r>
              <a:rPr lang="en-US" sz="1400" dirty="0"/>
              <a:t>This approach helps determine which phrasing or structure produces the most accurate and relevant results.</a:t>
            </a:r>
          </a:p>
          <a:p>
            <a:pPr lvl="1"/>
            <a:r>
              <a:rPr lang="en-US" sz="1400" dirty="0"/>
              <a:t>Two variations of a prompt are run simultaneously and their performance is compared using metrics like </a:t>
            </a:r>
            <a:r>
              <a:rPr lang="en-US" sz="1400" b="1" dirty="0"/>
              <a:t>"Execution Success Rate"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1400" b="1" dirty="0"/>
              <a:t>Prompt A – Vague:</a:t>
            </a:r>
            <a:br>
              <a:rPr lang="en-US" sz="1400" dirty="0"/>
            </a:br>
            <a:r>
              <a:rPr lang="en-US" sz="1400" dirty="0"/>
              <a:t>"Write some UI test automation code for the login screen."</a:t>
            </a:r>
          </a:p>
          <a:p>
            <a:r>
              <a:rPr lang="en-US" sz="1400" b="1" dirty="0"/>
              <a:t>Prompt B – Specific:</a:t>
            </a:r>
            <a:br>
              <a:rPr lang="en-US" sz="1400" dirty="0"/>
            </a:br>
            <a:r>
              <a:rPr lang="en-US" sz="1400" dirty="0"/>
              <a:t>"Write a Selenium/Java test script for the login screen, using explicit waits and CSS selectors for elements."</a:t>
            </a:r>
          </a:p>
          <a:p>
            <a:r>
              <a:rPr lang="en-US" sz="1400" dirty="0"/>
              <a:t>If </a:t>
            </a:r>
            <a:r>
              <a:rPr lang="en-US" sz="1400" b="1" dirty="0"/>
              <a:t>Prompt B</a:t>
            </a:r>
            <a:r>
              <a:rPr lang="en-US" sz="1400" dirty="0"/>
              <a:t> produces scripts with a higher success rate (fewer syntax errors), it becomes the </a:t>
            </a:r>
            <a:r>
              <a:rPr lang="en-US" sz="1400" b="1" dirty="0"/>
              <a:t>standard prompt</a:t>
            </a:r>
            <a:r>
              <a:rPr lang="en-US" sz="1400" dirty="0"/>
              <a:t> for that task.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73274-69B1-AD09-AEA3-9703CA8F83B9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576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42F8-4E99-BA86-6EFC-61BD738A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792C6A-A1DD-3350-2A85-8CD161C00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C9569E-A9E8-4850-8DFA-F15F1501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16" y="875699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Output Analysis</a:t>
            </a:r>
          </a:p>
          <a:p>
            <a:r>
              <a:rPr lang="en-US" sz="1400" dirty="0"/>
              <a:t>Examine AI-generated output for inaccuracies or inconsistencies (e.g., with respect to the test basis, like requirements documents).</a:t>
            </a:r>
          </a:p>
          <a:p>
            <a:r>
              <a:rPr lang="en-US" sz="1400" dirty="0"/>
              <a:t>If an AI repeatedly generates test steps that contradict system behavior, analyze why the prompt allowed that error and refine the prompt to prevent it.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EDF99-51EC-61B7-A05C-AB37477FFB7D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3060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E7F23-2FDD-992E-5429-2C11CB2C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018EA9-DEBD-1090-8BE8-EDECD3D1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7B61FD-2EF8-1A92-2459-77D962524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16" y="875699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Integrate User Feedback</a:t>
            </a:r>
          </a:p>
          <a:p>
            <a:r>
              <a:rPr lang="en-US" sz="1400" dirty="0"/>
              <a:t>Gather input from testers about the usefulness and clarity of generated output (e.g., regarding the level of detail of generated tests).</a:t>
            </a:r>
          </a:p>
          <a:p>
            <a:r>
              <a:rPr lang="en-US" sz="1400" dirty="0"/>
              <a:t>Analyze insights from daily testing work and use them to refine prompts to better meet real-world testing needs.</a:t>
            </a:r>
          </a:p>
          <a:p>
            <a:r>
              <a:rPr lang="en-US" sz="1400" dirty="0"/>
              <a:t>If testers find the generated code style unusable, refine the prompt to enforce coding standards.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F5F54-E868-525B-4B1E-6C8DA9FAC9FA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086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5503-8416-01A5-B74D-547AA432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8256DD-84B8-C4A1-017F-D0951916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D448F9-5821-A3FA-8557-8EC6EF150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16" y="875699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Adjusting Prompt Length and Specificity</a:t>
            </a:r>
          </a:p>
          <a:p>
            <a:r>
              <a:rPr lang="en-US" sz="1400" dirty="0"/>
              <a:t>Finding the right balance of information provided in a prompt often requires experimentation.</a:t>
            </a:r>
          </a:p>
          <a:p>
            <a:r>
              <a:rPr lang="en-US" sz="1400" dirty="0"/>
              <a:t>Experiment with different prompt lengths and levels of detail.</a:t>
            </a:r>
          </a:p>
          <a:p>
            <a:r>
              <a:rPr lang="en-US" sz="1400" dirty="0"/>
              <a:t>Sometimes adding more context can drastically improve the quality of the response (e.g., specifying the exact version of a framework being used).</a:t>
            </a:r>
          </a:p>
          <a:p>
            <a:r>
              <a:rPr lang="en-US" sz="1400" dirty="0"/>
              <a:t>In other cases, shorter, more abstract prompts may yield better generalization and encourage the AI to be more creative in exploring edge cases.</a:t>
            </a:r>
          </a:p>
          <a:p>
            <a:r>
              <a:rPr lang="en-US" sz="1400" dirty="0"/>
              <a:t>The goal is to optimize for the best trade-off between </a:t>
            </a:r>
            <a:r>
              <a:rPr lang="en-US" sz="1400" b="1" dirty="0"/>
              <a:t>control (specificity)</a:t>
            </a:r>
            <a:r>
              <a:rPr lang="en-US" sz="1400" dirty="0"/>
              <a:t> and </a:t>
            </a:r>
            <a:r>
              <a:rPr lang="en-US" sz="1400" b="1" dirty="0"/>
              <a:t>coverage (generalization)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9426B-9F63-F7E1-4074-0CEB96ABD348}"/>
              </a:ext>
            </a:extLst>
          </p:cNvPr>
          <p:cNvSpPr txBox="1"/>
          <p:nvPr/>
        </p:nvSpPr>
        <p:spPr>
          <a:xfrm>
            <a:off x="399499" y="2468102"/>
            <a:ext cx="927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4728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E8E1-0A04-44EC-1A1F-911D1946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BFFFC-E707-27CC-FA4C-158EE670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45" y="27231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Chapter 2 -</a:t>
            </a:r>
            <a:r>
              <a:rPr lang="en-US" sz="2000" dirty="0">
                <a:solidFill>
                  <a:srgbClr val="FF0000"/>
                </a:solidFill>
              </a:rPr>
              <a:t>Prompt Engineering for Effective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84B598-87D2-D319-88F0-DD85CE6D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16" y="875699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 Evaluate Generative AI Results and Refine Prompts for Software Test Tasks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2.3.2 Techniques for Evaluating and Iteratively Refining Prompts</a:t>
            </a: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BDE77-1880-5E19-49F1-6DD7F0731A43}"/>
              </a:ext>
            </a:extLst>
          </p:cNvPr>
          <p:cNvSpPr txBox="1"/>
          <p:nvPr/>
        </p:nvSpPr>
        <p:spPr>
          <a:xfrm>
            <a:off x="535445" y="1828562"/>
            <a:ext cx="92776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Collaboration and Continuous Improvement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Sharing practices across the test team or test organization helps standardize prompt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Test teams should organize structured sessions to evaluate and refine prompts collectively.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Sharing optimized prompts across the test organization helps standardize techniques and maintain consistent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collaborative approach leads to the creation of shared prompt libraries that avoid repeated errors and refine the use of GenAI tools more effectively over time.</a:t>
            </a:r>
          </a:p>
        </p:txBody>
      </p:sp>
    </p:spTree>
    <p:extLst>
      <p:ext uri="{BB962C8B-B14F-4D97-AF65-F5344CB8AC3E}">
        <p14:creationId xmlns:p14="http://schemas.microsoft.com/office/powerpoint/2010/main" val="3585757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1BF2-804B-894F-91C7-3A504290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E73ACF-8236-1B33-9FDC-7364DFF4D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16" y="875699"/>
            <a:ext cx="8596668" cy="55881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</a:rPr>
              <a:t>					</a:t>
            </a:r>
            <a:r>
              <a:rPr lang="en-US" sz="1400" b="1" dirty="0">
                <a:solidFill>
                  <a:srgbClr val="FF0000"/>
                </a:solidFill>
              </a:rPr>
              <a:t>	</a:t>
            </a:r>
            <a:r>
              <a:rPr lang="en-US" sz="1400" b="1">
                <a:solidFill>
                  <a:srgbClr val="FF0000"/>
                </a:solidFill>
              </a:rPr>
              <a:t>Thank </a:t>
            </a:r>
            <a:r>
              <a:rPr lang="en-US" sz="1400" b="1" dirty="0">
                <a:solidFill>
                  <a:srgbClr val="FF0000"/>
                </a:solidFill>
              </a:rPr>
              <a:t>You Chapter 2 completed</a:t>
            </a:r>
          </a:p>
        </p:txBody>
      </p:sp>
    </p:spTree>
    <p:extLst>
      <p:ext uri="{BB962C8B-B14F-4D97-AF65-F5344CB8AC3E}">
        <p14:creationId xmlns:p14="http://schemas.microsoft.com/office/powerpoint/2010/main" val="26341489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1125</TotalTime>
  <Words>8202</Words>
  <Application>Microsoft Office PowerPoint</Application>
  <PresentationFormat>Widescreen</PresentationFormat>
  <Paragraphs>1052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2" baseType="lpstr">
      <vt:lpstr>Arial</vt:lpstr>
      <vt:lpstr>Calibri</vt:lpstr>
      <vt:lpstr>Trebuchet MS</vt:lpstr>
      <vt:lpstr>Wingdings</vt:lpstr>
      <vt:lpstr>Wingdings 3</vt:lpstr>
      <vt:lpstr>Facet</vt:lpstr>
      <vt:lpstr>ISTQB® Certified Tester – Testing with Generative AI (CT-GenAI) Chapter 2 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Chapter 2 -Prompt Engineering for Effective Software Testing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213</cp:revision>
  <dcterms:created xsi:type="dcterms:W3CDTF">2026-03-12T15:31:59Z</dcterms:created>
  <dcterms:modified xsi:type="dcterms:W3CDTF">2026-03-23T14:51:43Z</dcterms:modified>
</cp:coreProperties>
</file>