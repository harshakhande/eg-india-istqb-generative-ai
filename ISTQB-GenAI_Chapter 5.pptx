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3" r:id="rId3"/>
    <p:sldId id="320" r:id="rId4"/>
    <p:sldId id="336" r:id="rId5"/>
    <p:sldId id="334" r:id="rId6"/>
    <p:sldId id="333" r:id="rId7"/>
    <p:sldId id="332" r:id="rId8"/>
    <p:sldId id="331" r:id="rId9"/>
    <p:sldId id="330" r:id="rId10"/>
    <p:sldId id="338" r:id="rId11"/>
    <p:sldId id="337" r:id="rId12"/>
    <p:sldId id="329" r:id="rId13"/>
    <p:sldId id="326" r:id="rId14"/>
    <p:sldId id="327" r:id="rId15"/>
    <p:sldId id="328" r:id="rId16"/>
    <p:sldId id="339" r:id="rId17"/>
    <p:sldId id="340" r:id="rId18"/>
    <p:sldId id="341" r:id="rId19"/>
    <p:sldId id="342" r:id="rId20"/>
    <p:sldId id="343" r:id="rId21"/>
    <p:sldId id="344" r:id="rId22"/>
    <p:sldId id="31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780" autoAdjust="0"/>
  </p:normalViewPr>
  <p:slideViewPr>
    <p:cSldViewPr snapToGrid="0">
      <p:cViewPr varScale="1">
        <p:scale>
          <a:sx n="74" d="100"/>
          <a:sy n="74" d="100"/>
        </p:scale>
        <p:origin x="3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1491902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1868190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766684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3023E9-9803-4103-9CE0-56CF15ED2229}"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228054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023E9-9803-4103-9CE0-56CF15ED2229}" type="datetimeFigureOut">
              <a:rPr lang="en-IN" smtClean="0"/>
              <a:t>26-03-2026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317435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3023E9-9803-4103-9CE0-56CF15ED2229}" type="datetimeFigureOut">
              <a:rPr lang="en-IN" smtClean="0"/>
              <a:t>26-03-2026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2144921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023E9-9803-4103-9CE0-56CF15ED2229}" type="datetimeFigureOut">
              <a:rPr lang="en-IN" smtClean="0"/>
              <a:t>26-03-2026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271075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3023E9-9803-4103-9CE0-56CF15ED2229}"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3765369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3023E9-9803-4103-9CE0-56CF15ED2229}"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1496125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3740989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54983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328884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81515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4109374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3123956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023E9-9803-4103-9CE0-56CF15ED2229}"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F0981-D60D-4D59-9230-E6EE4984A782}" type="slidenum">
              <a:rPr lang="en-IN" smtClean="0"/>
              <a:t>‹#›</a:t>
            </a:fld>
            <a:endParaRPr lang="en-IN"/>
          </a:p>
        </p:txBody>
      </p:sp>
    </p:spTree>
    <p:extLst>
      <p:ext uri="{BB962C8B-B14F-4D97-AF65-F5344CB8AC3E}">
        <p14:creationId xmlns:p14="http://schemas.microsoft.com/office/powerpoint/2010/main" val="144113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33023E9-9803-4103-9CE0-56CF15ED2229}" type="datetimeFigureOut">
              <a:rPr lang="en-IN" smtClean="0"/>
              <a:t>26-03-2026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92F0981-D60D-4D59-9230-E6EE4984A782}" type="slidenum">
              <a:rPr lang="en-IN" smtClean="0"/>
              <a:t>‹#›</a:t>
            </a:fld>
            <a:endParaRPr lang="en-IN"/>
          </a:p>
        </p:txBody>
      </p:sp>
    </p:spTree>
    <p:extLst>
      <p:ext uri="{BB962C8B-B14F-4D97-AF65-F5344CB8AC3E}">
        <p14:creationId xmlns:p14="http://schemas.microsoft.com/office/powerpoint/2010/main" val="3093317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6D84-A124-4690-FCC2-C156C497A119}"/>
              </a:ext>
            </a:extLst>
          </p:cNvPr>
          <p:cNvSpPr>
            <a:spLocks noGrp="1"/>
          </p:cNvSpPr>
          <p:nvPr>
            <p:ph type="ctrTitle"/>
          </p:nvPr>
        </p:nvSpPr>
        <p:spPr>
          <a:xfrm>
            <a:off x="-321734" y="2183523"/>
            <a:ext cx="10001761" cy="2688021"/>
          </a:xfrm>
        </p:spPr>
        <p:txBody>
          <a:bodyPr/>
          <a:lstStyle/>
          <a:p>
            <a:r>
              <a:rPr lang="en-US" sz="4000" b="1" dirty="0"/>
              <a:t>ISTQB® Certified Tester – Testing with Generative AI (CT-GenAI)</a:t>
            </a:r>
            <a:br>
              <a:rPr lang="en-US" sz="4000" b="1" dirty="0"/>
            </a:br>
            <a:r>
              <a:rPr lang="en-US" sz="4000" b="1" dirty="0"/>
              <a:t>Chapter 5</a:t>
            </a:r>
            <a:endParaRPr lang="en-IN" sz="4000" dirty="0"/>
          </a:p>
        </p:txBody>
      </p:sp>
    </p:spTree>
    <p:extLst>
      <p:ext uri="{BB962C8B-B14F-4D97-AF65-F5344CB8AC3E}">
        <p14:creationId xmlns:p14="http://schemas.microsoft.com/office/powerpoint/2010/main" val="132385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08F5-4B07-D77A-593B-328944137F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142BD1-2ED7-543B-2C27-43985B5DC234}"/>
              </a:ext>
            </a:extLst>
          </p:cNvPr>
          <p:cNvSpPr>
            <a:spLocks noGrp="1"/>
          </p:cNvSpPr>
          <p:nvPr>
            <p:ph type="title"/>
          </p:nvPr>
        </p:nvSpPr>
        <p:spPr/>
        <p:txBody>
          <a:bodyPr>
            <a:normAutofit/>
          </a:bodyPr>
          <a:lstStyle/>
          <a:p>
            <a:r>
              <a:rPr lang="en-US" sz="2000" dirty="0">
                <a:solidFill>
                  <a:srgbClr val="FF0000"/>
                </a:solidFill>
              </a:rPr>
              <a:t>Chapter 5 - LLM-Powered Test Infrastructure for Software Testing</a:t>
            </a:r>
            <a:endParaRPr lang="en-IN" sz="2000" dirty="0">
              <a:solidFill>
                <a:srgbClr val="FF0000"/>
              </a:solidFill>
            </a:endParaRPr>
          </a:p>
        </p:txBody>
      </p:sp>
      <p:sp>
        <p:nvSpPr>
          <p:cNvPr id="5" name="Content Placeholder 4">
            <a:extLst>
              <a:ext uri="{FF2B5EF4-FFF2-40B4-BE49-F238E27FC236}">
                <a16:creationId xmlns:a16="http://schemas.microsoft.com/office/drawing/2014/main" id="{23361EB9-A879-589D-327D-EDDD3A7DEFAF}"/>
              </a:ext>
            </a:extLst>
          </p:cNvPr>
          <p:cNvSpPr>
            <a:spLocks noGrp="1"/>
          </p:cNvSpPr>
          <p:nvPr>
            <p:ph idx="1"/>
          </p:nvPr>
        </p:nvSpPr>
        <p:spPr>
          <a:xfrm>
            <a:off x="606390" y="1395961"/>
            <a:ext cx="8596668" cy="3880773"/>
          </a:xfrm>
        </p:spPr>
        <p:txBody>
          <a:bodyPr>
            <a:normAutofit/>
          </a:bodyPr>
          <a:lstStyle/>
          <a:p>
            <a:r>
              <a:rPr lang="en-US" sz="1600" b="1" dirty="0">
                <a:solidFill>
                  <a:srgbClr val="FF0000"/>
                </a:solidFill>
              </a:rPr>
              <a:t>5.1 Roadmap for Adoption of Generative AI in Software Testing</a:t>
            </a:r>
            <a:endParaRPr lang="en-US" sz="1600" dirty="0">
              <a:solidFill>
                <a:srgbClr val="FF0000"/>
              </a:solidFill>
            </a:endParaRPr>
          </a:p>
          <a:p>
            <a:r>
              <a:rPr lang="en-US" sz="1600" b="1" dirty="0"/>
              <a:t>GenAI-5.1.1 (K1)</a:t>
            </a:r>
            <a:r>
              <a:rPr lang="en-US" sz="1600" dirty="0"/>
              <a:t> Recall the risks of shadow AI</a:t>
            </a:r>
          </a:p>
          <a:p>
            <a:r>
              <a:rPr lang="en-US" sz="1600" b="1" dirty="0"/>
              <a:t>GenAI-5.1.2 (K2)</a:t>
            </a:r>
            <a:r>
              <a:rPr lang="en-US" sz="1600" dirty="0"/>
              <a:t> Explain the key aspects to consider when defining a Generative AI strategy for software testing</a:t>
            </a:r>
          </a:p>
          <a:p>
            <a:r>
              <a:rPr lang="en-US" sz="1600" b="1" dirty="0"/>
              <a:t>GenAI-5.1.3 (K2)</a:t>
            </a:r>
            <a:r>
              <a:rPr lang="en-US" sz="1600" dirty="0"/>
              <a:t> Summarize key criteria for selecting LLMs/SLMs for software test tasks in a given context</a:t>
            </a:r>
          </a:p>
          <a:p>
            <a:r>
              <a:rPr lang="en-US" sz="1600" b="1" dirty="0"/>
              <a:t>HO-5.1.3 (H1)</a:t>
            </a:r>
            <a:r>
              <a:rPr lang="en-US" sz="1600" dirty="0"/>
              <a:t> Estimate the recurring costs of using Generative AI for a given test task</a:t>
            </a:r>
          </a:p>
          <a:p>
            <a:r>
              <a:rPr lang="en-US" sz="1600" b="1" dirty="0"/>
              <a:t>GenAI-5.1.4 (K1)</a:t>
            </a:r>
            <a:r>
              <a:rPr lang="en-US" sz="1600" dirty="0"/>
              <a:t> Recall key phases in the adoption of Generative AI in a test organization</a:t>
            </a:r>
          </a:p>
          <a:p>
            <a:endParaRPr lang="en-IN" sz="1600" dirty="0"/>
          </a:p>
        </p:txBody>
      </p:sp>
    </p:spTree>
    <p:extLst>
      <p:ext uri="{BB962C8B-B14F-4D97-AF65-F5344CB8AC3E}">
        <p14:creationId xmlns:p14="http://schemas.microsoft.com/office/powerpoint/2010/main" val="248486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56E68-21FC-6A77-3174-A604C42987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198BA2-616B-FEA8-CE03-AFFD59AA39FE}"/>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2B9EDE8F-BE4E-3BD2-E212-72D50B3DA379}"/>
              </a:ext>
            </a:extLst>
          </p:cNvPr>
          <p:cNvSpPr>
            <a:spLocks noGrp="1"/>
          </p:cNvSpPr>
          <p:nvPr>
            <p:ph idx="1"/>
          </p:nvPr>
        </p:nvSpPr>
        <p:spPr>
          <a:xfrm>
            <a:off x="606390" y="1395961"/>
            <a:ext cx="8596668" cy="3880773"/>
          </a:xfrm>
        </p:spPr>
        <p:txBody>
          <a:bodyPr>
            <a:normAutofit/>
          </a:bodyPr>
          <a:lstStyle/>
          <a:p>
            <a:r>
              <a:rPr lang="en-US" sz="1600" b="1" dirty="0">
                <a:solidFill>
                  <a:srgbClr val="FF0000"/>
                </a:solidFill>
              </a:rPr>
              <a:t>5.2 Manage Change when Adopting Generative AI for Software Testing</a:t>
            </a:r>
            <a:endParaRPr lang="en-US" sz="1600" dirty="0">
              <a:solidFill>
                <a:srgbClr val="FF0000"/>
              </a:solidFill>
            </a:endParaRPr>
          </a:p>
          <a:p>
            <a:r>
              <a:rPr lang="en-US" sz="1600" b="1" dirty="0"/>
              <a:t>GenAI-5.2.1 (K2)</a:t>
            </a:r>
            <a:r>
              <a:rPr lang="en-US" sz="1600" dirty="0"/>
              <a:t> Explain the essential skills and knowledge areas required for testers to work effectively with generative AI in test processes</a:t>
            </a:r>
          </a:p>
          <a:p>
            <a:r>
              <a:rPr lang="en-US" sz="1600" b="1" dirty="0"/>
              <a:t>GenAI-5.2.2 (K1)</a:t>
            </a:r>
            <a:r>
              <a:rPr lang="en-US" sz="1600" dirty="0"/>
              <a:t> Recall strategies for cultivating AI skills within test teams to support the adoption of Generative AI in test activities</a:t>
            </a:r>
          </a:p>
          <a:p>
            <a:r>
              <a:rPr lang="en-US" sz="1600" b="1" dirty="0"/>
              <a:t>GenAI-5.2.3 (K1)</a:t>
            </a:r>
            <a:r>
              <a:rPr lang="en-US" sz="1600" dirty="0"/>
              <a:t> Recognize how test processes and responsibilities shift within a test organization when adopting Generative AI.</a:t>
            </a:r>
          </a:p>
          <a:p>
            <a:endParaRPr lang="en-IN" sz="1600" dirty="0"/>
          </a:p>
        </p:txBody>
      </p:sp>
    </p:spTree>
    <p:extLst>
      <p:ext uri="{BB962C8B-B14F-4D97-AF65-F5344CB8AC3E}">
        <p14:creationId xmlns:p14="http://schemas.microsoft.com/office/powerpoint/2010/main" val="1708373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D57D4-2AEC-71CC-523A-21E6BFE784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3FE81E-9AA7-6F1E-8657-2063E055E717}"/>
              </a:ext>
            </a:extLst>
          </p:cNvPr>
          <p:cNvSpPr>
            <a:spLocks noGrp="1"/>
          </p:cNvSpPr>
          <p:nvPr>
            <p:ph type="title"/>
          </p:nvPr>
        </p:nvSpPr>
        <p:spPr>
          <a:xfrm>
            <a:off x="689095" y="184915"/>
            <a:ext cx="8596668" cy="505198"/>
          </a:xfrm>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58345D7C-F8F5-34F1-F6BC-A133038132F9}"/>
              </a:ext>
            </a:extLst>
          </p:cNvPr>
          <p:cNvSpPr>
            <a:spLocks noGrp="1"/>
          </p:cNvSpPr>
          <p:nvPr>
            <p:ph idx="1"/>
          </p:nvPr>
        </p:nvSpPr>
        <p:spPr>
          <a:xfrm>
            <a:off x="11437301" y="5833954"/>
            <a:ext cx="45719" cy="62349"/>
          </a:xfrm>
        </p:spPr>
        <p:txBody>
          <a:bodyPr>
            <a:normAutofit fontScale="25000" lnSpcReduction="20000"/>
          </a:bodyPr>
          <a:lstStyle/>
          <a:p>
            <a:endParaRPr lang="en-IN" sz="1400" dirty="0"/>
          </a:p>
        </p:txBody>
      </p:sp>
      <p:sp>
        <p:nvSpPr>
          <p:cNvPr id="3" name="TextBox 2">
            <a:extLst>
              <a:ext uri="{FF2B5EF4-FFF2-40B4-BE49-F238E27FC236}">
                <a16:creationId xmlns:a16="http://schemas.microsoft.com/office/drawing/2014/main" id="{9E058E74-45BF-EC68-EC0B-EF7E678E2824}"/>
              </a:ext>
            </a:extLst>
          </p:cNvPr>
          <p:cNvSpPr txBox="1"/>
          <p:nvPr/>
        </p:nvSpPr>
        <p:spPr>
          <a:xfrm>
            <a:off x="708980" y="987412"/>
            <a:ext cx="8766211" cy="4524315"/>
          </a:xfrm>
          <a:prstGeom prst="rect">
            <a:avLst/>
          </a:prstGeom>
          <a:noFill/>
        </p:spPr>
        <p:txBody>
          <a:bodyPr wrap="square">
            <a:spAutoFit/>
          </a:bodyPr>
          <a:lstStyle/>
          <a:p>
            <a:pPr>
              <a:buNone/>
            </a:pPr>
            <a:r>
              <a:rPr lang="en-US" sz="1600" b="1" dirty="0">
                <a:solidFill>
                  <a:srgbClr val="FF0000"/>
                </a:solidFill>
              </a:rPr>
              <a:t>Tutorial 5.1</a:t>
            </a:r>
          </a:p>
          <a:p>
            <a:pPr>
              <a:buNone/>
            </a:pPr>
            <a:endParaRPr lang="en-US" sz="1600" dirty="0">
              <a:solidFill>
                <a:srgbClr val="FF0000"/>
              </a:solidFill>
            </a:endParaRPr>
          </a:p>
          <a:p>
            <a:pPr>
              <a:buNone/>
            </a:pPr>
            <a:r>
              <a:rPr lang="en-US" sz="1600" b="1" dirty="0">
                <a:solidFill>
                  <a:srgbClr val="FF0000"/>
                </a:solidFill>
              </a:rPr>
              <a:t>5.1 Roadmap for Adoption of Generative AI in Software Testing</a:t>
            </a:r>
          </a:p>
          <a:p>
            <a:pPr>
              <a:buNone/>
            </a:pPr>
            <a:endParaRPr lang="en-US" sz="1600" dirty="0"/>
          </a:p>
          <a:p>
            <a:pPr>
              <a:buNone/>
            </a:pPr>
            <a:r>
              <a:rPr lang="en-US" sz="1600" dirty="0"/>
              <a:t>A test strategy with GenAI must carefully consider key aspects like:</a:t>
            </a:r>
          </a:p>
          <a:p>
            <a:pPr>
              <a:buNone/>
            </a:pPr>
            <a:endParaRPr lang="en-US" sz="1600" dirty="0"/>
          </a:p>
          <a:p>
            <a:pPr>
              <a:buFont typeface="Arial" panose="020B0604020202020204" pitchFamily="34" charset="0"/>
              <a:buChar char="•"/>
            </a:pPr>
            <a:r>
              <a:rPr lang="en-US" sz="1600" b="1" dirty="0"/>
              <a:t>Defined Test Objectives</a:t>
            </a:r>
            <a:r>
              <a:rPr lang="en-US" sz="1600" dirty="0"/>
              <a:t> – Establish clear, measurable goals for GenAI (e.g., accelerating test design, improving requirement coverage, or automating log analysis).</a:t>
            </a:r>
          </a:p>
          <a:p>
            <a:pPr>
              <a:buFont typeface="Arial" panose="020B0604020202020204" pitchFamily="34" charset="0"/>
              <a:buChar char="•"/>
            </a:pPr>
            <a:endParaRPr lang="en-US" sz="1600" dirty="0"/>
          </a:p>
          <a:p>
            <a:pPr>
              <a:buFont typeface="Arial" panose="020B0604020202020204" pitchFamily="34" charset="0"/>
              <a:buChar char="•"/>
            </a:pPr>
            <a:r>
              <a:rPr lang="en-US" sz="1600" b="1" dirty="0"/>
              <a:t>Intelligent LLM Selection</a:t>
            </a:r>
            <a:r>
              <a:rPr lang="en-US" sz="1600" dirty="0"/>
              <a:t> – Choose models based on specific task needs, evaluating Large Language Models (LLMs) for complex reasoning versus Small Language Models (SLMs) for efficient, specialized tasks.</a:t>
            </a:r>
          </a:p>
          <a:p>
            <a:pPr>
              <a:buFont typeface="Arial" panose="020B0604020202020204" pitchFamily="34" charset="0"/>
              <a:buChar char="•"/>
            </a:pPr>
            <a:endParaRPr lang="en-US" sz="1600" dirty="0"/>
          </a:p>
          <a:p>
            <a:pPr>
              <a:buFont typeface="Arial" panose="020B0604020202020204" pitchFamily="34" charset="0"/>
              <a:buChar char="•"/>
            </a:pPr>
            <a:r>
              <a:rPr lang="en-US" sz="1600" b="1" dirty="0"/>
              <a:t>Prompt Data Integrity</a:t>
            </a:r>
            <a:r>
              <a:rPr lang="en-US" sz="1600" dirty="0"/>
              <a:t> – Address critical issues with input data to ensure prompts are contextually accurate, sanitized of sensitive information, and free from bias.</a:t>
            </a:r>
          </a:p>
          <a:p>
            <a:pPr>
              <a:buFont typeface="Arial" panose="020B0604020202020204" pitchFamily="34" charset="0"/>
              <a:buChar char="•"/>
            </a:pPr>
            <a:endParaRPr lang="en-US" sz="1600" dirty="0"/>
          </a:p>
          <a:p>
            <a:pPr>
              <a:buFont typeface="Arial" panose="020B0604020202020204" pitchFamily="34" charset="0"/>
              <a:buChar char="•"/>
            </a:pPr>
            <a:r>
              <a:rPr lang="en-US" sz="1600" b="1" dirty="0"/>
              <a:t>Governance &amp; Compliance</a:t>
            </a:r>
            <a:r>
              <a:rPr lang="en-US" sz="1600" dirty="0"/>
              <a:t> – Align the strategy with international AI standards (e.g., ISO/IEC 42001) and regional regulations (e.g., EU AI Act) to ensure ethical and safe usage.</a:t>
            </a:r>
          </a:p>
        </p:txBody>
      </p:sp>
    </p:spTree>
    <p:extLst>
      <p:ext uri="{BB962C8B-B14F-4D97-AF65-F5344CB8AC3E}">
        <p14:creationId xmlns:p14="http://schemas.microsoft.com/office/powerpoint/2010/main" val="3245704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7576-767E-9C62-F8B3-6A35B30308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781B9E-D9F7-4FC7-CF7B-F5F027887C74}"/>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CC74BDC9-B50E-578D-5574-A5CDA20875AC}"/>
              </a:ext>
            </a:extLst>
          </p:cNvPr>
          <p:cNvSpPr txBox="1"/>
          <p:nvPr/>
        </p:nvSpPr>
        <p:spPr>
          <a:xfrm>
            <a:off x="740980" y="1607234"/>
            <a:ext cx="7654158" cy="646331"/>
          </a:xfrm>
          <a:prstGeom prst="rect">
            <a:avLst/>
          </a:prstGeom>
          <a:noFill/>
        </p:spPr>
        <p:txBody>
          <a:bodyPr wrap="square">
            <a:spAutoFit/>
          </a:bodyPr>
          <a:lstStyle/>
          <a:p>
            <a:pPr>
              <a:buNone/>
            </a:pPr>
            <a:r>
              <a:rPr lang="en-US" b="1" dirty="0"/>
              <a:t>Tutorial 5.1.1</a:t>
            </a:r>
            <a:endParaRPr lang="en-US" dirty="0"/>
          </a:p>
          <a:p>
            <a:pPr>
              <a:buFont typeface="Arial" panose="020B0604020202020204" pitchFamily="34" charset="0"/>
              <a:buChar char="•"/>
            </a:pPr>
            <a:r>
              <a:rPr lang="en-US" b="1" dirty="0"/>
              <a:t>GenAI-5.1.1 (K1)</a:t>
            </a:r>
            <a:r>
              <a:rPr lang="en-US" dirty="0"/>
              <a:t> Recall the risks of shadow AI.</a:t>
            </a:r>
          </a:p>
        </p:txBody>
      </p:sp>
    </p:spTree>
    <p:extLst>
      <p:ext uri="{BB962C8B-B14F-4D97-AF65-F5344CB8AC3E}">
        <p14:creationId xmlns:p14="http://schemas.microsoft.com/office/powerpoint/2010/main" val="2707885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26FC-085C-6E23-C272-4F4FC45A48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CBF3BC-0EF9-B45D-309E-6CAE38AED7F4}"/>
              </a:ext>
            </a:extLst>
          </p:cNvPr>
          <p:cNvSpPr>
            <a:spLocks noGrp="1"/>
          </p:cNvSpPr>
          <p:nvPr>
            <p:ph type="title"/>
          </p:nvPr>
        </p:nvSpPr>
        <p:spPr>
          <a:xfrm>
            <a:off x="677333" y="212785"/>
            <a:ext cx="8596668" cy="503207"/>
          </a:xfrm>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BEEC8BF6-FBB7-827B-91C8-3C42DD2A32F5}"/>
              </a:ext>
            </a:extLst>
          </p:cNvPr>
          <p:cNvSpPr txBox="1"/>
          <p:nvPr/>
        </p:nvSpPr>
        <p:spPr>
          <a:xfrm>
            <a:off x="677333" y="780941"/>
            <a:ext cx="9225792" cy="5632311"/>
          </a:xfrm>
          <a:prstGeom prst="rect">
            <a:avLst/>
          </a:prstGeom>
          <a:noFill/>
        </p:spPr>
        <p:txBody>
          <a:bodyPr wrap="square">
            <a:spAutoFit/>
          </a:bodyPr>
          <a:lstStyle/>
          <a:p>
            <a:r>
              <a:rPr lang="en-US" b="1" dirty="0">
                <a:solidFill>
                  <a:srgbClr val="FF0000"/>
                </a:solidFill>
              </a:rPr>
              <a:t>Tutorial 5.1.1</a:t>
            </a:r>
            <a:endParaRPr lang="en-US" dirty="0">
              <a:solidFill>
                <a:srgbClr val="FF0000"/>
              </a:solidFill>
            </a:endParaRPr>
          </a:p>
          <a:p>
            <a:pPr>
              <a:buNone/>
            </a:pPr>
            <a:endParaRPr lang="en-US" b="1" dirty="0"/>
          </a:p>
          <a:p>
            <a:pPr>
              <a:buNone/>
            </a:pPr>
            <a:r>
              <a:rPr lang="en-US" b="1" dirty="0">
                <a:solidFill>
                  <a:srgbClr val="FF0000"/>
                </a:solidFill>
              </a:rPr>
              <a:t>Risks of Shadow AI</a:t>
            </a:r>
          </a:p>
          <a:p>
            <a:pPr>
              <a:buNone/>
            </a:pPr>
            <a:endParaRPr lang="en-US" dirty="0"/>
          </a:p>
          <a:p>
            <a:pPr>
              <a:buFont typeface="Arial" panose="020B0604020202020204" pitchFamily="34" charset="0"/>
              <a:buChar char="•"/>
            </a:pPr>
            <a:r>
              <a:rPr lang="en-US" dirty="0"/>
              <a:t>Shadow AI is the unauthorized use of any artificial intelligence (AI) tool or application by employees or end users without the formal approval or oversight of the IT department.</a:t>
            </a:r>
          </a:p>
          <a:p>
            <a:pPr>
              <a:buFont typeface="Arial" panose="020B0604020202020204" pitchFamily="34" charset="0"/>
              <a:buChar char="•"/>
            </a:pPr>
            <a:endParaRPr lang="en-US" dirty="0"/>
          </a:p>
          <a:p>
            <a:pPr>
              <a:buFont typeface="Arial" panose="020B0604020202020204" pitchFamily="34" charset="0"/>
              <a:buChar char="•"/>
            </a:pPr>
            <a:r>
              <a:rPr lang="en-US" dirty="0"/>
              <a:t>It creates significant vulnerabilities in the software testing lifecycle:</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Information Security Weaknesses:</a:t>
            </a:r>
            <a:r>
              <a:rPr lang="en-US" dirty="0"/>
              <a:t> Personal-grade AI tools often lack enterprise-grade encryption and data isolation.</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The Data Privacy Trap:</a:t>
            </a:r>
            <a:r>
              <a:rPr lang="en-US" dirty="0"/>
              <a:t> When testers input proprietary source code or PII (Personally Identifiable Information) into public LLMs, that data may be used for model training, leading to potential data breaches.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Lack of Oversight:</a:t>
            </a:r>
            <a:r>
              <a:rPr lang="en-US" dirty="0"/>
              <a:t> Without centralized monitoring, organizations cannot track what sensitive assets are being shared, leaving the infrastructure vulnerable to external exploitation.</a:t>
            </a:r>
          </a:p>
        </p:txBody>
      </p:sp>
    </p:spTree>
    <p:extLst>
      <p:ext uri="{BB962C8B-B14F-4D97-AF65-F5344CB8AC3E}">
        <p14:creationId xmlns:p14="http://schemas.microsoft.com/office/powerpoint/2010/main" val="453184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24DF8-3AA4-4288-AA5C-E980323A18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01B5F0-60C9-D6D7-E54A-D2D62A844920}"/>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3387CC99-F1F8-7D40-3FE0-63306B57E6DA}"/>
              </a:ext>
            </a:extLst>
          </p:cNvPr>
          <p:cNvSpPr txBox="1"/>
          <p:nvPr/>
        </p:nvSpPr>
        <p:spPr>
          <a:xfrm>
            <a:off x="677334" y="1270000"/>
            <a:ext cx="8758328" cy="4801314"/>
          </a:xfrm>
          <a:prstGeom prst="rect">
            <a:avLst/>
          </a:prstGeom>
          <a:noFill/>
        </p:spPr>
        <p:txBody>
          <a:bodyPr wrap="square">
            <a:spAutoFit/>
          </a:bodyPr>
          <a:lstStyle/>
          <a:p>
            <a:r>
              <a:rPr lang="en-US" b="1" dirty="0">
                <a:solidFill>
                  <a:srgbClr val="FF0000"/>
                </a:solidFill>
              </a:rPr>
              <a:t>Tutorial 5.1.1</a:t>
            </a:r>
            <a:endParaRPr lang="en-US" dirty="0">
              <a:solidFill>
                <a:srgbClr val="FF0000"/>
              </a:solidFill>
            </a:endParaRPr>
          </a:p>
          <a:p>
            <a:pPr>
              <a:buNone/>
            </a:pPr>
            <a:endParaRPr lang="en-US" b="1" dirty="0"/>
          </a:p>
          <a:p>
            <a:pPr>
              <a:buNone/>
            </a:pPr>
            <a:r>
              <a:rPr lang="en-US" b="1" dirty="0">
                <a:solidFill>
                  <a:srgbClr val="FF0000"/>
                </a:solidFill>
              </a:rPr>
              <a:t>Compliance and Intellectual Property (IP) Risks</a:t>
            </a:r>
          </a:p>
          <a:p>
            <a:pPr>
              <a:buNone/>
            </a:pPr>
            <a:endParaRPr lang="en-US" dirty="0"/>
          </a:p>
          <a:p>
            <a:pPr>
              <a:buNone/>
            </a:pPr>
            <a:r>
              <a:rPr lang="en-US" dirty="0"/>
              <a:t>Using unapproved GenAI tools bypasses the legal guardrails essential for professional software testing.</a:t>
            </a:r>
          </a:p>
          <a:p>
            <a:pPr>
              <a:buNone/>
            </a:pPr>
            <a:endParaRPr lang="en-US" dirty="0"/>
          </a:p>
          <a:p>
            <a:pPr>
              <a:buFont typeface="Arial" panose="020B0604020202020204" pitchFamily="34" charset="0"/>
              <a:buChar char="•"/>
            </a:pPr>
            <a:r>
              <a:rPr lang="en-US" b="1" dirty="0"/>
              <a:t>Compliance and Regulatory Issues:</a:t>
            </a:r>
            <a:r>
              <a:rPr lang="en-US" dirty="0"/>
              <a:t> Using unauthorized AI can lead to non-compliance with industry standards (e.g., ISO/IEC 42001) and regional regulations (e.g., GDPR or the EU AI Act), resulting in severe legal penalties.</a:t>
            </a:r>
          </a:p>
          <a:p>
            <a:pPr>
              <a:buFont typeface="Arial" panose="020B0604020202020204" pitchFamily="34" charset="0"/>
              <a:buChar char="•"/>
            </a:pPr>
            <a:endParaRPr lang="en-US" dirty="0"/>
          </a:p>
          <a:p>
            <a:pPr>
              <a:buFont typeface="Arial" panose="020B0604020202020204" pitchFamily="34" charset="0"/>
              <a:buChar char="•"/>
            </a:pPr>
            <a:r>
              <a:rPr lang="en-US" b="1" dirty="0"/>
              <a:t>Vague Intellectual Property:</a:t>
            </a:r>
            <a:r>
              <a:rPr lang="en-US" dirty="0"/>
              <a:t> Many AI tools have unclear licensing agreements. Processing copyrighted data or generating scripts through unvetted models can expose the organization to IP disputes and ownership challenges.</a:t>
            </a:r>
          </a:p>
          <a:p>
            <a:pPr>
              <a:buFont typeface="Arial" panose="020B0604020202020204" pitchFamily="34" charset="0"/>
              <a:buChar char="•"/>
            </a:pPr>
            <a:endParaRPr lang="en-US" dirty="0"/>
          </a:p>
          <a:p>
            <a:pPr>
              <a:buFont typeface="Arial" panose="020B0604020202020204" pitchFamily="34" charset="0"/>
              <a:buChar char="•"/>
            </a:pPr>
            <a:r>
              <a:rPr lang="en-US" b="1" dirty="0"/>
              <a:t>Audit Failures:</a:t>
            </a:r>
            <a:r>
              <a:rPr lang="en-US" dirty="0"/>
              <a:t> Regulators require transparency. Shadow AI offers no audit trail, making it impossible to justify AI-driven testing decisions during a formal review.</a:t>
            </a:r>
          </a:p>
        </p:txBody>
      </p:sp>
    </p:spTree>
    <p:extLst>
      <p:ext uri="{BB962C8B-B14F-4D97-AF65-F5344CB8AC3E}">
        <p14:creationId xmlns:p14="http://schemas.microsoft.com/office/powerpoint/2010/main" val="2403714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FEA94-3375-9C70-BEA6-E49A5B5725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06AA7C-DA30-5A49-CA5C-0E0F6BB22210}"/>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A2662B1A-272C-ED1F-40FE-323B55975FCF}"/>
              </a:ext>
            </a:extLst>
          </p:cNvPr>
          <p:cNvSpPr txBox="1"/>
          <p:nvPr/>
        </p:nvSpPr>
        <p:spPr>
          <a:xfrm>
            <a:off x="677333" y="1179218"/>
            <a:ext cx="8805625" cy="5078313"/>
          </a:xfrm>
          <a:prstGeom prst="rect">
            <a:avLst/>
          </a:prstGeom>
          <a:noFill/>
        </p:spPr>
        <p:txBody>
          <a:bodyPr wrap="square">
            <a:spAutoFit/>
          </a:bodyPr>
          <a:lstStyle/>
          <a:p>
            <a:r>
              <a:rPr lang="en-US" b="1" dirty="0">
                <a:solidFill>
                  <a:srgbClr val="FF0000"/>
                </a:solidFill>
              </a:rPr>
              <a:t>Tutorial 5.1.1</a:t>
            </a:r>
            <a:endParaRPr lang="en-US" dirty="0">
              <a:solidFill>
                <a:srgbClr val="FF0000"/>
              </a:solidFill>
            </a:endParaRPr>
          </a:p>
          <a:p>
            <a:pPr>
              <a:buNone/>
            </a:pPr>
            <a:endParaRPr lang="en-US" b="1" dirty="0"/>
          </a:p>
          <a:p>
            <a:pPr>
              <a:buNone/>
            </a:pPr>
            <a:r>
              <a:rPr lang="en-US" b="1" dirty="0">
                <a:solidFill>
                  <a:srgbClr val="FF0000"/>
                </a:solidFill>
              </a:rPr>
              <a:t>Roadmap for Safe GenAI Integration</a:t>
            </a:r>
          </a:p>
          <a:p>
            <a:pPr>
              <a:buNone/>
            </a:pPr>
            <a:endParaRPr lang="en-US" dirty="0"/>
          </a:p>
          <a:p>
            <a:pPr>
              <a:buNone/>
            </a:pPr>
            <a:r>
              <a:rPr lang="en-US" dirty="0"/>
              <a:t>The most effective way to prevent Shadow AI is not a ban, but a structured integration strategy.</a:t>
            </a:r>
          </a:p>
          <a:p>
            <a:pPr>
              <a:buNone/>
            </a:pPr>
            <a:endParaRPr lang="en-US" dirty="0"/>
          </a:p>
          <a:p>
            <a:pPr>
              <a:buFont typeface="Arial" panose="020B0604020202020204" pitchFamily="34" charset="0"/>
              <a:buChar char="•"/>
            </a:pPr>
            <a:r>
              <a:rPr lang="en-US" b="1" dirty="0"/>
              <a:t>Standardized Integration:</a:t>
            </a:r>
            <a:r>
              <a:rPr lang="en-US" dirty="0"/>
              <a:t> Establish a formal roadmap for deploying GenAI across test processes to ensure all tools meet security benchmarks.</a:t>
            </a:r>
          </a:p>
          <a:p>
            <a:pPr>
              <a:buFont typeface="Arial" panose="020B0604020202020204" pitchFamily="34" charset="0"/>
              <a:buChar char="•"/>
            </a:pPr>
            <a:endParaRPr lang="en-US" dirty="0"/>
          </a:p>
          <a:p>
            <a:pPr>
              <a:buFont typeface="Arial" panose="020B0604020202020204" pitchFamily="34" charset="0"/>
              <a:buChar char="•"/>
            </a:pPr>
            <a:r>
              <a:rPr lang="en-US" b="1" dirty="0"/>
              <a:t>Approved Infrastructure:</a:t>
            </a:r>
            <a:r>
              <a:rPr lang="en-US" dirty="0"/>
              <a:t> Provide testers with sanctioned, enterprise-grade LLM platforms or in-house custom tools where data privacy is guaranteed.</a:t>
            </a:r>
          </a:p>
          <a:p>
            <a:pPr>
              <a:buFont typeface="Arial" panose="020B0604020202020204" pitchFamily="34" charset="0"/>
              <a:buChar char="•"/>
            </a:pPr>
            <a:endParaRPr lang="en-US" dirty="0"/>
          </a:p>
          <a:p>
            <a:pPr>
              <a:buFont typeface="Arial" panose="020B0604020202020204" pitchFamily="34" charset="0"/>
              <a:buChar char="•"/>
            </a:pPr>
            <a:r>
              <a:rPr lang="en-US" b="1" dirty="0"/>
              <a:t>Policy and Education:</a:t>
            </a:r>
            <a:r>
              <a:rPr lang="en-US" dirty="0"/>
              <a:t> Clearly define which data is "safe" for AI interaction and train the testing team on the legal and security risks of using personal accounts.</a:t>
            </a:r>
          </a:p>
          <a:p>
            <a:pPr>
              <a:buFont typeface="Arial" panose="020B0604020202020204" pitchFamily="34" charset="0"/>
              <a:buChar char="•"/>
            </a:pPr>
            <a:endParaRPr lang="en-US" dirty="0"/>
          </a:p>
          <a:p>
            <a:pPr>
              <a:buFont typeface="Arial" panose="020B0604020202020204" pitchFamily="34" charset="0"/>
              <a:buChar char="•"/>
            </a:pPr>
            <a:r>
              <a:rPr lang="en-US" b="1" dirty="0"/>
              <a:t>Proactive Monitoring:</a:t>
            </a:r>
            <a:r>
              <a:rPr lang="en-US" dirty="0"/>
              <a:t> Implement </a:t>
            </a:r>
            <a:r>
              <a:rPr lang="en-US" dirty="0" err="1"/>
              <a:t>LLMOps</a:t>
            </a:r>
            <a:r>
              <a:rPr lang="en-US" dirty="0"/>
              <a:t> to provide visibility into AI usage, ensuring that GenAI remains a controlled asset rather than a hidden liability.</a:t>
            </a:r>
          </a:p>
        </p:txBody>
      </p:sp>
    </p:spTree>
    <p:extLst>
      <p:ext uri="{BB962C8B-B14F-4D97-AF65-F5344CB8AC3E}">
        <p14:creationId xmlns:p14="http://schemas.microsoft.com/office/powerpoint/2010/main" val="3256668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339FA-3BE6-500F-0DDB-A33AE869EC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70469E-1AEA-AEEA-D845-D12080908DFD}"/>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961F16B5-187A-3C23-FEB5-FB5B612C3DDD}"/>
              </a:ext>
            </a:extLst>
          </p:cNvPr>
          <p:cNvSpPr txBox="1"/>
          <p:nvPr/>
        </p:nvSpPr>
        <p:spPr>
          <a:xfrm>
            <a:off x="575441" y="1496650"/>
            <a:ext cx="7307317" cy="923330"/>
          </a:xfrm>
          <a:prstGeom prst="rect">
            <a:avLst/>
          </a:prstGeom>
          <a:noFill/>
        </p:spPr>
        <p:txBody>
          <a:bodyPr wrap="square">
            <a:spAutoFit/>
          </a:bodyPr>
          <a:lstStyle/>
          <a:p>
            <a:pPr>
              <a:buNone/>
            </a:pPr>
            <a:r>
              <a:rPr lang="en-US" b="1" dirty="0"/>
              <a:t>Tutorial 5.1.2</a:t>
            </a:r>
            <a:endParaRPr lang="en-US" dirty="0"/>
          </a:p>
          <a:p>
            <a:pPr>
              <a:buFont typeface="Arial" panose="020B0604020202020204" pitchFamily="34" charset="0"/>
              <a:buChar char="•"/>
            </a:pPr>
            <a:r>
              <a:rPr lang="en-US" b="1" dirty="0"/>
              <a:t>GenAI-5.1.2 (K2):</a:t>
            </a:r>
            <a:r>
              <a:rPr lang="en-US" dirty="0"/>
              <a:t> Explain the key aspects to consider when defining a Generative AI strategy for software testing.</a:t>
            </a:r>
          </a:p>
        </p:txBody>
      </p:sp>
    </p:spTree>
    <p:extLst>
      <p:ext uri="{BB962C8B-B14F-4D97-AF65-F5344CB8AC3E}">
        <p14:creationId xmlns:p14="http://schemas.microsoft.com/office/powerpoint/2010/main" val="3158350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02B28-270E-DF90-9C3A-6B4CBF2A19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0B6197-9E5D-FC3D-7382-9B298F989998}"/>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3" name="TextBox 2">
            <a:extLst>
              <a:ext uri="{FF2B5EF4-FFF2-40B4-BE49-F238E27FC236}">
                <a16:creationId xmlns:a16="http://schemas.microsoft.com/office/drawing/2014/main" id="{0E14BB62-083D-2988-FB55-57DED9CD7421}"/>
              </a:ext>
            </a:extLst>
          </p:cNvPr>
          <p:cNvSpPr txBox="1"/>
          <p:nvPr/>
        </p:nvSpPr>
        <p:spPr>
          <a:xfrm>
            <a:off x="677334" y="1331312"/>
            <a:ext cx="8596667" cy="5078313"/>
          </a:xfrm>
          <a:prstGeom prst="rect">
            <a:avLst/>
          </a:prstGeom>
          <a:noFill/>
        </p:spPr>
        <p:txBody>
          <a:bodyPr wrap="square">
            <a:spAutoFit/>
          </a:bodyPr>
          <a:lstStyle/>
          <a:p>
            <a:r>
              <a:rPr lang="en-US" b="1" dirty="0">
                <a:solidFill>
                  <a:srgbClr val="FF0000"/>
                </a:solidFill>
              </a:rPr>
              <a:t>Tutorial 5.1.2</a:t>
            </a:r>
            <a:endParaRPr lang="en-US" dirty="0">
              <a:solidFill>
                <a:srgbClr val="FF0000"/>
              </a:solidFill>
            </a:endParaRPr>
          </a:p>
          <a:p>
            <a:pPr>
              <a:buNone/>
            </a:pPr>
            <a:endParaRPr lang="en-US" b="1" dirty="0"/>
          </a:p>
          <a:p>
            <a:pPr>
              <a:buNone/>
            </a:pPr>
            <a:r>
              <a:rPr lang="en-US" b="1" dirty="0">
                <a:solidFill>
                  <a:srgbClr val="FF0000"/>
                </a:solidFill>
              </a:rPr>
              <a:t>Key Aspects of a Generative AI Strategy in Software Testing</a:t>
            </a:r>
          </a:p>
          <a:p>
            <a:pPr>
              <a:buNone/>
            </a:pPr>
            <a:endParaRPr lang="en-US" dirty="0"/>
          </a:p>
          <a:p>
            <a:pPr>
              <a:buNone/>
            </a:pPr>
            <a:r>
              <a:rPr lang="en-US" dirty="0"/>
              <a:t>For successful implementation of a GenAI strategy in testing, organizations must carefully consider several key factors:</a:t>
            </a:r>
          </a:p>
          <a:p>
            <a:pPr>
              <a:buNone/>
            </a:pPr>
            <a:endParaRPr lang="en-US" dirty="0"/>
          </a:p>
          <a:p>
            <a:pPr>
              <a:buFont typeface="Arial" panose="020B0604020202020204" pitchFamily="34" charset="0"/>
              <a:buChar char="•"/>
            </a:pPr>
            <a:r>
              <a:rPr lang="en-US" b="1" dirty="0"/>
              <a:t>Define Measurable Test Objectives:</a:t>
            </a:r>
            <a:r>
              <a:rPr lang="en-US" dirty="0"/>
              <a:t> Successful integration starts with clear KPIs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Productivity:</a:t>
            </a:r>
            <a:r>
              <a:rPr lang="en-US" dirty="0"/>
              <a:t> Increasing the volume of test cases created per sprint</a:t>
            </a:r>
          </a:p>
          <a:p>
            <a:pPr marL="742950" lvl="1" indent="-285750">
              <a:buFont typeface="Arial" panose="020B0604020202020204" pitchFamily="34" charset="0"/>
              <a:buChar char="•"/>
            </a:pPr>
            <a:r>
              <a:rPr lang="en-US" b="1" dirty="0"/>
              <a:t>Efficiency:</a:t>
            </a:r>
            <a:r>
              <a:rPr lang="en-US" dirty="0"/>
              <a:t> Shortening overall test execution cycles</a:t>
            </a:r>
          </a:p>
          <a:p>
            <a:pPr marL="742950" lvl="1" indent="-285750">
              <a:buFont typeface="Arial" panose="020B0604020202020204" pitchFamily="34" charset="0"/>
              <a:buChar char="•"/>
            </a:pPr>
            <a:r>
              <a:rPr lang="en-US" b="1" dirty="0"/>
              <a:t>Quality:</a:t>
            </a:r>
            <a:r>
              <a:rPr lang="en-US" dirty="0"/>
              <a:t> Improving defect detection density and requirement coverage</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Intelligent LLM Selection:</a:t>
            </a:r>
            <a:r>
              <a:rPr lang="en-US" dirty="0"/>
              <a:t> Choosing the right model (LLM/SLM) that aligns with your specific objectives</a:t>
            </a:r>
          </a:p>
          <a:p>
            <a:pPr>
              <a:buFont typeface="Arial" panose="020B0604020202020204" pitchFamily="34" charset="0"/>
              <a:buChar char="•"/>
            </a:pPr>
            <a:endParaRPr lang="en-US" dirty="0"/>
          </a:p>
          <a:p>
            <a:pPr>
              <a:buFont typeface="Arial" panose="020B0604020202020204" pitchFamily="34" charset="0"/>
              <a:buChar char="•"/>
            </a:pPr>
            <a:r>
              <a:rPr lang="en-US" b="1" dirty="0"/>
              <a:t>Infrastructure Alignment:</a:t>
            </a:r>
            <a:r>
              <a:rPr lang="en-US" dirty="0"/>
              <a:t> Ensuring the AI tools are compatible with your current test management stack and can scale to meet enterprise demand.</a:t>
            </a:r>
          </a:p>
        </p:txBody>
      </p:sp>
    </p:spTree>
    <p:extLst>
      <p:ext uri="{BB962C8B-B14F-4D97-AF65-F5344CB8AC3E}">
        <p14:creationId xmlns:p14="http://schemas.microsoft.com/office/powerpoint/2010/main" val="783261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25AC-A208-813F-4A4D-02B935F85F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D9CE8B-394A-7CBD-FB33-31D884DCF634}"/>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00BCFB26-B2D5-AF4D-D0AC-05DDA86026FA}"/>
              </a:ext>
            </a:extLst>
          </p:cNvPr>
          <p:cNvSpPr>
            <a:spLocks noGrp="1"/>
          </p:cNvSpPr>
          <p:nvPr>
            <p:ph idx="1"/>
          </p:nvPr>
        </p:nvSpPr>
        <p:spPr>
          <a:xfrm>
            <a:off x="597764" y="1270000"/>
            <a:ext cx="8596668" cy="4777117"/>
          </a:xfrm>
        </p:spPr>
        <p:txBody>
          <a:bodyPr>
            <a:noAutofit/>
          </a:bodyPr>
          <a:lstStyle/>
          <a:p>
            <a:r>
              <a:rPr lang="en-US" sz="1600" b="1" dirty="0">
                <a:solidFill>
                  <a:srgbClr val="FF0000"/>
                </a:solidFill>
              </a:rPr>
              <a:t>Tutorial 5.1.2</a:t>
            </a:r>
            <a:endParaRPr lang="en-US" sz="1600" b="1" dirty="0"/>
          </a:p>
          <a:p>
            <a:pPr marL="0" indent="0">
              <a:buNone/>
            </a:pPr>
            <a:r>
              <a:rPr lang="en-US" sz="1600" b="1" dirty="0">
                <a:solidFill>
                  <a:srgbClr val="FF0000"/>
                </a:solidFill>
              </a:rPr>
              <a:t>Data Quality and Team Skills</a:t>
            </a:r>
            <a:endParaRPr lang="en-US" sz="1600" b="1" dirty="0"/>
          </a:p>
          <a:p>
            <a:r>
              <a:rPr lang="en-US" sz="1600" dirty="0"/>
              <a:t>Generative AI is only as good as the context it is given</a:t>
            </a:r>
          </a:p>
          <a:p>
            <a:r>
              <a:rPr lang="en-US" sz="1600" dirty="0"/>
              <a:t>High-quality, accurate, and relevant input data is the only way to achieve results that can be trusted </a:t>
            </a:r>
          </a:p>
          <a:p>
            <a:r>
              <a:rPr lang="en-US" sz="1600" dirty="0"/>
              <a:t>All input data must be guarded by robust security procedures to prevent leakage of proprietary logic </a:t>
            </a:r>
          </a:p>
          <a:p>
            <a:r>
              <a:rPr lang="en-US" sz="1600" dirty="0"/>
              <a:t>Teams must be equipped with more than just tool knowledge </a:t>
            </a:r>
          </a:p>
          <a:p>
            <a:pPr lvl="1"/>
            <a:r>
              <a:rPr lang="en-US" b="1" dirty="0"/>
              <a:t>Technical Skills:</a:t>
            </a:r>
            <a:r>
              <a:rPr lang="en-US" dirty="0"/>
              <a:t> Prompt engineering and infrastructure management </a:t>
            </a:r>
          </a:p>
          <a:p>
            <a:pPr lvl="1"/>
            <a:r>
              <a:rPr lang="en-US" b="1" dirty="0"/>
              <a:t>Ethical Skills:</a:t>
            </a:r>
            <a:r>
              <a:rPr lang="en-US" dirty="0"/>
              <a:t> Understanding bias and responsible AI usage </a:t>
            </a:r>
          </a:p>
          <a:p>
            <a:r>
              <a:rPr lang="en-US" sz="1600" dirty="0"/>
              <a:t>Specific metrics must be collected to measure the effectiveness of GenAI results against traditional benchmarks</a:t>
            </a:r>
          </a:p>
          <a:p>
            <a:endParaRPr lang="en-US" sz="1600" dirty="0">
              <a:solidFill>
                <a:srgbClr val="FF0000"/>
              </a:solidFill>
            </a:endParaRPr>
          </a:p>
          <a:p>
            <a:endParaRPr lang="en-IN" sz="1600" dirty="0"/>
          </a:p>
        </p:txBody>
      </p:sp>
    </p:spTree>
    <p:extLst>
      <p:ext uri="{BB962C8B-B14F-4D97-AF65-F5344CB8AC3E}">
        <p14:creationId xmlns:p14="http://schemas.microsoft.com/office/powerpoint/2010/main" val="3315843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343E3-FE65-1274-B96F-517FC8456A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E0D29D-29AB-D7B0-EF6D-C9875E0DB8BF}"/>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D680F665-C2C8-CD04-56E4-BF937D2F4BE1}"/>
              </a:ext>
            </a:extLst>
          </p:cNvPr>
          <p:cNvSpPr>
            <a:spLocks noGrp="1"/>
          </p:cNvSpPr>
          <p:nvPr>
            <p:ph idx="1"/>
          </p:nvPr>
        </p:nvSpPr>
        <p:spPr>
          <a:xfrm>
            <a:off x="606390" y="1395961"/>
            <a:ext cx="8596668" cy="3880773"/>
          </a:xfrm>
        </p:spPr>
        <p:txBody>
          <a:bodyPr>
            <a:normAutofit fontScale="85000" lnSpcReduction="10000"/>
          </a:bodyPr>
          <a:lstStyle/>
          <a:p>
            <a:pPr marL="0" indent="0">
              <a:buNone/>
            </a:pPr>
            <a:r>
              <a:rPr lang="en-US" b="1" dirty="0">
                <a:solidFill>
                  <a:srgbClr val="FF0000"/>
                </a:solidFill>
              </a:rPr>
              <a:t>Tutorial 5.1.2</a:t>
            </a:r>
          </a:p>
          <a:p>
            <a:pPr marL="0" indent="0">
              <a:buNone/>
            </a:pPr>
            <a:endParaRPr lang="en-US" b="1" dirty="0"/>
          </a:p>
          <a:p>
            <a:pPr marL="0" indent="0">
              <a:buNone/>
            </a:pPr>
            <a:r>
              <a:rPr lang="en-US" b="1" dirty="0">
                <a:solidFill>
                  <a:srgbClr val="FF0000"/>
                </a:solidFill>
              </a:rPr>
              <a:t>Compliance, Ethics, and Quality Gates</a:t>
            </a:r>
          </a:p>
          <a:p>
            <a:r>
              <a:rPr lang="en-US" dirty="0"/>
              <a:t>To maintain integrity, the strategy must include a rigorous governance layer</a:t>
            </a:r>
          </a:p>
          <a:p>
            <a:r>
              <a:rPr lang="en-US" b="1" dirty="0"/>
              <a:t>Process Guidelines :-</a:t>
            </a:r>
            <a:r>
              <a:rPr lang="en-US" dirty="0"/>
              <a:t> Establish clear "rules of the road," especially regarding the handling of sensitive data. </a:t>
            </a:r>
          </a:p>
          <a:p>
            <a:r>
              <a:rPr lang="en-US" b="1" dirty="0"/>
              <a:t>Transparency Obligations :-</a:t>
            </a:r>
            <a:r>
              <a:rPr lang="en-US" dirty="0"/>
              <a:t> Full disclosure of "what was AI-generated" — essential for audit trails and maintenance. </a:t>
            </a:r>
          </a:p>
          <a:p>
            <a:r>
              <a:rPr lang="en-US" b="1" dirty="0"/>
              <a:t>GenAI Quality Gates :-</a:t>
            </a:r>
            <a:r>
              <a:rPr lang="en-US" dirty="0"/>
              <a:t> Implementing mandatory review cycles for all AI-generated </a:t>
            </a:r>
            <a:r>
              <a:rPr lang="en-US" dirty="0" err="1"/>
              <a:t>testware</a:t>
            </a:r>
            <a:r>
              <a:rPr lang="en-US" dirty="0"/>
              <a:t>. </a:t>
            </a:r>
          </a:p>
          <a:p>
            <a:pPr lvl="1"/>
            <a:r>
              <a:rPr lang="en-US" dirty="0"/>
              <a:t>No AI-generated script or case is pushed to production without a human-in-the-loop review. </a:t>
            </a:r>
          </a:p>
          <a:p>
            <a:r>
              <a:rPr lang="en-US" b="1" dirty="0"/>
              <a:t>Regulatory Alignment :-</a:t>
            </a:r>
            <a:r>
              <a:rPr lang="en-US" dirty="0"/>
              <a:t> Ensuring all processes meet regional and industry-specific ethical and legal standards. </a:t>
            </a:r>
          </a:p>
          <a:p>
            <a:endParaRPr lang="en-IN" sz="1400" dirty="0"/>
          </a:p>
        </p:txBody>
      </p:sp>
    </p:spTree>
    <p:extLst>
      <p:ext uri="{BB962C8B-B14F-4D97-AF65-F5344CB8AC3E}">
        <p14:creationId xmlns:p14="http://schemas.microsoft.com/office/powerpoint/2010/main" val="4102210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94FA7-5521-5175-9973-63B1BFC92B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7B19BE-5AD7-CA2E-7F9F-E76DDE5EB466}"/>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3F161020-370E-3820-1EF0-3FF942BBFF61}"/>
              </a:ext>
            </a:extLst>
          </p:cNvPr>
          <p:cNvSpPr>
            <a:spLocks noGrp="1"/>
          </p:cNvSpPr>
          <p:nvPr>
            <p:ph idx="1"/>
          </p:nvPr>
        </p:nvSpPr>
        <p:spPr>
          <a:xfrm>
            <a:off x="677334" y="1270000"/>
            <a:ext cx="8596668" cy="4621764"/>
          </a:xfrm>
        </p:spPr>
        <p:txBody>
          <a:bodyPr>
            <a:noAutofit/>
          </a:bodyPr>
          <a:lstStyle/>
          <a:p>
            <a:pPr marL="0" indent="0">
              <a:buNone/>
            </a:pPr>
            <a:r>
              <a:rPr lang="en-US" sz="1600" dirty="0">
                <a:solidFill>
                  <a:srgbClr val="FF0000"/>
                </a:solidFill>
              </a:rPr>
              <a:t>5.1.3 Selecting LLMs/SLMs for Software Test Tasks</a:t>
            </a:r>
          </a:p>
          <a:p>
            <a:pPr marL="0" indent="0">
              <a:buNone/>
            </a:pPr>
            <a:r>
              <a:rPr lang="en-US" sz="1600" dirty="0">
                <a:solidFill>
                  <a:schemeClr val="tx1"/>
                </a:solidFill>
              </a:rPr>
              <a:t>Selecting LLMs/SLMs for test tasks requires careful consideration of several key criteria: </a:t>
            </a:r>
          </a:p>
          <a:p>
            <a:r>
              <a:rPr lang="en-US" sz="1600" dirty="0">
                <a:solidFill>
                  <a:schemeClr val="tx1"/>
                </a:solidFill>
              </a:rPr>
              <a:t>Model performance: Evaluate the model’s performance for the targeted test tasks against the organization's benchmarks using metrics</a:t>
            </a:r>
          </a:p>
          <a:p>
            <a:r>
              <a:rPr lang="en-US" sz="1600" dirty="0">
                <a:solidFill>
                  <a:schemeClr val="tx1"/>
                </a:solidFill>
              </a:rPr>
              <a:t>Fine-tuning potential: Evaluate whether it is possible and useful to fine-tune the language model (LLM or SLM) with domain-specific data to improve performance for a given use case,</a:t>
            </a:r>
          </a:p>
          <a:p>
            <a:r>
              <a:rPr lang="en-US" sz="1600" dirty="0">
                <a:solidFill>
                  <a:schemeClr val="tx1"/>
                </a:solidFill>
              </a:rPr>
              <a:t>Recurring cost: Consider the recurring costs of using the LLM/SLM, including licensing fees and operational expenses, to ensure that it fits within the organization's budget for the targeted test tasks.</a:t>
            </a:r>
          </a:p>
          <a:p>
            <a:r>
              <a:rPr lang="en-US" sz="1600" dirty="0">
                <a:solidFill>
                  <a:schemeClr val="tx1"/>
                </a:solidFill>
              </a:rPr>
              <a:t>Community and support: Choose models with active community support and detailed documentation to aid in implementation and troubleshooting. </a:t>
            </a:r>
            <a:endParaRPr lang="en-IN" sz="1600" dirty="0">
              <a:solidFill>
                <a:schemeClr val="tx1"/>
              </a:solidFill>
            </a:endParaRPr>
          </a:p>
        </p:txBody>
      </p:sp>
    </p:spTree>
    <p:extLst>
      <p:ext uri="{BB962C8B-B14F-4D97-AF65-F5344CB8AC3E}">
        <p14:creationId xmlns:p14="http://schemas.microsoft.com/office/powerpoint/2010/main" val="1871373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1826-DE60-F7D5-5B37-D4C4AD2E32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895775-D08D-BB54-3D83-EE3F3607B1BE}"/>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CD60A6D4-F78D-CE38-2077-545E4244AED3}"/>
              </a:ext>
            </a:extLst>
          </p:cNvPr>
          <p:cNvSpPr>
            <a:spLocks noGrp="1"/>
          </p:cNvSpPr>
          <p:nvPr>
            <p:ph idx="1"/>
          </p:nvPr>
        </p:nvSpPr>
        <p:spPr>
          <a:xfrm>
            <a:off x="606390" y="1395961"/>
            <a:ext cx="8596668" cy="3880773"/>
          </a:xfrm>
        </p:spPr>
        <p:txBody>
          <a:bodyPr>
            <a:normAutofit/>
          </a:bodyPr>
          <a:lstStyle/>
          <a:p>
            <a:r>
              <a:rPr lang="en-US" sz="1600" dirty="0">
                <a:solidFill>
                  <a:srgbClr val="FF0000"/>
                </a:solidFill>
              </a:rPr>
              <a:t>5.1.4 Phases when Adopting Generative AI in Software Testing</a:t>
            </a:r>
          </a:p>
          <a:p>
            <a:r>
              <a:rPr lang="en-US" sz="1600" dirty="0"/>
              <a:t>GenAI within a test organization involves three key phases: </a:t>
            </a:r>
          </a:p>
          <a:p>
            <a:r>
              <a:rPr lang="en-US" sz="1600" dirty="0">
                <a:solidFill>
                  <a:srgbClr val="FF0000"/>
                </a:solidFill>
              </a:rPr>
              <a:t>Discovery - </a:t>
            </a:r>
            <a:r>
              <a:rPr lang="en-US" sz="1600" dirty="0"/>
              <a:t>The first phase focuses on awareness and capability building. Activities include training test teams on GenAI concepts, providing access to LLMs/SLMs, and experimenting with initial use cases to familiarize testers with GenAI and build confidence. </a:t>
            </a:r>
          </a:p>
          <a:p>
            <a:r>
              <a:rPr lang="en-US" sz="1600" dirty="0">
                <a:solidFill>
                  <a:srgbClr val="FF0000"/>
                </a:solidFill>
              </a:rPr>
              <a:t>Initiation</a:t>
            </a:r>
            <a:r>
              <a:rPr lang="en-US" sz="1600" dirty="0"/>
              <a:t> - This phase includes evaluating LLM-powered test infrastructure, developing expertise, and ensuring alignment with the organization's needs.</a:t>
            </a:r>
          </a:p>
          <a:p>
            <a:r>
              <a:rPr lang="en-US" sz="1600" dirty="0">
                <a:solidFill>
                  <a:srgbClr val="FF0000"/>
                </a:solidFill>
              </a:rPr>
              <a:t>Utilization and iteration - </a:t>
            </a:r>
            <a:r>
              <a:rPr lang="en-US" sz="1600" dirty="0"/>
              <a:t> At this advanced phase, organizations fully integrate GenAI into their test processes. Continuous monitoring of the progress of GenAI for software testing and related tools is in place, as well as measurement and management of the transformation to ensure sustainable benefits and scalability. </a:t>
            </a:r>
            <a:endParaRPr lang="en-IN" sz="1600" dirty="0"/>
          </a:p>
        </p:txBody>
      </p:sp>
    </p:spTree>
    <p:extLst>
      <p:ext uri="{BB962C8B-B14F-4D97-AF65-F5344CB8AC3E}">
        <p14:creationId xmlns:p14="http://schemas.microsoft.com/office/powerpoint/2010/main" val="4065898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D4655-D496-903D-5A99-F0875D78D1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119AE6-92C4-FC40-4724-05763F459796}"/>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071688EF-3B1A-0EE0-D1F0-7D864C3AB793}"/>
              </a:ext>
            </a:extLst>
          </p:cNvPr>
          <p:cNvSpPr>
            <a:spLocks noGrp="1"/>
          </p:cNvSpPr>
          <p:nvPr>
            <p:ph idx="1"/>
          </p:nvPr>
        </p:nvSpPr>
        <p:spPr>
          <a:xfrm>
            <a:off x="606390" y="1395961"/>
            <a:ext cx="8596668" cy="3880773"/>
          </a:xfrm>
        </p:spPr>
        <p:txBody>
          <a:bodyPr>
            <a:normAutofit/>
          </a:bodyPr>
          <a:lstStyle/>
          <a:p>
            <a:r>
              <a:rPr lang="en-US" sz="1600" dirty="0"/>
              <a:t>5.2 Manage Change when Adopting Generative AI for Software Testing</a:t>
            </a:r>
          </a:p>
          <a:p>
            <a:r>
              <a:rPr lang="en-US" sz="1600" dirty="0">
                <a:solidFill>
                  <a:srgbClr val="FF0000"/>
                </a:solidFill>
              </a:rPr>
              <a:t>5.2.1 Essential Skills and Knowledge for Testing with Generative AI </a:t>
            </a:r>
          </a:p>
          <a:p>
            <a:r>
              <a:rPr lang="en-US" sz="1600" dirty="0">
                <a:solidFill>
                  <a:srgbClr val="FF0000"/>
                </a:solidFill>
              </a:rPr>
              <a:t>Successful integration of GenAI into testing requires </a:t>
            </a:r>
          </a:p>
          <a:p>
            <a:pPr marL="0" indent="0">
              <a:buNone/>
            </a:pPr>
            <a:r>
              <a:rPr lang="en-US" sz="1600" dirty="0"/>
              <a:t> 1.Mastering prompt engineering techniques</a:t>
            </a:r>
          </a:p>
          <a:p>
            <a:pPr marL="0" indent="0">
              <a:buNone/>
            </a:pPr>
            <a:r>
              <a:rPr lang="en-US" sz="1600" dirty="0"/>
              <a:t> 2.Understanding model context windows</a:t>
            </a:r>
          </a:p>
          <a:p>
            <a:pPr marL="0" indent="0">
              <a:buNone/>
            </a:pPr>
            <a:r>
              <a:rPr lang="en-US" sz="1600" dirty="0"/>
              <a:t> 3.Developing test review methods. </a:t>
            </a:r>
          </a:p>
          <a:p>
            <a:pPr marL="0" indent="0">
              <a:buNone/>
            </a:pPr>
            <a:r>
              <a:rPr lang="en-US" sz="1600" dirty="0"/>
              <a:t>Testers must combine domain and test expertise with AI skills to evaluate LLM-driven testing in tasks such as test case generation, defect report analysis, and test data generation. </a:t>
            </a:r>
            <a:endParaRPr lang="en-IN" sz="1600" dirty="0"/>
          </a:p>
        </p:txBody>
      </p:sp>
    </p:spTree>
    <p:extLst>
      <p:ext uri="{BB962C8B-B14F-4D97-AF65-F5344CB8AC3E}">
        <p14:creationId xmlns:p14="http://schemas.microsoft.com/office/powerpoint/2010/main" val="3627455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0D4D-E60D-063D-4E1C-01A4F5E4BD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9BAF09-5078-A843-A60B-BF8ECD79A49F}"/>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7AC77E81-913C-46B8-5EA2-1E93732B1ACE}"/>
              </a:ext>
            </a:extLst>
          </p:cNvPr>
          <p:cNvSpPr>
            <a:spLocks noGrp="1"/>
          </p:cNvSpPr>
          <p:nvPr>
            <p:ph idx="1"/>
          </p:nvPr>
        </p:nvSpPr>
        <p:spPr>
          <a:xfrm>
            <a:off x="597763" y="1270000"/>
            <a:ext cx="8596668" cy="6096958"/>
          </a:xfrm>
        </p:spPr>
        <p:txBody>
          <a:bodyPr>
            <a:noAutofit/>
          </a:bodyPr>
          <a:lstStyle/>
          <a:p>
            <a:r>
              <a:rPr lang="en-US" sz="1600" dirty="0"/>
              <a:t>5.2 Manage Change when Adopting Generative AI for Software Testing</a:t>
            </a:r>
          </a:p>
          <a:p>
            <a:r>
              <a:rPr lang="en-US" sz="1600" dirty="0">
                <a:solidFill>
                  <a:srgbClr val="FF0000"/>
                </a:solidFill>
              </a:rPr>
              <a:t>5.2.2 Building Generative AI Capabilities in Test Teams</a:t>
            </a:r>
          </a:p>
          <a:p>
            <a:r>
              <a:rPr lang="en-US" sz="1600" dirty="0"/>
              <a:t>A </a:t>
            </a:r>
            <a:r>
              <a:rPr lang="en-US" sz="1600" b="1" dirty="0"/>
              <a:t>hands-on approach</a:t>
            </a:r>
            <a:r>
              <a:rPr lang="en-US" sz="1600" dirty="0"/>
              <a:t> is essential for effectively training test teams in Generative AI (GenAI). </a:t>
            </a:r>
          </a:p>
          <a:p>
            <a:r>
              <a:rPr lang="en-US" sz="1600" dirty="0"/>
              <a:t>Training should include: </a:t>
            </a:r>
          </a:p>
          <a:p>
            <a:pPr lvl="1"/>
            <a:r>
              <a:rPr lang="en-US" dirty="0"/>
              <a:t>Practicing with various </a:t>
            </a:r>
            <a:r>
              <a:rPr lang="en-US" b="1" dirty="0"/>
              <a:t>LLMs (Large Language Models)</a:t>
            </a:r>
            <a:r>
              <a:rPr lang="en-US" dirty="0"/>
              <a:t> and </a:t>
            </a:r>
            <a:r>
              <a:rPr lang="en-US" b="1" dirty="0"/>
              <a:t>SLMs (Small Language Models)</a:t>
            </a:r>
            <a:r>
              <a:rPr lang="en-US" dirty="0"/>
              <a:t> </a:t>
            </a:r>
          </a:p>
          <a:p>
            <a:pPr lvl="1"/>
            <a:r>
              <a:rPr lang="en-US" dirty="0"/>
              <a:t>Following </a:t>
            </a:r>
            <a:r>
              <a:rPr lang="en-US" b="1" dirty="0"/>
              <a:t>structured learning paths</a:t>
            </a:r>
            <a:r>
              <a:rPr lang="en-US" dirty="0"/>
              <a:t> </a:t>
            </a:r>
          </a:p>
          <a:p>
            <a:pPr lvl="1"/>
            <a:r>
              <a:rPr lang="en-US" dirty="0"/>
              <a:t>Encouraging </a:t>
            </a:r>
            <a:r>
              <a:rPr lang="en-US" b="1" dirty="0"/>
              <a:t>knowledge sharing within the organization</a:t>
            </a:r>
            <a:r>
              <a:rPr lang="en-US" dirty="0"/>
              <a:t> </a:t>
            </a:r>
          </a:p>
          <a:p>
            <a:r>
              <a:rPr lang="en-US" sz="1600" dirty="0"/>
              <a:t>Focus on </a:t>
            </a:r>
            <a:r>
              <a:rPr lang="en-US" sz="1600" b="1" dirty="0"/>
              <a:t>developing practical skills</a:t>
            </a:r>
            <a:r>
              <a:rPr lang="en-US" sz="1600" dirty="0"/>
              <a:t> through: </a:t>
            </a:r>
          </a:p>
          <a:p>
            <a:pPr lvl="1"/>
            <a:r>
              <a:rPr lang="en-US" dirty="0"/>
              <a:t>Guided exercises </a:t>
            </a:r>
          </a:p>
          <a:p>
            <a:pPr lvl="1"/>
            <a:r>
              <a:rPr lang="en-US" dirty="0"/>
              <a:t>Peer learning </a:t>
            </a:r>
          </a:p>
          <a:p>
            <a:pPr lvl="1"/>
            <a:r>
              <a:rPr lang="en-US" dirty="0"/>
              <a:t>Gradual integration of AI into daily testing tasks </a:t>
            </a:r>
          </a:p>
          <a:p>
            <a:pPr marL="0" indent="0">
              <a:buNone/>
            </a:pPr>
            <a:endParaRPr lang="en-IN" sz="1600" dirty="0"/>
          </a:p>
        </p:txBody>
      </p:sp>
    </p:spTree>
    <p:extLst>
      <p:ext uri="{BB962C8B-B14F-4D97-AF65-F5344CB8AC3E}">
        <p14:creationId xmlns:p14="http://schemas.microsoft.com/office/powerpoint/2010/main" val="2872348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FAA7D-B600-A5AA-5984-81E7CD97DB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82E068-A20D-E258-EEA6-53C20EC5210F}"/>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7F077E16-1598-2FDF-3FCC-9028D450E41D}"/>
              </a:ext>
            </a:extLst>
          </p:cNvPr>
          <p:cNvSpPr>
            <a:spLocks noGrp="1"/>
          </p:cNvSpPr>
          <p:nvPr>
            <p:ph idx="1"/>
          </p:nvPr>
        </p:nvSpPr>
        <p:spPr>
          <a:xfrm>
            <a:off x="597763" y="1270000"/>
            <a:ext cx="8596668" cy="6096958"/>
          </a:xfrm>
        </p:spPr>
        <p:txBody>
          <a:bodyPr>
            <a:noAutofit/>
          </a:bodyPr>
          <a:lstStyle/>
          <a:p>
            <a:r>
              <a:rPr lang="en-US" sz="1600" dirty="0"/>
              <a:t>5.2 Manage Change when Adopting Generative AI for Software Testing</a:t>
            </a:r>
          </a:p>
          <a:p>
            <a:r>
              <a:rPr lang="en-US" sz="1600" dirty="0">
                <a:solidFill>
                  <a:srgbClr val="FF0000"/>
                </a:solidFill>
              </a:rPr>
              <a:t>5.2.2 Building Generative AI Capabilities in Test Teams</a:t>
            </a:r>
          </a:p>
          <a:p>
            <a:r>
              <a:rPr lang="en-US" sz="1600" dirty="0"/>
              <a:t>Test team members progress through stages: </a:t>
            </a:r>
          </a:p>
          <a:p>
            <a:pPr lvl="1"/>
            <a:r>
              <a:rPr lang="en-US" dirty="0"/>
              <a:t>Start with </a:t>
            </a:r>
            <a:r>
              <a:rPr lang="en-US" b="1" dirty="0"/>
              <a:t>basic prompt creation</a:t>
            </a:r>
            <a:r>
              <a:rPr lang="en-US" dirty="0"/>
              <a:t> </a:t>
            </a:r>
          </a:p>
          <a:p>
            <a:pPr lvl="1"/>
            <a:r>
              <a:rPr lang="en-US" dirty="0"/>
              <a:t>Move to </a:t>
            </a:r>
            <a:r>
              <a:rPr lang="en-US" b="1" dirty="0"/>
              <a:t>advanced, test-specific prompting techniques</a:t>
            </a:r>
            <a:endParaRPr lang="en-US" dirty="0"/>
          </a:p>
          <a:p>
            <a:r>
              <a:rPr lang="en-US" sz="1600" dirty="0"/>
              <a:t>Use of </a:t>
            </a:r>
            <a:r>
              <a:rPr lang="en-US" sz="1600" b="1" dirty="0"/>
              <a:t>prompt patterns</a:t>
            </a:r>
            <a:r>
              <a:rPr lang="en-US" sz="1600" dirty="0"/>
              <a:t>: </a:t>
            </a:r>
          </a:p>
          <a:p>
            <a:pPr lvl="1"/>
            <a:r>
              <a:rPr lang="en-US" dirty="0"/>
              <a:t>Reusable templates for crafting effective prompts </a:t>
            </a:r>
          </a:p>
          <a:p>
            <a:pPr lvl="1"/>
            <a:r>
              <a:rPr lang="en-US" dirty="0"/>
              <a:t>Help ensure </a:t>
            </a:r>
            <a:r>
              <a:rPr lang="en-US" b="1" dirty="0"/>
              <a:t>consistent and reliable outputs</a:t>
            </a:r>
            <a:r>
              <a:rPr lang="en-US" dirty="0"/>
              <a:t> </a:t>
            </a:r>
          </a:p>
          <a:p>
            <a:r>
              <a:rPr lang="en-US" sz="1600" dirty="0"/>
              <a:t>Establish </a:t>
            </a:r>
            <a:r>
              <a:rPr lang="en-US" sz="1600" b="1" dirty="0"/>
              <a:t>internal communities of practice</a:t>
            </a:r>
            <a:r>
              <a:rPr lang="en-US" sz="1600" dirty="0"/>
              <a:t> to: </a:t>
            </a:r>
          </a:p>
          <a:p>
            <a:pPr lvl="1"/>
            <a:r>
              <a:rPr lang="en-US" dirty="0"/>
              <a:t>Enable continuous knowledge sharing </a:t>
            </a:r>
          </a:p>
          <a:p>
            <a:pPr lvl="1"/>
            <a:r>
              <a:rPr lang="en-US" dirty="0"/>
              <a:t>Conduct regular meetings to: </a:t>
            </a:r>
          </a:p>
          <a:p>
            <a:pPr lvl="2"/>
            <a:r>
              <a:rPr lang="en-US" sz="1600" dirty="0"/>
              <a:t>Highlight successful GenAI use cases </a:t>
            </a:r>
          </a:p>
          <a:p>
            <a:pPr lvl="2"/>
            <a:r>
              <a:rPr lang="en-US" sz="1600" dirty="0"/>
              <a:t>Discuss challenges </a:t>
            </a:r>
          </a:p>
          <a:p>
            <a:pPr lvl="2"/>
            <a:r>
              <a:rPr lang="en-US" sz="1600" dirty="0"/>
              <a:t>Refine best practices </a:t>
            </a:r>
          </a:p>
          <a:p>
            <a:pPr marL="0" indent="0">
              <a:buNone/>
            </a:pPr>
            <a:endParaRPr lang="en-IN" sz="1600" dirty="0"/>
          </a:p>
        </p:txBody>
      </p:sp>
    </p:spTree>
    <p:extLst>
      <p:ext uri="{BB962C8B-B14F-4D97-AF65-F5344CB8AC3E}">
        <p14:creationId xmlns:p14="http://schemas.microsoft.com/office/powerpoint/2010/main" val="210449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9DF16-6C16-430F-1B19-9A4B29BCD3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53D5A1-9B38-460E-5A53-B52978C2F364}"/>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3D5579A6-6D8C-A233-3940-55A37BE7E467}"/>
              </a:ext>
            </a:extLst>
          </p:cNvPr>
          <p:cNvSpPr>
            <a:spLocks noGrp="1"/>
          </p:cNvSpPr>
          <p:nvPr>
            <p:ph idx="1"/>
          </p:nvPr>
        </p:nvSpPr>
        <p:spPr>
          <a:xfrm>
            <a:off x="597763" y="1270000"/>
            <a:ext cx="8596668" cy="6096958"/>
          </a:xfrm>
        </p:spPr>
        <p:txBody>
          <a:bodyPr>
            <a:noAutofit/>
          </a:bodyPr>
          <a:lstStyle/>
          <a:p>
            <a:r>
              <a:rPr lang="en-US" sz="1600" dirty="0"/>
              <a:t>5.2 Manage Change when Adopting Generative AI for Software Testing</a:t>
            </a:r>
          </a:p>
          <a:p>
            <a:r>
              <a:rPr lang="en-US" sz="1600" dirty="0">
                <a:solidFill>
                  <a:srgbClr val="FF0000"/>
                </a:solidFill>
              </a:rPr>
              <a:t>5.2.2 Building Generative AI Capabilities in Test Teams</a:t>
            </a:r>
          </a:p>
          <a:p>
            <a:r>
              <a:rPr lang="en-US" sz="1600" dirty="0"/>
              <a:t>Promote </a:t>
            </a:r>
            <a:r>
              <a:rPr lang="en-US" sz="1600" b="1" dirty="0"/>
              <a:t>continuous improvement</a:t>
            </a:r>
            <a:r>
              <a:rPr lang="en-US" sz="1600" dirty="0"/>
              <a:t> by: </a:t>
            </a:r>
          </a:p>
          <a:p>
            <a:pPr lvl="1"/>
            <a:r>
              <a:rPr lang="en-US" dirty="0"/>
              <a:t>Sharing </a:t>
            </a:r>
            <a:r>
              <a:rPr lang="en-US" b="1" dirty="0"/>
              <a:t>prompt pattern libraries</a:t>
            </a:r>
            <a:r>
              <a:rPr lang="en-US" dirty="0"/>
              <a:t> </a:t>
            </a:r>
          </a:p>
          <a:p>
            <a:pPr lvl="1"/>
            <a:r>
              <a:rPr lang="en-US" dirty="0"/>
              <a:t>Documenting </a:t>
            </a:r>
            <a:r>
              <a:rPr lang="en-US" b="1" dirty="0"/>
              <a:t>lessons learned from GenAI implementations</a:t>
            </a:r>
            <a:r>
              <a:rPr lang="en-US" dirty="0"/>
              <a:t> </a:t>
            </a:r>
          </a:p>
          <a:p>
            <a:pPr lvl="1"/>
            <a:r>
              <a:rPr lang="en-US" dirty="0"/>
              <a:t>Applying learnings across </a:t>
            </a:r>
            <a:r>
              <a:rPr lang="en-US" b="1" dirty="0"/>
              <a:t>projects and domains</a:t>
            </a:r>
            <a:r>
              <a:rPr lang="en-US" dirty="0"/>
              <a:t> </a:t>
            </a:r>
          </a:p>
          <a:p>
            <a:pPr marL="0" indent="0">
              <a:buNone/>
            </a:pPr>
            <a:endParaRPr lang="en-IN" sz="1600" dirty="0"/>
          </a:p>
        </p:txBody>
      </p:sp>
    </p:spTree>
    <p:extLst>
      <p:ext uri="{BB962C8B-B14F-4D97-AF65-F5344CB8AC3E}">
        <p14:creationId xmlns:p14="http://schemas.microsoft.com/office/powerpoint/2010/main" val="80846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7B83B-C432-3828-A7F2-657BAC590C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D2022C-E1EC-FF8E-B496-895283C3C912}"/>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4BAD28E1-8AB5-67A3-4942-9200089A2046}"/>
              </a:ext>
            </a:extLst>
          </p:cNvPr>
          <p:cNvSpPr>
            <a:spLocks noGrp="1"/>
          </p:cNvSpPr>
          <p:nvPr>
            <p:ph idx="1"/>
          </p:nvPr>
        </p:nvSpPr>
        <p:spPr>
          <a:xfrm>
            <a:off x="597763" y="1270000"/>
            <a:ext cx="8596668" cy="6096958"/>
          </a:xfrm>
        </p:spPr>
        <p:txBody>
          <a:bodyPr>
            <a:noAutofit/>
          </a:bodyPr>
          <a:lstStyle/>
          <a:p>
            <a:r>
              <a:rPr lang="en-US" sz="1600" dirty="0"/>
              <a:t>5.2.3 Evolving Test Processes in AI-Enabled Test organizations</a:t>
            </a:r>
            <a:endParaRPr lang="en-US" dirty="0"/>
          </a:p>
          <a:p>
            <a:r>
              <a:rPr lang="en-US" b="1" dirty="0">
                <a:solidFill>
                  <a:srgbClr val="FF0000"/>
                </a:solidFill>
              </a:rPr>
              <a:t>Evolution of Testers' Role</a:t>
            </a:r>
          </a:p>
          <a:p>
            <a:r>
              <a:rPr lang="en-US" dirty="0"/>
              <a:t>Testers shift from: </a:t>
            </a:r>
          </a:p>
          <a:p>
            <a:pPr lvl="1"/>
            <a:r>
              <a:rPr lang="en-US" b="1" dirty="0"/>
              <a:t>Test design and execution specialists</a:t>
            </a:r>
            <a:r>
              <a:rPr lang="en-US" dirty="0"/>
              <a:t> </a:t>
            </a:r>
          </a:p>
          <a:p>
            <a:pPr lvl="1"/>
            <a:r>
              <a:rPr lang="en-US" dirty="0"/>
              <a:t>➝ to </a:t>
            </a:r>
            <a:r>
              <a:rPr lang="en-US" b="1" dirty="0"/>
              <a:t>AI-assisted test specialists</a:t>
            </a:r>
            <a:r>
              <a:rPr lang="en-US" dirty="0"/>
              <a:t> </a:t>
            </a:r>
          </a:p>
          <a:p>
            <a:r>
              <a:rPr lang="en-US" dirty="0"/>
              <a:t>Combine: </a:t>
            </a:r>
          </a:p>
          <a:p>
            <a:pPr lvl="1"/>
            <a:r>
              <a:rPr lang="en-US" dirty="0"/>
              <a:t>Traditional </a:t>
            </a:r>
            <a:r>
              <a:rPr lang="en-US" b="1" dirty="0"/>
              <a:t>testing expertise</a:t>
            </a:r>
            <a:r>
              <a:rPr lang="en-US" dirty="0"/>
              <a:t> </a:t>
            </a:r>
          </a:p>
          <a:p>
            <a:pPr lvl="1"/>
            <a:r>
              <a:rPr lang="en-US" dirty="0"/>
              <a:t>Skills to </a:t>
            </a:r>
            <a:r>
              <a:rPr lang="en-US" b="1" dirty="0"/>
              <a:t>guide and validate AI-generated </a:t>
            </a:r>
            <a:r>
              <a:rPr lang="en-US" b="1" dirty="0" err="1"/>
              <a:t>testware</a:t>
            </a:r>
            <a:r>
              <a:rPr lang="en-US" dirty="0"/>
              <a:t> </a:t>
            </a:r>
          </a:p>
          <a:p>
            <a:r>
              <a:rPr lang="en-US" dirty="0"/>
              <a:t>Expanded responsibilities include: </a:t>
            </a:r>
          </a:p>
          <a:p>
            <a:pPr lvl="1"/>
            <a:r>
              <a:rPr lang="en-US" dirty="0"/>
              <a:t>Reviewing </a:t>
            </a:r>
            <a:r>
              <a:rPr lang="en-US" b="1" dirty="0"/>
              <a:t>AI-generated outputs</a:t>
            </a:r>
            <a:r>
              <a:rPr lang="en-US" dirty="0"/>
              <a:t> </a:t>
            </a:r>
          </a:p>
          <a:p>
            <a:pPr lvl="1"/>
            <a:r>
              <a:rPr lang="en-US" dirty="0"/>
              <a:t>Performing </a:t>
            </a:r>
            <a:r>
              <a:rPr lang="en-US" b="1" dirty="0"/>
              <a:t>prompt refinement</a:t>
            </a:r>
            <a:r>
              <a:rPr lang="en-US" dirty="0"/>
              <a:t> </a:t>
            </a:r>
          </a:p>
          <a:p>
            <a:pPr lvl="1"/>
            <a:r>
              <a:rPr lang="en-US" dirty="0"/>
              <a:t>Maintaining </a:t>
            </a:r>
            <a:r>
              <a:rPr lang="en-US" b="1" dirty="0"/>
              <a:t>test-specific prompt libraries</a:t>
            </a:r>
            <a:endParaRPr lang="en-US" dirty="0"/>
          </a:p>
          <a:p>
            <a:endParaRPr lang="en-IN" sz="1600" dirty="0"/>
          </a:p>
        </p:txBody>
      </p:sp>
    </p:spTree>
    <p:extLst>
      <p:ext uri="{BB962C8B-B14F-4D97-AF65-F5344CB8AC3E}">
        <p14:creationId xmlns:p14="http://schemas.microsoft.com/office/powerpoint/2010/main" val="282401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36C5-C0C2-3B25-E01E-665DC90862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9ADC9C-BCFF-B545-8C45-6B1E4C4F432C}"/>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1C5C9F7B-5720-C68E-3E7E-1FAF811B3262}"/>
              </a:ext>
            </a:extLst>
          </p:cNvPr>
          <p:cNvSpPr>
            <a:spLocks noGrp="1"/>
          </p:cNvSpPr>
          <p:nvPr>
            <p:ph idx="1"/>
          </p:nvPr>
        </p:nvSpPr>
        <p:spPr>
          <a:xfrm>
            <a:off x="597763" y="1270000"/>
            <a:ext cx="8596668" cy="6096958"/>
          </a:xfrm>
        </p:spPr>
        <p:txBody>
          <a:bodyPr>
            <a:noAutofit/>
          </a:bodyPr>
          <a:lstStyle/>
          <a:p>
            <a:r>
              <a:rPr lang="en-US" sz="1600" dirty="0"/>
              <a:t>5.2.3 Evolving Test Processes in AI-Enabled Test organizations</a:t>
            </a:r>
          </a:p>
          <a:p>
            <a:pPr marL="0" indent="0">
              <a:buNone/>
            </a:pPr>
            <a:r>
              <a:rPr lang="en-US" b="1" dirty="0">
                <a:solidFill>
                  <a:srgbClr val="FF0000"/>
                </a:solidFill>
              </a:rPr>
              <a:t>Evolution of Test Managers' Role</a:t>
            </a:r>
          </a:p>
          <a:p>
            <a:r>
              <a:rPr lang="en-US" dirty="0"/>
              <a:t>Responsibilities extend to: </a:t>
            </a:r>
          </a:p>
          <a:p>
            <a:pPr lvl="1"/>
            <a:r>
              <a:rPr lang="en-US" dirty="0"/>
              <a:t>Developing an </a:t>
            </a:r>
            <a:r>
              <a:rPr lang="en-US" b="1" dirty="0"/>
              <a:t>AI-based test strategy</a:t>
            </a:r>
            <a:r>
              <a:rPr lang="en-US" dirty="0"/>
              <a:t> </a:t>
            </a:r>
          </a:p>
          <a:p>
            <a:pPr lvl="1"/>
            <a:r>
              <a:rPr lang="en-US" dirty="0"/>
              <a:t>Implementing </a:t>
            </a:r>
            <a:r>
              <a:rPr lang="en-US" b="1" dirty="0"/>
              <a:t>AI-based risk management</a:t>
            </a:r>
            <a:r>
              <a:rPr lang="en-US" dirty="0"/>
              <a:t> </a:t>
            </a:r>
          </a:p>
          <a:p>
            <a:pPr lvl="1"/>
            <a:r>
              <a:rPr lang="en-US" dirty="0"/>
              <a:t>Monitoring and controlling </a:t>
            </a:r>
            <a:r>
              <a:rPr lang="en-US" b="1" dirty="0"/>
              <a:t>AI-driven test processes</a:t>
            </a:r>
            <a:r>
              <a:rPr lang="en-US" dirty="0"/>
              <a:t> </a:t>
            </a:r>
          </a:p>
          <a:p>
            <a:r>
              <a:rPr lang="en-US" dirty="0"/>
              <a:t>Focus areas: </a:t>
            </a:r>
          </a:p>
          <a:p>
            <a:pPr lvl="1"/>
            <a:r>
              <a:rPr lang="en-US" dirty="0"/>
              <a:t>Balancing </a:t>
            </a:r>
            <a:r>
              <a:rPr lang="en-US" b="1" dirty="0"/>
              <a:t>human and AI capabilities</a:t>
            </a:r>
            <a:r>
              <a:rPr lang="en-US" dirty="0"/>
              <a:t> </a:t>
            </a:r>
          </a:p>
          <a:p>
            <a:pPr lvl="1"/>
            <a:r>
              <a:rPr lang="en-US" dirty="0"/>
              <a:t>Establishing </a:t>
            </a:r>
            <a:r>
              <a:rPr lang="en-US" b="1" dirty="0"/>
              <a:t>AI governance frameworks</a:t>
            </a:r>
            <a:r>
              <a:rPr lang="en-US" dirty="0"/>
              <a:t> </a:t>
            </a:r>
          </a:p>
          <a:p>
            <a:pPr lvl="1"/>
            <a:r>
              <a:rPr lang="en-US" dirty="0"/>
              <a:t>Ensuring teams maintain: </a:t>
            </a:r>
          </a:p>
          <a:p>
            <a:pPr lvl="2"/>
            <a:r>
              <a:rPr lang="en-US" b="1" dirty="0"/>
              <a:t>Core testing competencies</a:t>
            </a:r>
            <a:r>
              <a:rPr lang="en-US" dirty="0"/>
              <a:t> </a:t>
            </a:r>
          </a:p>
          <a:p>
            <a:pPr lvl="2"/>
            <a:r>
              <a:rPr lang="en-US" b="1" dirty="0"/>
              <a:t>AI literacy</a:t>
            </a:r>
            <a:endParaRPr lang="en-US" dirty="0"/>
          </a:p>
          <a:p>
            <a:endParaRPr lang="en-IN" sz="1600" dirty="0"/>
          </a:p>
        </p:txBody>
      </p:sp>
    </p:spTree>
    <p:extLst>
      <p:ext uri="{BB962C8B-B14F-4D97-AF65-F5344CB8AC3E}">
        <p14:creationId xmlns:p14="http://schemas.microsoft.com/office/powerpoint/2010/main" val="1582578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87AA0-A49B-CC66-E08A-A84873DCD9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D32E66-BCF7-B10E-D496-B5F5CA6F8D6C}"/>
              </a:ext>
            </a:extLst>
          </p:cNvPr>
          <p:cNvSpPr>
            <a:spLocks noGrp="1"/>
          </p:cNvSpPr>
          <p:nvPr>
            <p:ph type="title"/>
          </p:nvPr>
        </p:nvSpPr>
        <p:spPr/>
        <p:txBody>
          <a:bodyPr>
            <a:normAutofit/>
          </a:bodyPr>
          <a:lstStyle/>
          <a:p>
            <a:r>
              <a:rPr lang="en-US" sz="2000" dirty="0">
                <a:solidFill>
                  <a:srgbClr val="FF0000"/>
                </a:solidFill>
              </a:rPr>
              <a:t>Chapter 5 - Deploying and Integrating Generative AI in Test Organizations</a:t>
            </a:r>
            <a:endParaRPr lang="en-IN" sz="2000" dirty="0">
              <a:solidFill>
                <a:srgbClr val="FF0000"/>
              </a:solidFill>
            </a:endParaRPr>
          </a:p>
        </p:txBody>
      </p:sp>
      <p:sp>
        <p:nvSpPr>
          <p:cNvPr id="5" name="Content Placeholder 4">
            <a:extLst>
              <a:ext uri="{FF2B5EF4-FFF2-40B4-BE49-F238E27FC236}">
                <a16:creationId xmlns:a16="http://schemas.microsoft.com/office/drawing/2014/main" id="{8414F90E-9D09-BDE0-ED26-8BFA7E431157}"/>
              </a:ext>
            </a:extLst>
          </p:cNvPr>
          <p:cNvSpPr>
            <a:spLocks noGrp="1"/>
          </p:cNvSpPr>
          <p:nvPr>
            <p:ph idx="1"/>
          </p:nvPr>
        </p:nvSpPr>
        <p:spPr>
          <a:xfrm>
            <a:off x="597763" y="1270000"/>
            <a:ext cx="8596668" cy="6096958"/>
          </a:xfrm>
        </p:spPr>
        <p:txBody>
          <a:bodyPr>
            <a:noAutofit/>
          </a:bodyPr>
          <a:lstStyle/>
          <a:p>
            <a:r>
              <a:rPr lang="en-US" sz="1600" dirty="0"/>
              <a:t>5.2.3 Evolving Test Processes in AI-Enabled Test organizations</a:t>
            </a:r>
          </a:p>
          <a:p>
            <a:pPr marL="0" indent="0">
              <a:buNone/>
            </a:pPr>
            <a:r>
              <a:rPr lang="en-US" b="1" dirty="0">
                <a:solidFill>
                  <a:srgbClr val="FF0000"/>
                </a:solidFill>
              </a:rPr>
              <a:t>Managing Hybrid AI Test Teams</a:t>
            </a:r>
          </a:p>
          <a:p>
            <a:r>
              <a:rPr lang="en-US" dirty="0"/>
              <a:t>Test managers will: </a:t>
            </a:r>
          </a:p>
          <a:p>
            <a:pPr lvl="1"/>
            <a:r>
              <a:rPr lang="en-US" dirty="0"/>
              <a:t>Lead </a:t>
            </a:r>
            <a:r>
              <a:rPr lang="en-US" b="1" dirty="0"/>
              <a:t>human testers</a:t>
            </a:r>
            <a:r>
              <a:rPr lang="en-US" dirty="0"/>
              <a:t> </a:t>
            </a:r>
          </a:p>
          <a:p>
            <a:pPr lvl="1"/>
            <a:r>
              <a:rPr lang="en-US" dirty="0"/>
              <a:t>Coordinate with </a:t>
            </a:r>
            <a:r>
              <a:rPr lang="en-US" b="1" dirty="0"/>
              <a:t>GenAI-powered test agents</a:t>
            </a:r>
            <a:r>
              <a:rPr lang="en-US" dirty="0"/>
              <a:t> </a:t>
            </a:r>
          </a:p>
          <a:p>
            <a:r>
              <a:rPr lang="en-US" dirty="0"/>
              <a:t>Requires new skills: </a:t>
            </a:r>
          </a:p>
          <a:p>
            <a:pPr lvl="1"/>
            <a:r>
              <a:rPr lang="en-US" dirty="0"/>
              <a:t>Managing </a:t>
            </a:r>
            <a:r>
              <a:rPr lang="en-US" b="1" dirty="0"/>
              <a:t>hybrid teams (humans + AI tools)</a:t>
            </a:r>
            <a:r>
              <a:rPr lang="en-US" dirty="0"/>
              <a:t> </a:t>
            </a:r>
          </a:p>
          <a:p>
            <a:pPr lvl="1"/>
            <a:r>
              <a:rPr lang="en-US" dirty="0"/>
              <a:t>Overseeing </a:t>
            </a:r>
            <a:r>
              <a:rPr lang="en-US" b="1" dirty="0"/>
              <a:t>AI-assisted workflows</a:t>
            </a:r>
            <a:r>
              <a:rPr lang="en-US" dirty="0"/>
              <a:t> </a:t>
            </a:r>
          </a:p>
          <a:p>
            <a:pPr lvl="1"/>
            <a:r>
              <a:rPr lang="en-US" dirty="0"/>
              <a:t>Ensuring </a:t>
            </a:r>
            <a:r>
              <a:rPr lang="en-US" b="1" dirty="0"/>
              <a:t>effective collaboration between people and AI</a:t>
            </a:r>
            <a:endParaRPr lang="en-US" dirty="0"/>
          </a:p>
          <a:p>
            <a:endParaRPr lang="en-IN" sz="1600" dirty="0"/>
          </a:p>
        </p:txBody>
      </p:sp>
    </p:spTree>
    <p:extLst>
      <p:ext uri="{BB962C8B-B14F-4D97-AF65-F5344CB8AC3E}">
        <p14:creationId xmlns:p14="http://schemas.microsoft.com/office/powerpoint/2010/main" val="141907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6FE2-A69A-379F-6E85-511DA0797E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CE3108-2079-5859-6CB6-75F61196A287}"/>
              </a:ext>
            </a:extLst>
          </p:cNvPr>
          <p:cNvSpPr>
            <a:spLocks noGrp="1"/>
          </p:cNvSpPr>
          <p:nvPr>
            <p:ph type="title"/>
          </p:nvPr>
        </p:nvSpPr>
        <p:spPr>
          <a:xfrm>
            <a:off x="2996054" y="2768600"/>
            <a:ext cx="8596668" cy="1320800"/>
          </a:xfrm>
        </p:spPr>
        <p:txBody>
          <a:bodyPr>
            <a:normAutofit/>
          </a:bodyPr>
          <a:lstStyle/>
          <a:p>
            <a:r>
              <a:rPr lang="en-IN" sz="2000" dirty="0">
                <a:solidFill>
                  <a:srgbClr val="FF0000"/>
                </a:solidFill>
              </a:rPr>
              <a:t>			Thank You</a:t>
            </a:r>
          </a:p>
        </p:txBody>
      </p:sp>
    </p:spTree>
    <p:extLst>
      <p:ext uri="{BB962C8B-B14F-4D97-AF65-F5344CB8AC3E}">
        <p14:creationId xmlns:p14="http://schemas.microsoft.com/office/powerpoint/2010/main" val="29991149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3246</TotalTime>
  <Words>1984</Words>
  <Application>Microsoft Office PowerPoint</Application>
  <PresentationFormat>Widescreen</PresentationFormat>
  <Paragraphs>201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Trebuchet MS</vt:lpstr>
      <vt:lpstr>Wingdings 3</vt:lpstr>
      <vt:lpstr>Facet</vt:lpstr>
      <vt:lpstr>ISTQB® Certified Tester – Testing with Generative AI (CT-GenAI) Chapter 5</vt:lpstr>
      <vt:lpstr>Chapter 5 - LLM-Powered Test Infrastructure for Software Testing</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Chapter 5 - Deploying and Integrating Generative AI in Test Organizations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Anurag Patil</dc:creator>
  <cp:lastModifiedBy>Anurag Patil</cp:lastModifiedBy>
  <cp:revision>453</cp:revision>
  <dcterms:created xsi:type="dcterms:W3CDTF">2026-03-12T15:31:59Z</dcterms:created>
  <dcterms:modified xsi:type="dcterms:W3CDTF">2026-03-27T04:42:09Z</dcterms:modified>
</cp:coreProperties>
</file>