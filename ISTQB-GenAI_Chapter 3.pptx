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3" r:id="rId3"/>
    <p:sldId id="259" r:id="rId4"/>
    <p:sldId id="256" r:id="rId5"/>
    <p:sldId id="258" r:id="rId6"/>
    <p:sldId id="260" r:id="rId7"/>
    <p:sldId id="261" r:id="rId8"/>
    <p:sldId id="262" r:id="rId9"/>
    <p:sldId id="264" r:id="rId10"/>
    <p:sldId id="266" r:id="rId11"/>
    <p:sldId id="265" r:id="rId12"/>
    <p:sldId id="267" r:id="rId13"/>
    <p:sldId id="268" r:id="rId14"/>
    <p:sldId id="269" r:id="rId15"/>
    <p:sldId id="270" r:id="rId16"/>
    <p:sldId id="271" r:id="rId17"/>
    <p:sldId id="272" r:id="rId18"/>
    <p:sldId id="321" r:id="rId19"/>
    <p:sldId id="273" r:id="rId20"/>
    <p:sldId id="322" r:id="rId21"/>
    <p:sldId id="323" r:id="rId22"/>
    <p:sldId id="276" r:id="rId23"/>
    <p:sldId id="320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24" r:id="rId57"/>
    <p:sldId id="319" r:id="rId5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5780" autoAdjust="0"/>
  </p:normalViewPr>
  <p:slideViewPr>
    <p:cSldViewPr snapToGrid="0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023E9-9803-4103-9CE0-56CF15ED2229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F0981-D60D-4D59-9230-E6EE4984A7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19022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023E9-9803-4103-9CE0-56CF15ED2229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F0981-D60D-4D59-9230-E6EE4984A7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81900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023E9-9803-4103-9CE0-56CF15ED2229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F0981-D60D-4D59-9230-E6EE4984A7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66841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023E9-9803-4103-9CE0-56CF15ED2229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F0981-D60D-4D59-9230-E6EE4984A7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0540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023E9-9803-4103-9CE0-56CF15ED2229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F0981-D60D-4D59-9230-E6EE4984A7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4357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023E9-9803-4103-9CE0-56CF15ED2229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F0981-D60D-4D59-9230-E6EE4984A7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49216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023E9-9803-4103-9CE0-56CF15ED2229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F0981-D60D-4D59-9230-E6EE4984A7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0755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023E9-9803-4103-9CE0-56CF15ED2229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F0981-D60D-4D59-9230-E6EE4984A7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53690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023E9-9803-4103-9CE0-56CF15ED2229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F0981-D60D-4D59-9230-E6EE4984A7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61253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023E9-9803-4103-9CE0-56CF15ED2229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F0981-D60D-4D59-9230-E6EE4984A7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09892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023E9-9803-4103-9CE0-56CF15ED2229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F0981-D60D-4D59-9230-E6EE4984A782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549833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023E9-9803-4103-9CE0-56CF15ED2229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F0981-D60D-4D59-9230-E6EE4984A7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8843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023E9-9803-4103-9CE0-56CF15ED2229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F0981-D60D-4D59-9230-E6EE4984A782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815151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023E9-9803-4103-9CE0-56CF15ED2229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F0981-D60D-4D59-9230-E6EE4984A7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93748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023E9-9803-4103-9CE0-56CF15ED2229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F0981-D60D-4D59-9230-E6EE4984A7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39564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023E9-9803-4103-9CE0-56CF15ED2229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F0981-D60D-4D59-9230-E6EE4984A7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11324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3023E9-9803-4103-9CE0-56CF15ED2229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892F0981-D60D-4D59-9230-E6EE4984A7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33174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06D84-A124-4690-FCC2-C156C497A1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321734" y="2183523"/>
            <a:ext cx="10001761" cy="2688021"/>
          </a:xfrm>
        </p:spPr>
        <p:txBody>
          <a:bodyPr/>
          <a:lstStyle/>
          <a:p>
            <a:r>
              <a:rPr lang="en-US" sz="4000" b="1" dirty="0"/>
              <a:t>ISTQB® Certified Tester – Testing with Generative AI (CT-GenAI)</a:t>
            </a:r>
            <a:br>
              <a:rPr lang="en-US" sz="4000" b="1" dirty="0"/>
            </a:br>
            <a:r>
              <a:rPr lang="en-US" sz="4000" b="1" dirty="0"/>
              <a:t>Chapter 3 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13238511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608F5-4B07-D77A-593B-328944137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B142BD1-2ED7-543B-2C27-43985B5DC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Chapter 3 - Managing Risks of Generative AI in Software Testing 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3361EB9-A879-589D-327D-EDDD3A7DEF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390" y="1395961"/>
            <a:ext cx="8596668" cy="3880773"/>
          </a:xfrm>
        </p:spPr>
        <p:txBody>
          <a:bodyPr>
            <a:normAutofit/>
          </a:bodyPr>
          <a:lstStyle/>
          <a:p>
            <a:endParaRPr lang="en-IN" dirty="0">
              <a:solidFill>
                <a:srgbClr val="FF0000"/>
              </a:solidFill>
            </a:endParaRPr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DCA1BF-DA58-5E21-CF05-4A5134DC7C12}"/>
              </a:ext>
            </a:extLst>
          </p:cNvPr>
          <p:cNvSpPr txBox="1"/>
          <p:nvPr/>
        </p:nvSpPr>
        <p:spPr>
          <a:xfrm>
            <a:off x="733096" y="1395961"/>
            <a:ext cx="9341069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400" b="1" dirty="0">
                <a:solidFill>
                  <a:srgbClr val="FF0000"/>
                </a:solidFill>
              </a:rPr>
              <a:t>3.1 Hallucinations, Reasoning Errors and Biases</a:t>
            </a:r>
          </a:p>
          <a:p>
            <a:pPr>
              <a:buNone/>
            </a:pPr>
            <a:endParaRPr lang="en-IN" sz="14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400" b="1" dirty="0"/>
              <a:t>GenAI-3.1.1 (K1)</a:t>
            </a:r>
            <a:r>
              <a:rPr lang="en-IN" sz="1400" dirty="0"/>
              <a:t> Recall the definitions of hallucinations, reasoning errors and biases in Generative AI systems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400" b="1" dirty="0"/>
              <a:t>GenAI-3.1.2 (K3)</a:t>
            </a:r>
            <a:r>
              <a:rPr lang="en-IN" sz="1400" dirty="0"/>
              <a:t> Identify hallucinations, reasoning errors and biases in LLM output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400" b="1" dirty="0"/>
              <a:t>HO-3.1.2a (H1)</a:t>
            </a:r>
            <a:r>
              <a:rPr lang="en-IN" sz="1400" dirty="0"/>
              <a:t> Experiment with hallucinations in testing with GenAI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400" b="1" dirty="0"/>
              <a:t>HO-3.1.2b (H1)</a:t>
            </a:r>
            <a:r>
              <a:rPr lang="en-IN" sz="1400" dirty="0"/>
              <a:t> Experiment with reasoning errors in testing with GenAI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400" b="1" dirty="0"/>
              <a:t>GenAI-3.1.3 (K2)</a:t>
            </a:r>
            <a:r>
              <a:rPr lang="en-IN" sz="1400" dirty="0"/>
              <a:t> Summarize mitigation techniques for GenAI hallucinations, reasoning errors and biases in software test tasks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400" b="1" dirty="0"/>
              <a:t>GenAI-3.1.4 (K1)</a:t>
            </a:r>
            <a:r>
              <a:rPr lang="en-IN" sz="1400" dirty="0"/>
              <a:t> Recall mitigation techniques for non-deterministic behaviour of LLMs</a:t>
            </a:r>
          </a:p>
        </p:txBody>
      </p:sp>
    </p:spTree>
    <p:extLst>
      <p:ext uri="{BB962C8B-B14F-4D97-AF65-F5344CB8AC3E}">
        <p14:creationId xmlns:p14="http://schemas.microsoft.com/office/powerpoint/2010/main" val="24848671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191E7-8F81-2944-E48E-B0C91CA82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35E47AC-13DB-F0A5-1EE7-B2BF708B0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Chapter 3 - Managing Risks of Generative AI in Software Testing 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9E8726D-43CC-194E-973E-DD2CC9F1BD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390" y="1395961"/>
            <a:ext cx="8596668" cy="3880773"/>
          </a:xfrm>
        </p:spPr>
        <p:txBody>
          <a:bodyPr>
            <a:normAutofit/>
          </a:bodyPr>
          <a:lstStyle/>
          <a:p>
            <a:endParaRPr lang="en-IN" dirty="0">
              <a:solidFill>
                <a:srgbClr val="FF0000"/>
              </a:solidFill>
            </a:endParaRP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88D4D8-BD6A-EEDC-0737-E32BF527CE99}"/>
              </a:ext>
            </a:extLst>
          </p:cNvPr>
          <p:cNvSpPr txBox="1"/>
          <p:nvPr/>
        </p:nvSpPr>
        <p:spPr>
          <a:xfrm>
            <a:off x="890751" y="1454877"/>
            <a:ext cx="8860221" cy="2739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400" b="1" dirty="0">
                <a:solidFill>
                  <a:srgbClr val="FF0000"/>
                </a:solidFill>
              </a:rPr>
              <a:t>3.2 Data Privacy and Security Risks of Generative AI in Software Testing</a:t>
            </a:r>
          </a:p>
          <a:p>
            <a:pPr>
              <a:buNone/>
            </a:pPr>
            <a:endParaRPr lang="en-IN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400" b="1" dirty="0"/>
              <a:t>GenAI-3.2.1 (K2)</a:t>
            </a:r>
            <a:r>
              <a:rPr lang="en-IN" sz="1400" dirty="0"/>
              <a:t> Explain key data privacy and security risks associated with using generative AI in software testing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400" b="1" dirty="0"/>
              <a:t>GenAI-3.2.2 (K2)</a:t>
            </a:r>
            <a:r>
              <a:rPr lang="en-IN" sz="1400" dirty="0"/>
              <a:t> Give examples of data privacy and vulnerabilities in using Generative AI in software testing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400" b="1" dirty="0"/>
              <a:t>GenAI-3.2.3 (K2)</a:t>
            </a:r>
            <a:r>
              <a:rPr lang="en-IN" sz="1400" dirty="0"/>
              <a:t> Summarize mitigation strategies to protect data privacy and enhance security in Generative AI for software testing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400" b="1" dirty="0"/>
              <a:t>HO-3.2.3 (H0)</a:t>
            </a:r>
            <a:r>
              <a:rPr lang="en-IN" sz="1400" dirty="0"/>
              <a:t> Recognize data privacy and security risks in a given Generative AI for testing case study</a:t>
            </a:r>
          </a:p>
        </p:txBody>
      </p:sp>
    </p:spTree>
    <p:extLst>
      <p:ext uri="{BB962C8B-B14F-4D97-AF65-F5344CB8AC3E}">
        <p14:creationId xmlns:p14="http://schemas.microsoft.com/office/powerpoint/2010/main" val="176427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381082A-3AB1-49F8-E944-DA8EF12C4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Chapter 3 - Managing Risks of Generative AI in Software Testing 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F1527D6-E31D-0CDA-15AA-80E109316D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390" y="1395961"/>
            <a:ext cx="8596668" cy="3880773"/>
          </a:xfrm>
        </p:spPr>
        <p:txBody>
          <a:bodyPr>
            <a:normAutofit/>
          </a:bodyPr>
          <a:lstStyle/>
          <a:p>
            <a:endParaRPr lang="en-IN" dirty="0">
              <a:solidFill>
                <a:srgbClr val="FF0000"/>
              </a:solidFill>
            </a:endParaRP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B8A896-2543-A649-51F7-F8D8E8068E5B}"/>
              </a:ext>
            </a:extLst>
          </p:cNvPr>
          <p:cNvSpPr txBox="1"/>
          <p:nvPr/>
        </p:nvSpPr>
        <p:spPr>
          <a:xfrm>
            <a:off x="606390" y="1404556"/>
            <a:ext cx="9317421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>
                <a:solidFill>
                  <a:srgbClr val="FF0000"/>
                </a:solidFill>
              </a:rPr>
              <a:t>3.3 Energy Consumption and Environmental Impact of Generative AI for Software Testing</a:t>
            </a:r>
          </a:p>
          <a:p>
            <a:pPr>
              <a:buNone/>
            </a:pPr>
            <a:endParaRPr lang="en-US" sz="14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GenAI-3.3.1 (K2)</a:t>
            </a:r>
            <a:r>
              <a:rPr lang="en-US" sz="1400" dirty="0"/>
              <a:t> Explain the impact of task characteristics and model usage on the energy consumption of Generative AI in software testing</a:t>
            </a:r>
          </a:p>
          <a:p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HO-3.3.1 (H1)</a:t>
            </a:r>
            <a:r>
              <a:rPr lang="en-US" sz="1400" dirty="0"/>
              <a:t> Use a simulator to calculate the energy and CO₂ emissions for given test tasks with Generative AI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9830906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9E4EFD-4871-C0E6-78AF-AF528B233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8135F56-3720-1357-323C-48042B620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Chapter 3 - Managing Risks of Generative AI in Software Testing 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96DC674-4BC4-47EB-B8BC-54BC090B70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390" y="1395961"/>
            <a:ext cx="8596668" cy="1142287"/>
          </a:xfrm>
        </p:spPr>
        <p:txBody>
          <a:bodyPr>
            <a:normAutofit/>
          </a:bodyPr>
          <a:lstStyle/>
          <a:p>
            <a:endParaRPr lang="en-IN" dirty="0">
              <a:solidFill>
                <a:srgbClr val="FF0000"/>
              </a:solidFill>
            </a:endParaRP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92C2BB-9043-B7BF-78E8-0DA2829E51BB}"/>
              </a:ext>
            </a:extLst>
          </p:cNvPr>
          <p:cNvSpPr txBox="1"/>
          <p:nvPr/>
        </p:nvSpPr>
        <p:spPr>
          <a:xfrm>
            <a:off x="985345" y="1395961"/>
            <a:ext cx="760686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>
                <a:solidFill>
                  <a:srgbClr val="FF0000"/>
                </a:solidFill>
              </a:rPr>
              <a:t>3.4 AI Regulations, Standards and Best Practice Frameworks</a:t>
            </a:r>
          </a:p>
          <a:p>
            <a:pPr>
              <a:buNone/>
            </a:pPr>
            <a:endParaRPr lang="en-US" sz="1400" b="1" dirty="0">
              <a:solidFill>
                <a:srgbClr val="FF000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GenAI-3.4.1 (K1)</a:t>
            </a:r>
            <a:r>
              <a:rPr lang="en-US" sz="1400" dirty="0"/>
              <a:t> Recall examples of AI regulations, standards and best practice frameworks relevant to Generative AI in software testing.</a:t>
            </a:r>
          </a:p>
        </p:txBody>
      </p:sp>
    </p:spTree>
    <p:extLst>
      <p:ext uri="{BB962C8B-B14F-4D97-AF65-F5344CB8AC3E}">
        <p14:creationId xmlns:p14="http://schemas.microsoft.com/office/powerpoint/2010/main" val="11378780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710A0A-D236-21FD-7B1C-E7478D253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8E1A2DF-B662-A380-8F64-E84E44262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Chapter 3 - Managing Risks of Generative AI in Software Testing 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CE97B72-84D2-A745-2E4A-7D67477053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390" y="1395961"/>
            <a:ext cx="8596668" cy="3880773"/>
          </a:xfrm>
        </p:spPr>
        <p:txBody>
          <a:bodyPr>
            <a:normAutofit/>
          </a:bodyPr>
          <a:lstStyle/>
          <a:p>
            <a:endParaRPr lang="en-IN" dirty="0">
              <a:solidFill>
                <a:srgbClr val="FF0000"/>
              </a:solidFill>
            </a:endParaRP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AD277C-9527-F952-5BF6-6145D0CA1B15}"/>
              </a:ext>
            </a:extLst>
          </p:cNvPr>
          <p:cNvSpPr txBox="1"/>
          <p:nvPr/>
        </p:nvSpPr>
        <p:spPr>
          <a:xfrm>
            <a:off x="827690" y="1285766"/>
            <a:ext cx="7937937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3.1 Hallucinations, Reasoning Errors and Biases</a:t>
            </a:r>
          </a:p>
          <a:p>
            <a:endParaRPr lang="en-US" sz="1400" dirty="0"/>
          </a:p>
          <a:p>
            <a:r>
              <a:rPr lang="en-US" sz="1400" b="1" dirty="0"/>
              <a:t>Defects in GenAI </a:t>
            </a:r>
            <a:r>
              <a:rPr lang="en-US" sz="1400" b="1" dirty="0">
                <a:solidFill>
                  <a:srgbClr val="FF0000"/>
                </a:solidFill>
              </a:rPr>
              <a:t>Systems (LLMs)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GenAI systems, especially LLMs, are prone to certain defects, which includes: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Hallucinations</a:t>
            </a:r>
            <a:r>
              <a:rPr lang="en-US" sz="1400" dirty="0"/>
              <a:t> (LLM generates output that appears factually incorrect or irrelevant to a given task)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Reasoning Errors</a:t>
            </a:r>
            <a:r>
              <a:rPr lang="en-US" sz="1400" dirty="0"/>
              <a:t> (Logical mistakes in analysis or test case generation)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Biases</a:t>
            </a:r>
            <a:r>
              <a:rPr lang="en-US" sz="1400" dirty="0"/>
              <a:t> (Outputs influenced by skewed training data or assumptions)</a:t>
            </a:r>
          </a:p>
          <a:p>
            <a:endParaRPr lang="en-US" sz="1400" dirty="0"/>
          </a:p>
          <a:p>
            <a:r>
              <a:rPr lang="en-US" sz="1400" b="1" dirty="0">
                <a:solidFill>
                  <a:srgbClr val="FF0000"/>
                </a:solidFill>
              </a:rPr>
              <a:t>Impact of defects on Testing</a:t>
            </a:r>
          </a:p>
          <a:p>
            <a:endParaRPr lang="en-US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Generated test ware may fail to meet expectations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Quality of test tasks is reduced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Testers must spot and correct these defects before relying on outputs.</a:t>
            </a:r>
          </a:p>
          <a:p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17715649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21056B-0266-290A-D318-B3798F385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9EF53A5-389B-AC5C-F234-684ED367F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Chapter 3 - Managing Risks of Generative AI in Software Testing 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D59C2F9-C1BE-3EF6-774E-D3CD543918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390" y="1395961"/>
            <a:ext cx="8596668" cy="3880773"/>
          </a:xfrm>
        </p:spPr>
        <p:txBody>
          <a:bodyPr>
            <a:normAutofit/>
          </a:bodyPr>
          <a:lstStyle/>
          <a:p>
            <a:endParaRPr lang="en-IN" dirty="0">
              <a:solidFill>
                <a:srgbClr val="FF0000"/>
              </a:solidFill>
            </a:endParaRP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066C4B-F21E-1647-D24F-82103F07773A}"/>
              </a:ext>
            </a:extLst>
          </p:cNvPr>
          <p:cNvSpPr txBox="1"/>
          <p:nvPr/>
        </p:nvSpPr>
        <p:spPr>
          <a:xfrm>
            <a:off x="677334" y="1270000"/>
            <a:ext cx="8900218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sz="1400" b="1" dirty="0"/>
          </a:p>
          <a:p>
            <a:pPr>
              <a:buNone/>
            </a:pPr>
            <a:r>
              <a:rPr lang="en-US" sz="1400" b="1" dirty="0">
                <a:solidFill>
                  <a:srgbClr val="FF0000"/>
                </a:solidFill>
              </a:rPr>
              <a:t>3.1.1 Hallucinations, Reasoning Errors and Biases in Generative AI</a:t>
            </a:r>
          </a:p>
          <a:p>
            <a:pPr>
              <a:buNone/>
            </a:pP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GenAI-3.1.1 (K1)</a:t>
            </a:r>
            <a:r>
              <a:rPr lang="en-US" sz="1400" dirty="0"/>
              <a:t> Recall the definitions of hallucinations, reasoning errors and biases in Generative AI systems.</a:t>
            </a:r>
          </a:p>
        </p:txBody>
      </p:sp>
    </p:spTree>
    <p:extLst>
      <p:ext uri="{BB962C8B-B14F-4D97-AF65-F5344CB8AC3E}">
        <p14:creationId xmlns:p14="http://schemas.microsoft.com/office/powerpoint/2010/main" val="18926601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90011E-A567-F3F9-4D4C-42EE66F2C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6537459-C399-8F73-BEB4-6F52450BE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Chapter 3 - Managing Risks of Generative AI in Software Testing 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A9AC74A-A9E2-9A75-D8F0-8EB694BD62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390" y="1395961"/>
            <a:ext cx="8596668" cy="3880773"/>
          </a:xfrm>
        </p:spPr>
        <p:txBody>
          <a:bodyPr>
            <a:normAutofit/>
          </a:bodyPr>
          <a:lstStyle/>
          <a:p>
            <a:endParaRPr lang="en-IN" dirty="0">
              <a:solidFill>
                <a:srgbClr val="FF0000"/>
              </a:solidFill>
            </a:endParaRP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CBA4CE-1755-B930-8788-F0E380EDC039}"/>
              </a:ext>
            </a:extLst>
          </p:cNvPr>
          <p:cNvSpPr txBox="1"/>
          <p:nvPr/>
        </p:nvSpPr>
        <p:spPr>
          <a:xfrm>
            <a:off x="677334" y="1469822"/>
            <a:ext cx="8655852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>
                <a:solidFill>
                  <a:srgbClr val="FF0000"/>
                </a:solidFill>
              </a:rPr>
              <a:t>3.1.1 Hallucinations, Reasoning Errors and Biases in Generative AI </a:t>
            </a:r>
          </a:p>
          <a:p>
            <a:pPr>
              <a:buNone/>
            </a:pPr>
            <a:endParaRPr lang="en-US" sz="1400" b="1" dirty="0"/>
          </a:p>
          <a:p>
            <a:pPr>
              <a:buNone/>
            </a:pPr>
            <a:r>
              <a:rPr lang="en-US" sz="1400" b="1" dirty="0">
                <a:solidFill>
                  <a:srgbClr val="FF0000"/>
                </a:solidFill>
              </a:rPr>
              <a:t>Hallucinations in GenAI</a:t>
            </a:r>
          </a:p>
          <a:p>
            <a:pPr>
              <a:buNone/>
            </a:pPr>
            <a:endParaRPr lang="en-US" sz="14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Hallucinations occur when LLM generates factually incorrect or irrelevant outputs.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Hallucinations can mislead testers and compromise validity of test results.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In Software Testing Context hallucinations can manifest as LLMs creating: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Fictitious or irrelevant test cases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Incorrect or non-functioning test scripts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Test cases verifying non-existent acceptance criteria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>
              <a:buNone/>
            </a:pPr>
            <a:r>
              <a:rPr lang="en-US" sz="1400" b="1" dirty="0">
                <a:solidFill>
                  <a:srgbClr val="FF0000"/>
                </a:solidFill>
              </a:rPr>
              <a:t>For example</a:t>
            </a:r>
          </a:p>
          <a:p>
            <a:pPr>
              <a:buNone/>
            </a:pPr>
            <a:endParaRPr lang="en-US" sz="14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If requirement says: </a:t>
            </a:r>
            <a:r>
              <a:rPr lang="en-US" sz="1400" b="1" dirty="0"/>
              <a:t>“System must support password reset via email.”</a:t>
            </a: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LLM hallucinates and suggests test cases for </a:t>
            </a:r>
            <a:r>
              <a:rPr lang="en-US" sz="1400" b="1" dirty="0"/>
              <a:t>“System also supports biometric reset.”</a:t>
            </a:r>
            <a:r>
              <a:rPr lang="en-US" sz="1400" dirty="0"/>
              <a:t>, which is misleading and not in scope.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Testers must validate outputs carefully to avoid relying on hallucinated results.</a:t>
            </a:r>
          </a:p>
        </p:txBody>
      </p:sp>
    </p:spTree>
    <p:extLst>
      <p:ext uri="{BB962C8B-B14F-4D97-AF65-F5344CB8AC3E}">
        <p14:creationId xmlns:p14="http://schemas.microsoft.com/office/powerpoint/2010/main" val="27800204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EF6CEB-1755-8E70-DE75-CAB424C6D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815A943-357C-F1AE-B57E-C7C9DF1F8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Chapter 3 - Managing Risks of Generative AI in Software Testing 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D7CA5B9-4237-3745-5A5B-03A6440D37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390" y="1395961"/>
            <a:ext cx="8596668" cy="3880773"/>
          </a:xfrm>
        </p:spPr>
        <p:txBody>
          <a:bodyPr>
            <a:normAutofit/>
          </a:bodyPr>
          <a:lstStyle/>
          <a:p>
            <a:endParaRPr lang="en-IN" dirty="0">
              <a:solidFill>
                <a:srgbClr val="FF0000"/>
              </a:solidFill>
            </a:endParaRPr>
          </a:p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736069-9D92-9FA1-CB86-A6580C38B9D8}"/>
              </a:ext>
            </a:extLst>
          </p:cNvPr>
          <p:cNvSpPr txBox="1"/>
          <p:nvPr/>
        </p:nvSpPr>
        <p:spPr>
          <a:xfrm>
            <a:off x="677334" y="1270000"/>
            <a:ext cx="11530828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3.1.1 Hallucinations, Reasoning Errors and Biases in Generative AI </a:t>
            </a:r>
          </a:p>
          <a:p>
            <a:endParaRPr lang="en-IN" sz="1400" dirty="0"/>
          </a:p>
          <a:p>
            <a:r>
              <a:rPr lang="en-IN" sz="1400" dirty="0">
                <a:solidFill>
                  <a:srgbClr val="FF0000"/>
                </a:solidFill>
              </a:rPr>
              <a:t>Reasoning errors occur when LLMs:</a:t>
            </a:r>
          </a:p>
          <a:p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LLMs misinterpret logical structures (cause-effect, conditional logic, step-by-step reasoning)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LLMs rely on pattern matching, not true reasoning</a:t>
            </a:r>
          </a:p>
          <a:p>
            <a:endParaRPr lang="en-IN" sz="1400" dirty="0"/>
          </a:p>
          <a:p>
            <a:r>
              <a:rPr lang="en-IN" sz="1400" b="1" dirty="0">
                <a:solidFill>
                  <a:srgbClr val="FF0000"/>
                </a:solidFill>
              </a:rPr>
              <a:t>Impact in Testing</a:t>
            </a:r>
          </a:p>
          <a:p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Faulty logic in test planning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Incorrect test case prioritization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Errors in tasks requiring structured reasoning</a:t>
            </a:r>
          </a:p>
          <a:p>
            <a:endParaRPr lang="en-IN" sz="1400" dirty="0"/>
          </a:p>
          <a:p>
            <a:r>
              <a:rPr lang="en-IN" sz="1400" b="1" dirty="0">
                <a:solidFill>
                  <a:srgbClr val="FF0000"/>
                </a:solidFill>
              </a:rPr>
              <a:t>Example</a:t>
            </a:r>
          </a:p>
          <a:p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Task: Prioritize test cases by risk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LLM incorrectly prioritizes cosmetic UI tests over payment gateway tests → faulty logic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Testers must spot logical flaws and apply human judgment to ensure accuracy.</a:t>
            </a:r>
          </a:p>
        </p:txBody>
      </p:sp>
    </p:spTree>
    <p:extLst>
      <p:ext uri="{BB962C8B-B14F-4D97-AF65-F5344CB8AC3E}">
        <p14:creationId xmlns:p14="http://schemas.microsoft.com/office/powerpoint/2010/main" val="27379103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EFF7D-EF57-585F-A332-A389A8402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943BA8B-8BF1-CB83-4268-1D5D29C92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Chapter 3 - Managing Risks of Generative AI in Software Testing 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82E0A55-9EFD-28F8-8E04-EAB84E919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390" y="1395961"/>
            <a:ext cx="8596668" cy="3880773"/>
          </a:xfrm>
        </p:spPr>
        <p:txBody>
          <a:bodyPr>
            <a:normAutofit/>
          </a:bodyPr>
          <a:lstStyle/>
          <a:p>
            <a:endParaRPr lang="en-IN" dirty="0">
              <a:solidFill>
                <a:srgbClr val="FF0000"/>
              </a:solidFill>
            </a:endParaRP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523D43-42DD-31D2-5E80-52B824E8AFAF}"/>
              </a:ext>
            </a:extLst>
          </p:cNvPr>
          <p:cNvSpPr txBox="1"/>
          <p:nvPr/>
        </p:nvSpPr>
        <p:spPr>
          <a:xfrm>
            <a:off x="606390" y="1270000"/>
            <a:ext cx="8537610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3.1.1 Hallucinations, Reasoning Errors and Biases in Generative AI</a:t>
            </a:r>
          </a:p>
          <a:p>
            <a:endParaRPr lang="en-US" b="1" dirty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sz="1400" b="1" dirty="0">
                <a:solidFill>
                  <a:srgbClr val="FF0000"/>
                </a:solidFill>
              </a:rPr>
              <a:t>Biases in GenAI</a:t>
            </a:r>
          </a:p>
          <a:p>
            <a:pPr>
              <a:buNone/>
            </a:pPr>
            <a:endParaRPr lang="en-US" sz="1400" b="1" dirty="0">
              <a:solidFill>
                <a:srgbClr val="FF0000"/>
              </a:solidFill>
            </a:endParaRPr>
          </a:p>
          <a:p>
            <a:r>
              <a:rPr lang="en-US" sz="1400" b="1" dirty="0"/>
              <a:t>LLM biases come from the data on which the model was trained</a:t>
            </a:r>
            <a:endParaRPr lang="en-US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Biases arise from training data limitations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LLM outputs may favor certain perspectives or assumptions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>
              <a:buNone/>
            </a:pPr>
            <a:r>
              <a:rPr lang="en-US" sz="1400" b="1" dirty="0"/>
              <a:t>Impact in Software Testing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Underrepresentation of non-English requirements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Skewed test data generation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Biased refinement of acceptance criteria</a:t>
            </a:r>
          </a:p>
          <a:p>
            <a:endParaRPr lang="en-US" sz="1400" dirty="0"/>
          </a:p>
          <a:p>
            <a:pPr>
              <a:buNone/>
            </a:pPr>
            <a:r>
              <a:rPr lang="en-US" sz="1400" b="1" dirty="0">
                <a:solidFill>
                  <a:srgbClr val="FF0000"/>
                </a:solidFill>
              </a:rPr>
              <a:t>Example</a:t>
            </a:r>
          </a:p>
          <a:p>
            <a:pPr>
              <a:buNone/>
            </a:pPr>
            <a:endParaRPr lang="en-US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LLM trained mostly on English data generates test cases ignoring localization needs (e.g., French or Spanish inputs).</a:t>
            </a:r>
          </a:p>
        </p:txBody>
      </p:sp>
    </p:spTree>
    <p:extLst>
      <p:ext uri="{BB962C8B-B14F-4D97-AF65-F5344CB8AC3E}">
        <p14:creationId xmlns:p14="http://schemas.microsoft.com/office/powerpoint/2010/main" val="34584965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CE8127-6B79-8A46-BD99-314607D8B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5DE152B-29D6-E410-C61C-DF489DE0F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Chapter 3 - Managing Risks of Generative AI in Software Testing 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7FAD59E-028C-FD9E-7E50-1D2585D15D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390" y="1395961"/>
            <a:ext cx="8596668" cy="3880773"/>
          </a:xfrm>
        </p:spPr>
        <p:txBody>
          <a:bodyPr>
            <a:normAutofit/>
          </a:bodyPr>
          <a:lstStyle/>
          <a:p>
            <a:endParaRPr lang="en-IN" dirty="0">
              <a:solidFill>
                <a:srgbClr val="FF0000"/>
              </a:solidFill>
            </a:endParaRP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86900A-C26A-54C7-CA0D-8335AA25AD42}"/>
              </a:ext>
            </a:extLst>
          </p:cNvPr>
          <p:cNvSpPr txBox="1"/>
          <p:nvPr/>
        </p:nvSpPr>
        <p:spPr>
          <a:xfrm>
            <a:off x="748278" y="1332297"/>
            <a:ext cx="7252721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400" b="1" dirty="0">
                <a:solidFill>
                  <a:srgbClr val="FF0000"/>
                </a:solidFill>
              </a:rPr>
              <a:t>3.1.2 Identify Hallucinations, Reasoning Errors and Biases in LLM Output</a:t>
            </a:r>
          </a:p>
          <a:p>
            <a:pPr>
              <a:buNone/>
            </a:pPr>
            <a:endParaRPr lang="en-IN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400" b="1" dirty="0"/>
              <a:t>GenAI-3.1.2 (K3)</a:t>
            </a:r>
            <a:r>
              <a:rPr lang="en-IN" sz="1400" dirty="0"/>
              <a:t> Identify hallucinations, reasoning errors and biases in LLM output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400" b="1" dirty="0"/>
              <a:t>HO-3.1.2a (H1)</a:t>
            </a:r>
            <a:r>
              <a:rPr lang="en-IN" sz="1400" dirty="0"/>
              <a:t> Experiment with hallucinations in testing with GenAI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400" b="1" dirty="0"/>
              <a:t>HO-3.1.2b (H1)</a:t>
            </a:r>
            <a:r>
              <a:rPr lang="en-IN" sz="1400" dirty="0"/>
              <a:t> Experiment with reasoning errors in testing with GenAI</a:t>
            </a:r>
          </a:p>
        </p:txBody>
      </p:sp>
    </p:spTree>
    <p:extLst>
      <p:ext uri="{BB962C8B-B14F-4D97-AF65-F5344CB8AC3E}">
        <p14:creationId xmlns:p14="http://schemas.microsoft.com/office/powerpoint/2010/main" val="17674442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96EE7B-9446-C569-C19C-20FDACEF1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9078F2D-7AFA-118A-3DFE-8A5BA30B4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Chapter 3 - Managing Risks of Generative AI in Software Testing 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0B6606D-8D2A-3595-AA00-86A4B35041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390" y="1395961"/>
            <a:ext cx="8596668" cy="3880773"/>
          </a:xfrm>
        </p:spPr>
        <p:txBody>
          <a:bodyPr>
            <a:normAutofit/>
          </a:bodyPr>
          <a:lstStyle/>
          <a:p>
            <a:endParaRPr lang="en-IN" dirty="0">
              <a:solidFill>
                <a:srgbClr val="FF0000"/>
              </a:solidFill>
            </a:endParaRP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BE1782-2109-7320-71D2-BB3F31D7BFCF}"/>
              </a:ext>
            </a:extLst>
          </p:cNvPr>
          <p:cNvSpPr txBox="1"/>
          <p:nvPr/>
        </p:nvSpPr>
        <p:spPr>
          <a:xfrm>
            <a:off x="677333" y="1139804"/>
            <a:ext cx="8419369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dirty="0">
                <a:solidFill>
                  <a:srgbClr val="FF0000"/>
                </a:solidFill>
              </a:rPr>
              <a:t>3.1.2 Identify Hallucinations, Reasoning Errors and Biases in LLM Output</a:t>
            </a:r>
            <a:endParaRPr lang="en-US" sz="1400" b="1" dirty="0">
              <a:solidFill>
                <a:srgbClr val="FF0000"/>
              </a:solidFill>
            </a:endParaRPr>
          </a:p>
          <a:p>
            <a:pPr>
              <a:buNone/>
            </a:pPr>
            <a:endParaRPr lang="en-US" sz="1400" b="1" dirty="0"/>
          </a:p>
          <a:p>
            <a:pPr>
              <a:buNone/>
            </a:pPr>
            <a:r>
              <a:rPr lang="en-US" sz="1400" b="1" dirty="0">
                <a:solidFill>
                  <a:srgbClr val="FF0000"/>
                </a:solidFill>
              </a:rPr>
              <a:t>Identify Hallucinations, Reasoning Errors and Biases in LLM Output</a:t>
            </a:r>
          </a:p>
          <a:p>
            <a:pPr>
              <a:buNone/>
            </a:pPr>
            <a:endParaRPr lang="en-US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Effective integration of GenAI systems into software testing requires the ability to detect hallucinations, reasoning errors and biases in LLM output.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GenAI systems (LLMs) can produce hallucinations, reasoning errors, and biases.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These defects reduce the quality of generated test ware.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Effective integration requires testers to spot and mitigate these issues.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Detection methods vary depending on the type of defect.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Detection methods can be applied through review or a mix of review and automated verification.</a:t>
            </a:r>
          </a:p>
        </p:txBody>
      </p:sp>
    </p:spTree>
    <p:extLst>
      <p:ext uri="{BB962C8B-B14F-4D97-AF65-F5344CB8AC3E}">
        <p14:creationId xmlns:p14="http://schemas.microsoft.com/office/powerpoint/2010/main" val="32042204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D8475C-D9D2-D65F-A761-901A78312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B7B0BA6-F626-BEEB-6670-B3863130C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Chapter 3 - Managing Risks of Generative AI in Software Testing 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E79407A-0CD4-7263-D846-25B9CC99AD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390" y="1395961"/>
            <a:ext cx="8596668" cy="3880773"/>
          </a:xfrm>
        </p:spPr>
        <p:txBody>
          <a:bodyPr>
            <a:normAutofit/>
          </a:bodyPr>
          <a:lstStyle/>
          <a:p>
            <a:endParaRPr lang="en-IN" dirty="0">
              <a:solidFill>
                <a:srgbClr val="FF0000"/>
              </a:solidFill>
            </a:endParaRP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69A326-D4F1-3615-8BCD-14DC7F136BCE}"/>
              </a:ext>
            </a:extLst>
          </p:cNvPr>
          <p:cNvSpPr txBox="1"/>
          <p:nvPr/>
        </p:nvSpPr>
        <p:spPr>
          <a:xfrm>
            <a:off x="606390" y="1166842"/>
            <a:ext cx="9057873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3.1.2 Identify Hallucinations, Reasoning Errors and Biases in LLM Output</a:t>
            </a:r>
            <a:endParaRPr lang="en-US" sz="1400" b="1" dirty="0">
              <a:solidFill>
                <a:srgbClr val="FF0000"/>
              </a:solidFill>
            </a:endParaRPr>
          </a:p>
          <a:p>
            <a:pPr>
              <a:buNone/>
            </a:pPr>
            <a:endParaRPr lang="en-IN" sz="1400" b="1" dirty="0"/>
          </a:p>
          <a:p>
            <a:pPr>
              <a:buNone/>
            </a:pPr>
            <a:endParaRPr lang="en-IN" sz="1400" b="1" dirty="0"/>
          </a:p>
          <a:p>
            <a:pPr>
              <a:buNone/>
            </a:pPr>
            <a:r>
              <a:rPr lang="en-IN" sz="1400" b="1" dirty="0">
                <a:solidFill>
                  <a:srgbClr val="FF0000"/>
                </a:solidFill>
              </a:rPr>
              <a:t>Detecting Hallucinations in GenAI</a:t>
            </a:r>
          </a:p>
          <a:p>
            <a:pPr>
              <a:buNone/>
            </a:pPr>
            <a:endParaRPr lang="en-IN" sz="1400" b="1" dirty="0"/>
          </a:p>
          <a:p>
            <a:pPr>
              <a:buNone/>
            </a:pPr>
            <a:r>
              <a:rPr lang="en-IN" sz="1400" b="1" dirty="0">
                <a:solidFill>
                  <a:srgbClr val="FF0000"/>
                </a:solidFill>
              </a:rPr>
              <a:t>What are Hallucinations?</a:t>
            </a:r>
          </a:p>
          <a:p>
            <a:pPr>
              <a:buNone/>
            </a:pPr>
            <a:endParaRPr lang="en-IN" sz="14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/>
              <a:t>AI generates factually incorrect or irrelevant outputs.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/>
              <a:t>Hallucinations can mislead testers and compromise test validity.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1400" dirty="0"/>
          </a:p>
          <a:p>
            <a:pPr>
              <a:buNone/>
            </a:pPr>
            <a:r>
              <a:rPr lang="en-IN" sz="1400" b="1" dirty="0">
                <a:solidFill>
                  <a:srgbClr val="FF0000"/>
                </a:solidFill>
              </a:rPr>
              <a:t>Hallucinations Detection Approaches</a:t>
            </a:r>
          </a:p>
          <a:p>
            <a:pPr>
              <a:buNone/>
            </a:pPr>
            <a:endParaRPr lang="en-IN" sz="14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400" b="1" dirty="0"/>
              <a:t>Cross-verification:</a:t>
            </a:r>
            <a:r>
              <a:rPr lang="en-IN" sz="1400" dirty="0"/>
              <a:t> Compare outputs with requirements, documentation, or known system behaviour.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400" b="1" dirty="0"/>
              <a:t>Domain expertise consultation:</a:t>
            </a:r>
            <a:r>
              <a:rPr lang="en-IN" sz="1400" dirty="0"/>
              <a:t> SMEs validate accuracy and catch nuanced insights that automated systems might overlook.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400" b="1" dirty="0"/>
              <a:t>Consistency checks:</a:t>
            </a:r>
            <a:r>
              <a:rPr lang="en-IN" sz="1400" dirty="0"/>
              <a:t> Ensure outputs align with each other and known facts.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1400" dirty="0"/>
          </a:p>
          <a:p>
            <a:pPr>
              <a:buNone/>
            </a:pPr>
            <a:r>
              <a:rPr lang="en-IN" sz="1400" b="1" dirty="0">
                <a:solidFill>
                  <a:srgbClr val="FF0000"/>
                </a:solidFill>
              </a:rPr>
              <a:t>Example</a:t>
            </a:r>
          </a:p>
          <a:p>
            <a:pPr>
              <a:buNone/>
            </a:pPr>
            <a:endParaRPr lang="en-IN" sz="14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400" b="1" dirty="0"/>
              <a:t>Requirement:</a:t>
            </a:r>
            <a:r>
              <a:rPr lang="en-IN" sz="1400" dirty="0"/>
              <a:t> “System must support password reset via email.”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b="1" dirty="0"/>
              <a:t>AI hallucinates:</a:t>
            </a:r>
            <a:r>
              <a:rPr lang="en-IN" sz="1400" dirty="0"/>
              <a:t> “System also supports biometric reset.” (Incorrect assumption)</a:t>
            </a:r>
          </a:p>
        </p:txBody>
      </p:sp>
    </p:spTree>
    <p:extLst>
      <p:ext uri="{BB962C8B-B14F-4D97-AF65-F5344CB8AC3E}">
        <p14:creationId xmlns:p14="http://schemas.microsoft.com/office/powerpoint/2010/main" val="17421572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4C29F0-ED50-FF0E-6E73-E727123DC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F85CC7E-D70F-4233-6B94-2C9104BAF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Chapter 3 - Managing Risks of Generative AI in Software Testing 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6DB0900-3A32-5BB4-2592-6FBF931164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390" y="1395961"/>
            <a:ext cx="8596668" cy="3880773"/>
          </a:xfrm>
        </p:spPr>
        <p:txBody>
          <a:bodyPr>
            <a:normAutofit/>
          </a:bodyPr>
          <a:lstStyle/>
          <a:p>
            <a:endParaRPr lang="en-IN" dirty="0">
              <a:solidFill>
                <a:srgbClr val="FF0000"/>
              </a:solidFill>
            </a:endParaRP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B93E39-CA87-F30D-B102-BB51D4DFD9A0}"/>
              </a:ext>
            </a:extLst>
          </p:cNvPr>
          <p:cNvSpPr txBox="1"/>
          <p:nvPr/>
        </p:nvSpPr>
        <p:spPr>
          <a:xfrm>
            <a:off x="652664" y="1079799"/>
            <a:ext cx="10886671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1400" b="1" dirty="0">
              <a:solidFill>
                <a:srgbClr val="FF0000"/>
              </a:solidFill>
            </a:endParaRPr>
          </a:p>
          <a:p>
            <a:r>
              <a:rPr lang="en-US" sz="1400" dirty="0">
                <a:solidFill>
                  <a:srgbClr val="FF0000"/>
                </a:solidFill>
              </a:rPr>
              <a:t>3.1.2 Identify Hallucinations, Reasoning Errors and Biases in LLM Output</a:t>
            </a:r>
            <a:endParaRPr lang="en-US" sz="1400" b="1" dirty="0">
              <a:solidFill>
                <a:srgbClr val="FF0000"/>
              </a:solidFill>
            </a:endParaRPr>
          </a:p>
          <a:p>
            <a:endParaRPr lang="en-IN" sz="1400" b="1" dirty="0">
              <a:solidFill>
                <a:srgbClr val="FF0000"/>
              </a:solidFill>
            </a:endParaRPr>
          </a:p>
          <a:p>
            <a:r>
              <a:rPr lang="en-IN" sz="1400" b="1" dirty="0">
                <a:solidFill>
                  <a:srgbClr val="FF0000"/>
                </a:solidFill>
              </a:rPr>
              <a:t>What are Reasoning Errors?</a:t>
            </a:r>
          </a:p>
          <a:p>
            <a:endParaRPr lang="en-IN" sz="1400" dirty="0"/>
          </a:p>
          <a:p>
            <a:r>
              <a:rPr lang="en-IN" sz="1400" dirty="0"/>
              <a:t>AI misinterprets logical structures (cause-effect, conditional logic, step-by-step reasoning).</a:t>
            </a:r>
          </a:p>
          <a:p>
            <a:endParaRPr lang="en-IN" sz="1400" dirty="0"/>
          </a:p>
          <a:p>
            <a:r>
              <a:rPr lang="en-IN" sz="1400" dirty="0"/>
              <a:t>Relies on pattern matching, not true reasoning.</a:t>
            </a:r>
          </a:p>
          <a:p>
            <a:endParaRPr lang="en-IN" sz="1400" dirty="0"/>
          </a:p>
          <a:p>
            <a:r>
              <a:rPr lang="en-IN" sz="1400" b="1" dirty="0">
                <a:solidFill>
                  <a:srgbClr val="FF0000"/>
                </a:solidFill>
              </a:rPr>
              <a:t>Reasoning Error Detection Approaches</a:t>
            </a:r>
          </a:p>
          <a:p>
            <a:endParaRPr lang="en-IN" sz="1400" dirty="0"/>
          </a:p>
          <a:p>
            <a:r>
              <a:rPr lang="en-IN" sz="1400" dirty="0">
                <a:solidFill>
                  <a:srgbClr val="FF0000"/>
                </a:solidFill>
              </a:rPr>
              <a:t>Logical validation</a:t>
            </a:r>
            <a:r>
              <a:rPr lang="en-IN" sz="1400" dirty="0"/>
              <a:t>: Evaluate the logical flow (e.g., the consistency, coherence, and structured reasoning within the generated text) of AI-generated content for coherence and correctness through review cycles.</a:t>
            </a:r>
          </a:p>
          <a:p>
            <a:endParaRPr lang="en-IN" sz="1400" dirty="0"/>
          </a:p>
          <a:p>
            <a:r>
              <a:rPr lang="en-IN" sz="1400" dirty="0">
                <a:solidFill>
                  <a:srgbClr val="FF0000"/>
                </a:solidFill>
              </a:rPr>
              <a:t>Output testing:</a:t>
            </a:r>
            <a:r>
              <a:rPr lang="en-IN" sz="1400" dirty="0"/>
              <a:t> Run generated test cases/scripts against test objects to verify results.</a:t>
            </a:r>
          </a:p>
          <a:p>
            <a:endParaRPr lang="en-IN" sz="1400" dirty="0"/>
          </a:p>
          <a:p>
            <a:r>
              <a:rPr lang="en-IN" sz="1400" b="1" dirty="0">
                <a:solidFill>
                  <a:srgbClr val="FF0000"/>
                </a:solidFill>
              </a:rPr>
              <a:t>Example</a:t>
            </a:r>
          </a:p>
          <a:p>
            <a:endParaRPr lang="en-IN" sz="1400" dirty="0"/>
          </a:p>
          <a:p>
            <a:r>
              <a:rPr lang="en-IN" sz="1400" dirty="0"/>
              <a:t>Task: Prioritize test cases by risk.</a:t>
            </a:r>
          </a:p>
          <a:p>
            <a:endParaRPr lang="en-IN" sz="1400" dirty="0"/>
          </a:p>
          <a:p>
            <a:r>
              <a:rPr lang="en-IN" sz="1400" dirty="0"/>
              <a:t>AI incorrectly prioritizes cosmetic UI tests over payment gateway tests.</a:t>
            </a:r>
          </a:p>
          <a:p>
            <a:endParaRPr lang="en-IN" sz="1400" dirty="0"/>
          </a:p>
          <a:p>
            <a:r>
              <a:rPr lang="en-IN" sz="1400" dirty="0"/>
              <a:t>Testers’ judgment and automated checks ensure logical soundness of AI-generated </a:t>
            </a:r>
            <a:r>
              <a:rPr lang="en-IN" sz="1400" dirty="0" err="1"/>
              <a:t>testware</a:t>
            </a:r>
            <a:r>
              <a:rPr lang="en-IN" sz="1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544468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63C88A-7522-6B0B-0F25-355A44F4C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3C19C2B-A0AD-D4B9-186A-341EECF74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Chapter 3 - Managing Risks of Generative AI in Software Testing 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F792F79-96EC-5AD6-B13A-ABD81507F8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390" y="1395961"/>
            <a:ext cx="8596668" cy="3880773"/>
          </a:xfrm>
        </p:spPr>
        <p:txBody>
          <a:bodyPr>
            <a:normAutofit/>
          </a:bodyPr>
          <a:lstStyle/>
          <a:p>
            <a:endParaRPr lang="en-IN" dirty="0">
              <a:solidFill>
                <a:srgbClr val="FF0000"/>
              </a:solidFill>
            </a:endParaRP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79B8B5-1545-C83E-04A8-15606A7A8FB3}"/>
              </a:ext>
            </a:extLst>
          </p:cNvPr>
          <p:cNvSpPr txBox="1"/>
          <p:nvPr/>
        </p:nvSpPr>
        <p:spPr>
          <a:xfrm>
            <a:off x="677333" y="1074189"/>
            <a:ext cx="9144584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sz="1400" b="1" dirty="0"/>
          </a:p>
          <a:p>
            <a:r>
              <a:rPr lang="en-US" sz="1400" dirty="0">
                <a:solidFill>
                  <a:srgbClr val="FF0000"/>
                </a:solidFill>
              </a:rPr>
              <a:t>3.1.2 Identify Hallucinations, Reasoning Errors and Biases in LLM Output</a:t>
            </a:r>
            <a:endParaRPr lang="en-US" sz="1400" b="1" dirty="0">
              <a:solidFill>
                <a:srgbClr val="FF0000"/>
              </a:solidFill>
            </a:endParaRPr>
          </a:p>
          <a:p>
            <a:pPr>
              <a:buNone/>
            </a:pPr>
            <a:endParaRPr lang="en-US" sz="1400" b="1" dirty="0"/>
          </a:p>
          <a:p>
            <a:pPr>
              <a:buNone/>
            </a:pPr>
            <a:r>
              <a:rPr lang="en-US" sz="1400" b="1" dirty="0">
                <a:solidFill>
                  <a:srgbClr val="FF0000"/>
                </a:solidFill>
              </a:rPr>
              <a:t>What are Biases?</a:t>
            </a:r>
          </a:p>
          <a:p>
            <a:pPr>
              <a:buNone/>
            </a:pPr>
            <a:endParaRPr lang="en-US" sz="14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Biases stem from training data limitations.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Outputs may favor certain perspectives or assumptions.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/>
          </a:p>
          <a:p>
            <a:pPr>
              <a:buNone/>
            </a:pPr>
            <a:r>
              <a:rPr lang="en-US" sz="1400" b="1" dirty="0">
                <a:solidFill>
                  <a:srgbClr val="FF0000"/>
                </a:solidFill>
              </a:rPr>
              <a:t>Bias Detection Approaches</a:t>
            </a:r>
          </a:p>
          <a:p>
            <a:pPr>
              <a:buNone/>
            </a:pPr>
            <a:endParaRPr lang="en-US" sz="14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Fair representation review:</a:t>
            </a:r>
            <a:r>
              <a:rPr lang="en-US" sz="1400" dirty="0"/>
              <a:t> Reviewing how generated </a:t>
            </a:r>
            <a:r>
              <a:rPr lang="en-US" sz="1400" dirty="0" err="1"/>
              <a:t>testware</a:t>
            </a:r>
            <a:r>
              <a:rPr lang="en-US" sz="1400" dirty="0"/>
              <a:t>, such as synthetic test data, is fairly and accurately represented relative to the test strategy.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Test type balance:</a:t>
            </a:r>
            <a:r>
              <a:rPr lang="en-US" sz="1400" dirty="0"/>
              <a:t> Assessing biases related to test types, checking for underrepresented non-functional tests (e.g., performance, security).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/>
          </a:p>
          <a:p>
            <a:pPr>
              <a:buNone/>
            </a:pPr>
            <a:r>
              <a:rPr lang="en-US" sz="1400" b="1" dirty="0">
                <a:solidFill>
                  <a:srgbClr val="FF0000"/>
                </a:solidFill>
              </a:rPr>
              <a:t>Example</a:t>
            </a:r>
          </a:p>
          <a:p>
            <a:pPr>
              <a:buNone/>
            </a:pPr>
            <a:endParaRPr lang="en-US" sz="14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AI trained mostly on English data generates test cases ignoring localization needs (Hindi, Spanish, etc.).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Testers must ensure AI outputs are inclusive, balanced, and aligned with test objectives.</a:t>
            </a:r>
          </a:p>
        </p:txBody>
      </p:sp>
    </p:spTree>
    <p:extLst>
      <p:ext uri="{BB962C8B-B14F-4D97-AF65-F5344CB8AC3E}">
        <p14:creationId xmlns:p14="http://schemas.microsoft.com/office/powerpoint/2010/main" val="34786879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BEB6D9-1923-9190-6C34-6A80EA641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374DA7C-F52F-C3E7-51B3-CC94E9111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Chapter 3 - Managing Risks of Generative AI in Software Testing 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6BC877F-1290-6BF5-5180-E8A8D654DD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390" y="1395961"/>
            <a:ext cx="8596668" cy="3880773"/>
          </a:xfrm>
        </p:spPr>
        <p:txBody>
          <a:bodyPr>
            <a:normAutofit/>
          </a:bodyPr>
          <a:lstStyle/>
          <a:p>
            <a:endParaRPr lang="en-IN" dirty="0">
              <a:solidFill>
                <a:srgbClr val="FF0000"/>
              </a:solidFill>
            </a:endParaRP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451FC4-B131-D66D-9987-D6EFAF142591}"/>
              </a:ext>
            </a:extLst>
          </p:cNvPr>
          <p:cNvSpPr txBox="1"/>
          <p:nvPr/>
        </p:nvSpPr>
        <p:spPr>
          <a:xfrm>
            <a:off x="606389" y="1269999"/>
            <a:ext cx="8387839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400" b="1" dirty="0">
                <a:solidFill>
                  <a:srgbClr val="FF0000"/>
                </a:solidFill>
              </a:rPr>
              <a:t>3.1.3 Mitigation techniques of GenAI hallucinations, reasoning errors and biases in software test tasks</a:t>
            </a:r>
          </a:p>
          <a:p>
            <a:pPr>
              <a:buNone/>
            </a:pPr>
            <a:endParaRPr lang="en-IN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400" b="1" dirty="0"/>
              <a:t>GenAI-3.1.3 (K2)</a:t>
            </a:r>
            <a:r>
              <a:rPr lang="en-IN" sz="1400" dirty="0"/>
              <a:t> Summarize mitigation techniques for GenAI hallucinations, reasoning errors and biases in software test tasks.</a:t>
            </a:r>
          </a:p>
        </p:txBody>
      </p:sp>
    </p:spTree>
    <p:extLst>
      <p:ext uri="{BB962C8B-B14F-4D97-AF65-F5344CB8AC3E}">
        <p14:creationId xmlns:p14="http://schemas.microsoft.com/office/powerpoint/2010/main" val="5215047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9E63C-29C6-5D3B-EF61-543C92007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CF969BF-763C-F6DD-A876-10D853055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Chapter 3 - Managing Risks of Generative AI in Software Testing 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E84CCEE-C7AB-F9C8-5EA7-19AAAA2950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390" y="1395961"/>
            <a:ext cx="8596668" cy="3880773"/>
          </a:xfrm>
        </p:spPr>
        <p:txBody>
          <a:bodyPr>
            <a:normAutofit/>
          </a:bodyPr>
          <a:lstStyle/>
          <a:p>
            <a:endParaRPr lang="en-IN" dirty="0">
              <a:solidFill>
                <a:srgbClr val="FF0000"/>
              </a:solidFill>
            </a:endParaRP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D84032-BE36-7AA4-5C34-BC2FB4B6450F}"/>
              </a:ext>
            </a:extLst>
          </p:cNvPr>
          <p:cNvSpPr txBox="1"/>
          <p:nvPr/>
        </p:nvSpPr>
        <p:spPr>
          <a:xfrm>
            <a:off x="606389" y="952988"/>
            <a:ext cx="11414817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1400" dirty="0"/>
          </a:p>
          <a:p>
            <a:r>
              <a:rPr lang="en-US" sz="1400" b="1" dirty="0">
                <a:solidFill>
                  <a:srgbClr val="FF0000"/>
                </a:solidFill>
              </a:rPr>
              <a:t>3.1.3 Mitigation techniques of GenAI hallucinations, reasoning errors and biases in software test tasks</a:t>
            </a:r>
            <a:endParaRPr lang="en-IN" sz="1400" b="1" dirty="0">
              <a:solidFill>
                <a:srgbClr val="FF0000"/>
              </a:solidFill>
            </a:endParaRPr>
          </a:p>
          <a:p>
            <a:endParaRPr lang="en-IN" sz="1400" dirty="0"/>
          </a:p>
          <a:p>
            <a:r>
              <a:rPr lang="en-IN" sz="1400" dirty="0"/>
              <a:t>To minimize undesirable outcomes of GenAI in software testing, several strategies can be employed to reduce hallucinations, reasoning errors and biases.</a:t>
            </a:r>
          </a:p>
          <a:p>
            <a:endParaRPr lang="en-IN" sz="1400" dirty="0"/>
          </a:p>
          <a:p>
            <a:r>
              <a:rPr lang="en-IN" sz="1400" b="1" dirty="0">
                <a:solidFill>
                  <a:srgbClr val="FF0000"/>
                </a:solidFill>
              </a:rPr>
              <a:t>These issues often occur when:</a:t>
            </a:r>
          </a:p>
          <a:p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Prompts are poorly designed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Contextual input data is incomplete</a:t>
            </a:r>
          </a:p>
          <a:p>
            <a:endParaRPr lang="en-IN" sz="1400" dirty="0"/>
          </a:p>
          <a:p>
            <a:r>
              <a:rPr lang="en-IN" sz="1400" b="1" dirty="0">
                <a:solidFill>
                  <a:srgbClr val="FF0000"/>
                </a:solidFill>
              </a:rPr>
              <a:t>Key techniques for mitigating risks associated with AI hallucinations, reasoning errors and biases include:</a:t>
            </a:r>
          </a:p>
          <a:p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Provide complete context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Divide prompts into manageable segments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Use clear, interpretable data formats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Select the appropriate GenAI model for the task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Compare results across models</a:t>
            </a:r>
          </a:p>
        </p:txBody>
      </p:sp>
    </p:spTree>
    <p:extLst>
      <p:ext uri="{BB962C8B-B14F-4D97-AF65-F5344CB8AC3E}">
        <p14:creationId xmlns:p14="http://schemas.microsoft.com/office/powerpoint/2010/main" val="41424614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636CEE-FAA9-B743-9133-7B5386CA5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51788D2-B932-FFA5-31C8-9CB4012ED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Chapter 3 - Managing Risks of Generative AI in Software Testing 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DC8354D-E796-9D06-7F7B-93D6983315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390" y="1395961"/>
            <a:ext cx="8596668" cy="3880773"/>
          </a:xfrm>
        </p:spPr>
        <p:txBody>
          <a:bodyPr>
            <a:normAutofit/>
          </a:bodyPr>
          <a:lstStyle/>
          <a:p>
            <a:endParaRPr lang="en-IN" dirty="0">
              <a:solidFill>
                <a:srgbClr val="FF0000"/>
              </a:solidFill>
            </a:endParaRP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A1C917-3CBC-A1AA-B15F-BDCB5376055D}"/>
              </a:ext>
            </a:extLst>
          </p:cNvPr>
          <p:cNvSpPr txBox="1"/>
          <p:nvPr/>
        </p:nvSpPr>
        <p:spPr>
          <a:xfrm>
            <a:off x="480265" y="1079799"/>
            <a:ext cx="11414817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1400" dirty="0"/>
          </a:p>
          <a:p>
            <a:r>
              <a:rPr lang="en-US" sz="1400" b="1" dirty="0">
                <a:solidFill>
                  <a:srgbClr val="FF0000"/>
                </a:solidFill>
              </a:rPr>
              <a:t>3.1.3 Mitigation techniques of GenAI hallucinations, reasoning errors and biases in software test tasks</a:t>
            </a:r>
            <a:endParaRPr lang="en-IN" sz="1400" b="1" dirty="0">
              <a:solidFill>
                <a:srgbClr val="FF0000"/>
              </a:solidFill>
            </a:endParaRPr>
          </a:p>
          <a:p>
            <a:endParaRPr lang="en-IN" sz="1400" dirty="0"/>
          </a:p>
          <a:p>
            <a:r>
              <a:rPr lang="en-IN" sz="1400" dirty="0"/>
              <a:t>To minimize undesirable outcomes of GenAI in software testing, several strategies can be employed to reduce hallucinations, reasoning errors and biases.</a:t>
            </a:r>
          </a:p>
          <a:p>
            <a:endParaRPr lang="en-IN" sz="1400" dirty="0"/>
          </a:p>
          <a:p>
            <a:r>
              <a:rPr lang="en-IN" sz="1400" b="1" dirty="0">
                <a:solidFill>
                  <a:srgbClr val="FF0000"/>
                </a:solidFill>
              </a:rPr>
              <a:t>These issues often occur when:</a:t>
            </a:r>
          </a:p>
          <a:p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Prompts are poorly designed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Contextual input data is incomplete</a:t>
            </a:r>
          </a:p>
          <a:p>
            <a:endParaRPr lang="en-IN" sz="1400" dirty="0"/>
          </a:p>
          <a:p>
            <a:r>
              <a:rPr lang="en-IN" sz="1400" b="1" dirty="0">
                <a:solidFill>
                  <a:srgbClr val="FF0000"/>
                </a:solidFill>
              </a:rPr>
              <a:t>Key techniques for mitigating risks associated with AI hallucinations, reasoning errors and biases include:</a:t>
            </a:r>
          </a:p>
          <a:p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Provide complete context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Divide prompts into manageable segments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Use clear, interpretable data formats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Select the appropriate GenAI model for the task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Compare results across models</a:t>
            </a:r>
          </a:p>
        </p:txBody>
      </p:sp>
    </p:spTree>
    <p:extLst>
      <p:ext uri="{BB962C8B-B14F-4D97-AF65-F5344CB8AC3E}">
        <p14:creationId xmlns:p14="http://schemas.microsoft.com/office/powerpoint/2010/main" val="1225696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4E7200-A9C8-E5D8-A233-DFA2A3530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F4D4E62-3192-B99A-F039-C58C9B630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Chapter 3 - Managing Risks of Generative AI in Software Testing 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8DE194E-A090-331F-6BB0-0D73BFDCDF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390" y="1395961"/>
            <a:ext cx="8596668" cy="3880773"/>
          </a:xfrm>
        </p:spPr>
        <p:txBody>
          <a:bodyPr>
            <a:normAutofit/>
          </a:bodyPr>
          <a:lstStyle/>
          <a:p>
            <a:endParaRPr lang="en-IN" dirty="0">
              <a:solidFill>
                <a:srgbClr val="FF0000"/>
              </a:solidFill>
            </a:endParaRP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2878A9-8C2C-F433-C802-2E0B2DB271E1}"/>
              </a:ext>
            </a:extLst>
          </p:cNvPr>
          <p:cNvSpPr txBox="1"/>
          <p:nvPr/>
        </p:nvSpPr>
        <p:spPr>
          <a:xfrm>
            <a:off x="677334" y="1001111"/>
            <a:ext cx="11194100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>
                <a:solidFill>
                  <a:srgbClr val="FF0000"/>
                </a:solidFill>
              </a:rPr>
              <a:t>3.1.3 Mitigation techniques of GenAI hallucinations, reasoning errors and biases in software test tasks</a:t>
            </a:r>
            <a:endParaRPr lang="en-IN" sz="1100" b="1" dirty="0">
              <a:solidFill>
                <a:srgbClr val="FF0000"/>
              </a:solidFill>
            </a:endParaRPr>
          </a:p>
          <a:p>
            <a:endParaRPr lang="en-IN" sz="1100" dirty="0"/>
          </a:p>
          <a:p>
            <a:r>
              <a:rPr lang="en-IN" sz="1100" dirty="0">
                <a:solidFill>
                  <a:srgbClr val="FF0000"/>
                </a:solidFill>
              </a:rPr>
              <a:t>Provide Complete Context</a:t>
            </a:r>
          </a:p>
          <a:p>
            <a:endParaRPr lang="en-IN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dirty="0"/>
              <a:t>Prompts should include all relevant information.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N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dirty="0"/>
              <a:t>It helps GenAI generate outputs aligned with requirements.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N" sz="1100" dirty="0"/>
          </a:p>
          <a:p>
            <a:r>
              <a:rPr lang="en-IN" sz="1100" dirty="0">
                <a:solidFill>
                  <a:srgbClr val="FF0000"/>
                </a:solidFill>
              </a:rPr>
              <a:t>Example</a:t>
            </a:r>
          </a:p>
          <a:p>
            <a:endParaRPr lang="en-IN" sz="1100" dirty="0"/>
          </a:p>
          <a:p>
            <a:r>
              <a:rPr lang="en-IN" sz="1100" dirty="0"/>
              <a:t>Poor prompt: “Generate test cases for login.”</a:t>
            </a:r>
          </a:p>
          <a:p>
            <a:endParaRPr lang="en-IN" sz="1100" dirty="0"/>
          </a:p>
          <a:p>
            <a:r>
              <a:rPr lang="en-IN" sz="1100" dirty="0"/>
              <a:t>Better prompt: “Generate boundary test cases for login with username length 5–15 characters, including valid and invalid inputs.”</a:t>
            </a:r>
          </a:p>
          <a:p>
            <a:endParaRPr lang="en-IN" sz="1100" dirty="0"/>
          </a:p>
          <a:p>
            <a:r>
              <a:rPr lang="en-IN" sz="1100" dirty="0">
                <a:solidFill>
                  <a:srgbClr val="FF0000"/>
                </a:solidFill>
              </a:rPr>
              <a:t>Divide Prompts into Manageable Segments (Use Prompt Chaining)</a:t>
            </a:r>
          </a:p>
          <a:p>
            <a:endParaRPr lang="en-IN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dirty="0"/>
              <a:t>Break complex tasks into smaller steps.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N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dirty="0"/>
              <a:t>Verify each output before moving forward.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N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dirty="0"/>
              <a:t>Detect reasoning errors early.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N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dirty="0"/>
              <a:t>Step-by-step prompts are clearer and provide more reliable outputs.</a:t>
            </a:r>
          </a:p>
          <a:p>
            <a:endParaRPr lang="en-IN" sz="1100" dirty="0"/>
          </a:p>
          <a:p>
            <a:r>
              <a:rPr lang="en-IN" sz="1100" b="1" dirty="0"/>
              <a:t>Example</a:t>
            </a:r>
          </a:p>
          <a:p>
            <a:endParaRPr lang="en-IN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dirty="0"/>
              <a:t>Generate login test cases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N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dirty="0"/>
              <a:t>Refine for edge cases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N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dirty="0"/>
              <a:t>Validate coverage against requirements</a:t>
            </a:r>
          </a:p>
        </p:txBody>
      </p:sp>
    </p:spTree>
    <p:extLst>
      <p:ext uri="{BB962C8B-B14F-4D97-AF65-F5344CB8AC3E}">
        <p14:creationId xmlns:p14="http://schemas.microsoft.com/office/powerpoint/2010/main" val="8183645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E1D06-2B8C-CAAC-4635-B063B3A73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DD64E38-3700-4572-52E3-6E9E8EEAD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Chapter 3 - Managing Risks of Generative AI in Software Testing 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331ECFC-E919-F0AB-0348-D16C6F8029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390" y="1395961"/>
            <a:ext cx="8596668" cy="3880773"/>
          </a:xfrm>
        </p:spPr>
        <p:txBody>
          <a:bodyPr>
            <a:normAutofit/>
          </a:bodyPr>
          <a:lstStyle/>
          <a:p>
            <a:endParaRPr lang="en-IN" dirty="0">
              <a:solidFill>
                <a:srgbClr val="FF0000"/>
              </a:solidFill>
            </a:endParaRP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13CF91-DBFF-EE69-2BF9-E4DC82149B12}"/>
              </a:ext>
            </a:extLst>
          </p:cNvPr>
          <p:cNvSpPr txBox="1"/>
          <p:nvPr/>
        </p:nvSpPr>
        <p:spPr>
          <a:xfrm>
            <a:off x="677334" y="1001111"/>
            <a:ext cx="11194100" cy="4662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>
                <a:solidFill>
                  <a:srgbClr val="FF0000"/>
                </a:solidFill>
              </a:rPr>
              <a:t>3.1.3 Mitigation techniques of GenAI hallucinations, reasoning errors and biases in software test tasks</a:t>
            </a:r>
            <a:endParaRPr lang="en-IN" sz="1100" b="1" dirty="0">
              <a:solidFill>
                <a:srgbClr val="FF0000"/>
              </a:solidFill>
            </a:endParaRPr>
          </a:p>
          <a:p>
            <a:endParaRPr lang="en-IN" sz="1100" dirty="0"/>
          </a:p>
          <a:p>
            <a:endParaRPr lang="en-IN" sz="1100" dirty="0"/>
          </a:p>
          <a:p>
            <a:r>
              <a:rPr lang="en-IN" sz="1100" dirty="0">
                <a:solidFill>
                  <a:srgbClr val="FF0000"/>
                </a:solidFill>
              </a:rPr>
              <a:t>Use Clear, Interpretable Data Formats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N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dirty="0"/>
              <a:t>Avoid ambiguous formats.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N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dirty="0"/>
              <a:t>Use structured, straightforward formats (tables, lists, Gherkin scenarios).</a:t>
            </a:r>
          </a:p>
          <a:p>
            <a:endParaRPr lang="en-IN" sz="1100" dirty="0"/>
          </a:p>
          <a:p>
            <a:r>
              <a:rPr lang="en-IN" sz="1100" b="1" dirty="0">
                <a:solidFill>
                  <a:srgbClr val="FF0000"/>
                </a:solidFill>
              </a:rPr>
              <a:t>Example</a:t>
            </a:r>
          </a:p>
          <a:p>
            <a:endParaRPr lang="en-IN" sz="1100" dirty="0"/>
          </a:p>
          <a:p>
            <a:r>
              <a:rPr lang="en-IN" sz="1100" dirty="0"/>
              <a:t>Ambiguous: “Create test cases for the checkout scenario.”</a:t>
            </a:r>
          </a:p>
          <a:p>
            <a:endParaRPr lang="en-IN" sz="1100" dirty="0"/>
          </a:p>
          <a:p>
            <a:r>
              <a:rPr lang="en-IN" sz="1100" dirty="0"/>
              <a:t>Clear: “Generate test cases in Gherkin format for checkout scenario with valid/invalid card numbers.”</a:t>
            </a:r>
          </a:p>
          <a:p>
            <a:endParaRPr lang="en-IN" sz="1100" dirty="0"/>
          </a:p>
          <a:p>
            <a:r>
              <a:rPr lang="en-IN" sz="1100" dirty="0">
                <a:solidFill>
                  <a:srgbClr val="FF0000"/>
                </a:solidFill>
              </a:rPr>
              <a:t>Select the Appropriate GenAI Model</a:t>
            </a:r>
          </a:p>
          <a:p>
            <a:endParaRPr lang="en-IN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dirty="0"/>
              <a:t>Choose LLMs trained for the specific task.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N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dirty="0"/>
              <a:t>Specialized models provide better accuracy.</a:t>
            </a:r>
          </a:p>
          <a:p>
            <a:endParaRPr lang="en-IN" sz="1100" dirty="0"/>
          </a:p>
          <a:p>
            <a:r>
              <a:rPr lang="en-IN" sz="1100" b="1" dirty="0">
                <a:solidFill>
                  <a:srgbClr val="FF0000"/>
                </a:solidFill>
              </a:rPr>
              <a:t>Example</a:t>
            </a:r>
          </a:p>
          <a:p>
            <a:endParaRPr lang="en-IN" sz="1100" dirty="0"/>
          </a:p>
          <a:p>
            <a:r>
              <a:rPr lang="en-IN" sz="1100" dirty="0"/>
              <a:t>Use a model fine-tuned for test automation rather than a general chatbot.</a:t>
            </a:r>
          </a:p>
          <a:p>
            <a:endParaRPr lang="en-IN" sz="1100" dirty="0"/>
          </a:p>
          <a:p>
            <a:r>
              <a:rPr lang="en-IN" sz="1100" dirty="0"/>
              <a:t>Right format and right model will provide focused and effective </a:t>
            </a:r>
            <a:r>
              <a:rPr lang="en-IN" sz="1100" dirty="0" err="1"/>
              <a:t>testware</a:t>
            </a:r>
            <a:r>
              <a:rPr lang="en-IN" sz="1100" dirty="0"/>
              <a:t>.</a:t>
            </a:r>
          </a:p>
          <a:p>
            <a:endParaRPr lang="en-IN" sz="1100" dirty="0"/>
          </a:p>
        </p:txBody>
      </p:sp>
    </p:spTree>
    <p:extLst>
      <p:ext uri="{BB962C8B-B14F-4D97-AF65-F5344CB8AC3E}">
        <p14:creationId xmlns:p14="http://schemas.microsoft.com/office/powerpoint/2010/main" val="41479390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CC8D9-F71B-F898-5130-04D7706B6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91646EB-BB6B-66A6-4B61-9C251C548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Chapter 3 - Managing Risks of Generative AI in Software Testing 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4AFD15E-B875-AC56-AB81-F4441C62D1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390" y="1395961"/>
            <a:ext cx="8596668" cy="3880773"/>
          </a:xfrm>
        </p:spPr>
        <p:txBody>
          <a:bodyPr>
            <a:normAutofit/>
          </a:bodyPr>
          <a:lstStyle/>
          <a:p>
            <a:endParaRPr lang="en-IN" dirty="0">
              <a:solidFill>
                <a:srgbClr val="FF0000"/>
              </a:solidFill>
            </a:endParaRP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73D06A-C14F-BAF6-5BF1-F24B163A376E}"/>
              </a:ext>
            </a:extLst>
          </p:cNvPr>
          <p:cNvSpPr txBox="1"/>
          <p:nvPr/>
        </p:nvSpPr>
        <p:spPr>
          <a:xfrm>
            <a:off x="756161" y="1474077"/>
            <a:ext cx="11194100" cy="4493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>
                <a:solidFill>
                  <a:srgbClr val="FF0000"/>
                </a:solidFill>
              </a:rPr>
              <a:t>3.1.3 Mitigation techniques of GenAI hallucinations, reasoning errors and biases in software test tasks</a:t>
            </a:r>
            <a:endParaRPr lang="en-IN" sz="1100" b="1" dirty="0">
              <a:solidFill>
                <a:srgbClr val="FF0000"/>
              </a:solidFill>
            </a:endParaRPr>
          </a:p>
          <a:p>
            <a:endParaRPr lang="en-IN" sz="1100" dirty="0"/>
          </a:p>
          <a:p>
            <a:endParaRPr lang="en-IN" sz="1100" dirty="0"/>
          </a:p>
          <a:p>
            <a:r>
              <a:rPr lang="en-IN" sz="1100" dirty="0">
                <a:solidFill>
                  <a:srgbClr val="FF0000"/>
                </a:solidFill>
              </a:rPr>
              <a:t>Compare Results Across Models</a:t>
            </a:r>
          </a:p>
          <a:p>
            <a:endParaRPr lang="en-IN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dirty="0"/>
              <a:t>Different LLMs may produce different outputs.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N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dirty="0"/>
              <a:t>Cross-checking helps detect errors and select the most reliable results.</a:t>
            </a:r>
          </a:p>
          <a:p>
            <a:endParaRPr lang="en-IN" sz="1100" dirty="0"/>
          </a:p>
          <a:p>
            <a:r>
              <a:rPr lang="en-IN" sz="1100" b="1" dirty="0">
                <a:solidFill>
                  <a:srgbClr val="FF0000"/>
                </a:solidFill>
              </a:rPr>
              <a:t>Example</a:t>
            </a:r>
          </a:p>
          <a:p>
            <a:endParaRPr lang="en-IN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dirty="0"/>
              <a:t>	Model A generates 10 login test cases.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N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dirty="0"/>
              <a:t>	Model B generates 12, including additional edge cases.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N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dirty="0"/>
              <a:t>	Tester then compares both outputs and adopts the best combined set.</a:t>
            </a:r>
          </a:p>
          <a:p>
            <a:endParaRPr lang="en-IN" sz="1100" dirty="0"/>
          </a:p>
          <a:p>
            <a:r>
              <a:rPr lang="en-IN" sz="1100" dirty="0">
                <a:solidFill>
                  <a:srgbClr val="FF0000"/>
                </a:solidFill>
              </a:rPr>
              <a:t>Benefit of comparing results across models:</a:t>
            </a:r>
          </a:p>
          <a:p>
            <a:endParaRPr lang="en-IN" sz="1100" dirty="0"/>
          </a:p>
          <a:p>
            <a:r>
              <a:rPr lang="en-IN" sz="1100" dirty="0"/>
              <a:t>Reduces risk of hallucinations or biases slipping through.</a:t>
            </a:r>
          </a:p>
          <a:p>
            <a:endParaRPr lang="en-IN" sz="1100" dirty="0"/>
          </a:p>
          <a:p>
            <a:r>
              <a:rPr lang="en-IN" sz="1100" dirty="0"/>
              <a:t>Provides confidence in outputs.</a:t>
            </a:r>
          </a:p>
          <a:p>
            <a:endParaRPr lang="en-IN" sz="1100" dirty="0"/>
          </a:p>
          <a:p>
            <a:r>
              <a:rPr lang="en-IN" sz="1100" dirty="0"/>
              <a:t>Comparing across models provides extra safety for QA.</a:t>
            </a:r>
          </a:p>
          <a:p>
            <a:endParaRPr lang="en-IN" sz="1100" dirty="0"/>
          </a:p>
        </p:txBody>
      </p:sp>
    </p:spTree>
    <p:extLst>
      <p:ext uri="{BB962C8B-B14F-4D97-AF65-F5344CB8AC3E}">
        <p14:creationId xmlns:p14="http://schemas.microsoft.com/office/powerpoint/2010/main" val="1682775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5CCF12-D385-6A81-AEDC-61FA778A4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672B1DA-8BD0-F9E0-F669-1E595C77F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Chapter 3 - Managing Risks of Generative AI in Software Testing 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87F7FB4-DE00-8892-5DEC-7A59575A5B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328" y="1120064"/>
            <a:ext cx="8596668" cy="3880773"/>
          </a:xfrm>
        </p:spPr>
        <p:txBody>
          <a:bodyPr>
            <a:normAutofit/>
          </a:bodyPr>
          <a:lstStyle/>
          <a:p>
            <a:endParaRPr lang="en-IN" dirty="0">
              <a:solidFill>
                <a:srgbClr val="FF0000"/>
              </a:solidFill>
            </a:endParaRP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C3B42A-A578-CD02-5FEE-0EBC60DCF4CD}"/>
              </a:ext>
            </a:extLst>
          </p:cNvPr>
          <p:cNvSpPr txBox="1"/>
          <p:nvPr/>
        </p:nvSpPr>
        <p:spPr>
          <a:xfrm>
            <a:off x="606389" y="1191736"/>
            <a:ext cx="765474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400" b="1" dirty="0">
                <a:solidFill>
                  <a:srgbClr val="FF0000"/>
                </a:solidFill>
              </a:rPr>
              <a:t>3.1.4 Mitigation of Non-Deterministic </a:t>
            </a:r>
            <a:r>
              <a:rPr lang="en-IN" sz="1400" b="1" dirty="0" err="1">
                <a:solidFill>
                  <a:srgbClr val="FF0000"/>
                </a:solidFill>
              </a:rPr>
              <a:t>Behavior</a:t>
            </a:r>
            <a:r>
              <a:rPr lang="en-IN" sz="1400" b="1" dirty="0">
                <a:solidFill>
                  <a:srgbClr val="FF0000"/>
                </a:solidFill>
              </a:rPr>
              <a:t> of LLMs</a:t>
            </a:r>
          </a:p>
          <a:p>
            <a:pPr>
              <a:buNone/>
            </a:pPr>
            <a:endParaRPr lang="en-IN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400" b="1" dirty="0"/>
              <a:t>GenAI-3.1.3 (K2)</a:t>
            </a:r>
            <a:r>
              <a:rPr lang="en-IN" sz="1400" dirty="0"/>
              <a:t> Summarize mitigation techniques for GenAI hallucinations, reasoning errors and biases in software test tasks.</a:t>
            </a:r>
          </a:p>
        </p:txBody>
      </p:sp>
    </p:spTree>
    <p:extLst>
      <p:ext uri="{BB962C8B-B14F-4D97-AF65-F5344CB8AC3E}">
        <p14:creationId xmlns:p14="http://schemas.microsoft.com/office/powerpoint/2010/main" val="23724920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2A0CA-0EB9-C349-C2CE-8051E2373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A905D2A-78D0-C56A-BE52-83502E09C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Chapter 3 - Managing Risks of Generative AI in Software Testing 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27C56FB-1B45-3B12-D054-3AA3BFBDA3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390" y="1395961"/>
            <a:ext cx="8596668" cy="3880773"/>
          </a:xfrm>
        </p:spPr>
        <p:txBody>
          <a:bodyPr>
            <a:normAutofit/>
          </a:bodyPr>
          <a:lstStyle/>
          <a:p>
            <a:endParaRPr lang="en-IN" dirty="0">
              <a:solidFill>
                <a:srgbClr val="FF0000"/>
              </a:solidFill>
            </a:endParaRP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06AAD0-6408-F4AA-4299-C04AB4BDE66E}"/>
              </a:ext>
            </a:extLst>
          </p:cNvPr>
          <p:cNvSpPr txBox="1"/>
          <p:nvPr/>
        </p:nvSpPr>
        <p:spPr>
          <a:xfrm>
            <a:off x="677334" y="905232"/>
            <a:ext cx="11414817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1400" dirty="0">
              <a:solidFill>
                <a:srgbClr val="FF0000"/>
              </a:solidFill>
            </a:endParaRPr>
          </a:p>
          <a:p>
            <a:r>
              <a:rPr lang="en-US" sz="1400" b="1" dirty="0">
                <a:solidFill>
                  <a:srgbClr val="FF0000"/>
                </a:solidFill>
              </a:rPr>
              <a:t>3.1.4 Mitigation of Non-Deterministic Behavior of LLMs</a:t>
            </a:r>
          </a:p>
          <a:p>
            <a:endParaRPr lang="en-US" sz="1400" b="1" dirty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sz="1400" b="1" dirty="0">
                <a:solidFill>
                  <a:srgbClr val="FF0000"/>
                </a:solidFill>
              </a:rPr>
              <a:t>Mitigation of Non-Deterministic Behavior of LLMs</a:t>
            </a:r>
          </a:p>
          <a:p>
            <a:pPr>
              <a:buNone/>
            </a:pPr>
            <a:endParaRPr lang="en-US" sz="14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LLMs are non-deterministic (for the same input it can produce different outputs).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It is caused by probabilistic sampling processes used during inference.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Consequently, achieving consistent and reproducible results when using LLMs can be challenging, particularly for long outputs, which increases the risk of variability.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/>
          </a:p>
          <a:p>
            <a:pPr>
              <a:buNone/>
            </a:pPr>
            <a:r>
              <a:rPr lang="en-US" sz="1400" dirty="0">
                <a:solidFill>
                  <a:srgbClr val="FF0000"/>
                </a:solidFill>
              </a:rPr>
              <a:t>Impact on Software Testing</a:t>
            </a:r>
          </a:p>
          <a:p>
            <a:pPr>
              <a:buNone/>
            </a:pP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It is hard to achieve consistent, reproducible results.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It increases the risk of hallucinations and reasoning errors.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Testers must understand this </a:t>
            </a:r>
            <a:r>
              <a:rPr lang="en-US" sz="1400" dirty="0" err="1"/>
              <a:t>behaviour</a:t>
            </a:r>
            <a:r>
              <a:rPr lang="en-US" sz="1400" dirty="0"/>
              <a:t> to manage expectations and ensure quality.</a:t>
            </a:r>
          </a:p>
          <a:p>
            <a:endParaRPr lang="en-US" sz="1400" b="1" dirty="0">
              <a:solidFill>
                <a:srgbClr val="FF0000"/>
              </a:solidFill>
            </a:endParaRPr>
          </a:p>
          <a:p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27950873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7A7869-6E1B-E77C-9D77-F4AAA88E8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67E844D-4EE4-C01D-549B-AE8014F9A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Chapter 3 - Managing Risks of Generative AI in Software Testing 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A55FC73-8E7A-1B72-7462-CC5175C6D1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390" y="1395961"/>
            <a:ext cx="8596668" cy="3880773"/>
          </a:xfrm>
        </p:spPr>
        <p:txBody>
          <a:bodyPr>
            <a:normAutofit/>
          </a:bodyPr>
          <a:lstStyle/>
          <a:p>
            <a:endParaRPr lang="en-IN" dirty="0">
              <a:solidFill>
                <a:srgbClr val="FF0000"/>
              </a:solidFill>
            </a:endParaRP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56AACE-E5EA-4316-294A-1440F4DA6CDE}"/>
              </a:ext>
            </a:extLst>
          </p:cNvPr>
          <p:cNvSpPr txBox="1"/>
          <p:nvPr/>
        </p:nvSpPr>
        <p:spPr>
          <a:xfrm>
            <a:off x="606390" y="1028343"/>
            <a:ext cx="7599562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3.1.4 Mitigation of Non-Deterministic Behavior of LLMs</a:t>
            </a:r>
          </a:p>
          <a:p>
            <a:pPr>
              <a:buNone/>
            </a:pPr>
            <a:endParaRPr lang="en-US" sz="1400" b="1" dirty="0"/>
          </a:p>
          <a:p>
            <a:pPr>
              <a:buNone/>
            </a:pPr>
            <a:r>
              <a:rPr lang="en-US" sz="1400" b="1" dirty="0">
                <a:solidFill>
                  <a:srgbClr val="FF0000"/>
                </a:solidFill>
              </a:rPr>
              <a:t>Adjusting LLM’s Temperature Parameter Settings</a:t>
            </a:r>
          </a:p>
          <a:p>
            <a:pPr>
              <a:buNone/>
            </a:pPr>
            <a:endParaRPr lang="en-US" sz="14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Temperature parameter in LLM controls randomness in LLM responses.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Lowering the temperature during response generation (inference) narrows the probability distribution, reducing randomness and resulting in more consistent outputs.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Higher LLM temperature produces more creative but less predictable outputs.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/>
          </a:p>
          <a:p>
            <a:pPr>
              <a:buNone/>
            </a:pPr>
            <a:r>
              <a:rPr lang="en-US" sz="1400" dirty="0"/>
              <a:t>Example</a:t>
            </a:r>
          </a:p>
          <a:p>
            <a:pPr>
              <a:buNone/>
            </a:pP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Prompt: “Generate boundary test cases for age field.”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If High temperature: varied, creative test cases (some may be irrelevant).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If Low temperature: LLM produces consistent, more repetitive or overly deterministic test cases (–1, 0, 150).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Lowering temperature helps reproducibility, but may reduce diversity of test idea</a:t>
            </a:r>
          </a:p>
        </p:txBody>
      </p:sp>
    </p:spTree>
    <p:extLst>
      <p:ext uri="{BB962C8B-B14F-4D97-AF65-F5344CB8AC3E}">
        <p14:creationId xmlns:p14="http://schemas.microsoft.com/office/powerpoint/2010/main" val="24168504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1DD86-213B-C883-6ECD-E8332BAC9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611F736-59BE-F2DD-872B-060D452B8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Chapter 3 - Managing Risks of Generative AI in Software Testing 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530A938-A5FD-3140-A458-5C28ED16B0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390" y="1395961"/>
            <a:ext cx="8596668" cy="3880773"/>
          </a:xfrm>
        </p:spPr>
        <p:txBody>
          <a:bodyPr>
            <a:normAutofit/>
          </a:bodyPr>
          <a:lstStyle/>
          <a:p>
            <a:endParaRPr lang="en-IN" dirty="0">
              <a:solidFill>
                <a:srgbClr val="FF0000"/>
              </a:solidFill>
            </a:endParaRP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FCA15E-48BE-7EF4-9CA0-D4A7AA6CD62B}"/>
              </a:ext>
            </a:extLst>
          </p:cNvPr>
          <p:cNvSpPr txBox="1"/>
          <p:nvPr/>
        </p:nvSpPr>
        <p:spPr>
          <a:xfrm>
            <a:off x="606389" y="1270000"/>
            <a:ext cx="7197541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3.1.4 Mitigation of Non-Deterministic Behavior of LLMs</a:t>
            </a:r>
          </a:p>
          <a:p>
            <a:pPr>
              <a:buNone/>
            </a:pPr>
            <a:endParaRPr lang="en-US" sz="1400" b="1" dirty="0"/>
          </a:p>
          <a:p>
            <a:pPr>
              <a:buNone/>
            </a:pPr>
            <a:endParaRPr lang="en-US" sz="1400" b="1" dirty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sz="1400" b="1" dirty="0">
                <a:solidFill>
                  <a:srgbClr val="FF0000"/>
                </a:solidFill>
              </a:rPr>
              <a:t>Setting Random Seeds</a:t>
            </a:r>
          </a:p>
          <a:p>
            <a:pPr>
              <a:buNone/>
            </a:pPr>
            <a:endParaRPr lang="en-US" sz="14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Some LLM implementations allow setting a </a:t>
            </a:r>
            <a:r>
              <a:rPr lang="en-US" sz="1400" b="1" dirty="0"/>
              <a:t>seed value</a:t>
            </a:r>
            <a:r>
              <a:rPr lang="en-US" sz="1400" dirty="0"/>
              <a:t> for the random number generator, ensuring the same pseudo-random (i.e., deterministic random values) sequence is used, which improves reproducibility.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Fixes the pseudo-random sequence used by the LLM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Ensures outputs are repeatable across runs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Improves reproducibility for testing tasks</a:t>
            </a:r>
          </a:p>
          <a:p>
            <a:pPr>
              <a:buNone/>
            </a:pPr>
            <a:r>
              <a:rPr lang="en-US" sz="1400" b="1" dirty="0">
                <a:solidFill>
                  <a:srgbClr val="FF0000"/>
                </a:solidFill>
              </a:rPr>
              <a:t>Example</a:t>
            </a:r>
          </a:p>
          <a:p>
            <a:pPr>
              <a:buNone/>
            </a:pPr>
            <a:endParaRPr lang="en-US" sz="14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Seed set:</a:t>
            </a:r>
            <a:r>
              <a:rPr lang="en-US" sz="1400" dirty="0"/>
              <a:t> Same login test cases generated every run.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No seed:</a:t>
            </a:r>
            <a:r>
              <a:rPr lang="en-US" sz="1400" dirty="0"/>
              <a:t> Outputs vary, sometimes missing edge cases.</a:t>
            </a:r>
          </a:p>
        </p:txBody>
      </p:sp>
    </p:spTree>
    <p:extLst>
      <p:ext uri="{BB962C8B-B14F-4D97-AF65-F5344CB8AC3E}">
        <p14:creationId xmlns:p14="http://schemas.microsoft.com/office/powerpoint/2010/main" val="33379499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5B27C0-392E-F741-EB34-487CE835B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188B9B4-2561-04B8-FE61-1BFA2EEF9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Chapter 3 - Managing Risks of Generative AI in Software Testing 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D09B89B-1F61-03F3-BCAC-C2AB8D56E8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390" y="1395961"/>
            <a:ext cx="8596668" cy="3880773"/>
          </a:xfrm>
        </p:spPr>
        <p:txBody>
          <a:bodyPr>
            <a:normAutofit/>
          </a:bodyPr>
          <a:lstStyle/>
          <a:p>
            <a:endParaRPr lang="en-IN" dirty="0">
              <a:solidFill>
                <a:srgbClr val="FF0000"/>
              </a:solidFill>
            </a:endParaRP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D87572-92EC-CDA7-4C78-E2AA9095FB9E}"/>
              </a:ext>
            </a:extLst>
          </p:cNvPr>
          <p:cNvSpPr txBox="1"/>
          <p:nvPr/>
        </p:nvSpPr>
        <p:spPr>
          <a:xfrm>
            <a:off x="535446" y="1208460"/>
            <a:ext cx="7906988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3.1.4 Mitigation of Non-Deterministic Behavior of LLMs</a:t>
            </a:r>
          </a:p>
          <a:p>
            <a:pPr>
              <a:buNone/>
            </a:pPr>
            <a:endParaRPr lang="en-US" sz="1400" b="1" dirty="0">
              <a:solidFill>
                <a:srgbClr val="FF0000"/>
              </a:solidFill>
            </a:endParaRPr>
          </a:p>
          <a:p>
            <a:pPr>
              <a:buNone/>
            </a:pPr>
            <a:endParaRPr lang="en-US" sz="1400" b="1" dirty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sz="1400" b="1" dirty="0">
                <a:solidFill>
                  <a:srgbClr val="FF0000"/>
                </a:solidFill>
              </a:rPr>
              <a:t>Reducing Risks Through Verification</a:t>
            </a:r>
          </a:p>
          <a:p>
            <a:pPr>
              <a:buNone/>
            </a:pPr>
            <a:endParaRPr lang="en-US" sz="14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Automate some aspects of output verification.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Apply structured review processes.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Detect and mitigate hallucinations &amp; reasoning errors early.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/>
          </a:p>
          <a:p>
            <a:pPr>
              <a:buNone/>
            </a:pPr>
            <a:r>
              <a:rPr lang="en-US" sz="1400" b="1" dirty="0">
                <a:solidFill>
                  <a:srgbClr val="FF0000"/>
                </a:solidFill>
              </a:rPr>
              <a:t>For Example</a:t>
            </a:r>
          </a:p>
          <a:p>
            <a:pPr>
              <a:buNone/>
            </a:pPr>
            <a:endParaRPr lang="en-US" sz="14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AI generates 20 test cases and an automated tool cross-checks them against requirements.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The automated tool flags 3 irrelevant cases, then the tester removes them before execution.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Combining automation and human oversight ensures consistent test ware.</a:t>
            </a:r>
          </a:p>
        </p:txBody>
      </p:sp>
    </p:spTree>
    <p:extLst>
      <p:ext uri="{BB962C8B-B14F-4D97-AF65-F5344CB8AC3E}">
        <p14:creationId xmlns:p14="http://schemas.microsoft.com/office/powerpoint/2010/main" val="39979235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5FF9B5-5BA9-EBD0-0A35-74DCA1891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6D0A1AB-68D3-9830-4089-053FEE03C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Chapter 3 - Managing Risks of Generative AI in Software Testing 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0DF5263-7403-79BC-6838-66E3545AC5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390" y="1395961"/>
            <a:ext cx="8596668" cy="3880773"/>
          </a:xfrm>
        </p:spPr>
        <p:txBody>
          <a:bodyPr>
            <a:normAutofit/>
          </a:bodyPr>
          <a:lstStyle/>
          <a:p>
            <a:endParaRPr lang="en-IN" dirty="0">
              <a:solidFill>
                <a:srgbClr val="FF0000"/>
              </a:solidFill>
            </a:endParaRP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7A28D6-23B7-CE8D-ADF9-9B95DA699B20}"/>
              </a:ext>
            </a:extLst>
          </p:cNvPr>
          <p:cNvSpPr txBox="1"/>
          <p:nvPr/>
        </p:nvSpPr>
        <p:spPr>
          <a:xfrm>
            <a:off x="606390" y="1273489"/>
            <a:ext cx="879774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>
                <a:solidFill>
                  <a:srgbClr val="FF0000"/>
                </a:solidFill>
              </a:rPr>
              <a:t>3.2 Data Privacy and Security Risks of Generative AI in Software Testing</a:t>
            </a:r>
            <a:endParaRPr lang="en-US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4287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BF2A05-7A8F-B1BF-6667-F0A60078E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92D4510-E0B3-5A33-9C5B-C6C363B36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Chapter 3 - Managing Risks of Generative AI in Software Testing 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6AD81F7-388F-2B72-2E4E-25BEDF87B7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390" y="1395961"/>
            <a:ext cx="8596668" cy="3880773"/>
          </a:xfrm>
        </p:spPr>
        <p:txBody>
          <a:bodyPr>
            <a:normAutofit/>
          </a:bodyPr>
          <a:lstStyle/>
          <a:p>
            <a:endParaRPr lang="en-IN" dirty="0">
              <a:solidFill>
                <a:srgbClr val="FF0000"/>
              </a:solidFill>
            </a:endParaRP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436D73-596F-3164-C075-72F7FC1F9D17}"/>
              </a:ext>
            </a:extLst>
          </p:cNvPr>
          <p:cNvSpPr txBox="1"/>
          <p:nvPr/>
        </p:nvSpPr>
        <p:spPr>
          <a:xfrm>
            <a:off x="941342" y="1581266"/>
            <a:ext cx="8403604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3.2 Data Privacy and Security Risks of Generative AI in Software Testing</a:t>
            </a:r>
            <a:endParaRPr lang="en-US" sz="1400" b="1" dirty="0"/>
          </a:p>
          <a:p>
            <a:pPr>
              <a:buNone/>
            </a:pPr>
            <a:endParaRPr lang="en-US" sz="1400" b="1" dirty="0"/>
          </a:p>
          <a:p>
            <a:pPr>
              <a:buNone/>
            </a:pPr>
            <a:r>
              <a:rPr lang="en-US" sz="1400" dirty="0"/>
              <a:t>Data Privacy and Security Risks of Generative AI in Software Testing</a:t>
            </a:r>
          </a:p>
          <a:p>
            <a:pPr>
              <a:buNone/>
            </a:pP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GenAI in testing introduces risks related to data privacy and security due to: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Handling of sensitive information (e.g., user credentials, financial data)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Potential vulnerabilities in LLM-powered test infrastructure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Risk of data breaches, unauthorized access, or exposure of confidential data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Testing often involves realistic or production-like data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Any leak can compromise trust, compliance, and system integrity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>
              <a:buNone/>
            </a:pPr>
            <a:r>
              <a:rPr lang="en-US" sz="1400" b="1" dirty="0">
                <a:solidFill>
                  <a:srgbClr val="FF0000"/>
                </a:solidFill>
              </a:rPr>
              <a:t>Examples of Data Privacy and Security Risks</a:t>
            </a:r>
          </a:p>
          <a:p>
            <a:pPr>
              <a:buNone/>
            </a:pP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AI generates test cases using real customer data (Privacy violation)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LLM logs contain API keys or passwords (Security risk)</a:t>
            </a:r>
          </a:p>
        </p:txBody>
      </p:sp>
    </p:spTree>
    <p:extLst>
      <p:ext uri="{BB962C8B-B14F-4D97-AF65-F5344CB8AC3E}">
        <p14:creationId xmlns:p14="http://schemas.microsoft.com/office/powerpoint/2010/main" val="16084035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FA8DDF-CFF5-9399-FAD2-156E7FCEF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65FF92C-02A9-FF50-A9EE-AD54348C7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Chapter 3 - Managing Risks of Generative AI in Software Testing 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33A2165-764A-0BA6-DC4D-418D61EBE0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390" y="1395961"/>
            <a:ext cx="8596668" cy="3880773"/>
          </a:xfrm>
        </p:spPr>
        <p:txBody>
          <a:bodyPr>
            <a:normAutofit/>
          </a:bodyPr>
          <a:lstStyle/>
          <a:p>
            <a:endParaRPr lang="en-IN" dirty="0">
              <a:solidFill>
                <a:srgbClr val="FF0000"/>
              </a:solidFill>
            </a:endParaRP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D731F5-6E63-8C61-B5AA-0C79D7F63FEA}"/>
              </a:ext>
            </a:extLst>
          </p:cNvPr>
          <p:cNvSpPr txBox="1"/>
          <p:nvPr/>
        </p:nvSpPr>
        <p:spPr>
          <a:xfrm>
            <a:off x="606389" y="1156589"/>
            <a:ext cx="784392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>
                <a:solidFill>
                  <a:srgbClr val="FF0000"/>
                </a:solidFill>
              </a:rPr>
              <a:t>3.2.1 Data Privacy and Security Risks Associated with Using Generative AI</a:t>
            </a:r>
          </a:p>
          <a:p>
            <a:pPr>
              <a:buNone/>
            </a:pPr>
            <a:endParaRPr lang="en-US" sz="1400" b="1" dirty="0">
              <a:solidFill>
                <a:srgbClr val="FF000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GenAI-3.2.1 (K2)</a:t>
            </a:r>
            <a:r>
              <a:rPr lang="en-US" sz="1400" dirty="0"/>
              <a:t> Explain key data privacy and security risks associated with using generative AI in software testing.</a:t>
            </a:r>
          </a:p>
        </p:txBody>
      </p:sp>
    </p:spTree>
    <p:extLst>
      <p:ext uri="{BB962C8B-B14F-4D97-AF65-F5344CB8AC3E}">
        <p14:creationId xmlns:p14="http://schemas.microsoft.com/office/powerpoint/2010/main" val="78378985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A6661F-7A47-40AC-3098-5B88F6267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FD56D5F-04F2-76AC-023F-AA3F33241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Chapter 3 - Managing Risks of Generative AI in Software Testing 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CC65505-777A-99C1-88BB-16BE565732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390" y="1395961"/>
            <a:ext cx="8596668" cy="3880773"/>
          </a:xfrm>
        </p:spPr>
        <p:txBody>
          <a:bodyPr>
            <a:normAutofit/>
          </a:bodyPr>
          <a:lstStyle/>
          <a:p>
            <a:endParaRPr lang="en-IN" dirty="0">
              <a:solidFill>
                <a:srgbClr val="FF0000"/>
              </a:solidFill>
            </a:endParaRP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879E8B-051D-2BFB-C069-F9FFE93F8E93}"/>
              </a:ext>
            </a:extLst>
          </p:cNvPr>
          <p:cNvSpPr txBox="1"/>
          <p:nvPr/>
        </p:nvSpPr>
        <p:spPr>
          <a:xfrm>
            <a:off x="606390" y="1270000"/>
            <a:ext cx="8490314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3.2.1 Data Privacy and Security Risks Associated with Using Generative AI</a:t>
            </a:r>
          </a:p>
          <a:p>
            <a:pPr>
              <a:buNone/>
            </a:pPr>
            <a:endParaRPr lang="en-US" sz="14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Generative AI processes large volumes of data, often including sensitive or personally identifiable information (PII) which raises the following data privacy concerns: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Unintentional data exposure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Lack of control over data usage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Compliance risks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Gen AI raises privacy and security concerns in testing environments: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Test data may include user credentials, financial records, or health information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Any misuse or exposure can lead to loss of trust, compliance issues, and legal disputes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Testers must treat GenAI outputs with utmost care as production data.</a:t>
            </a:r>
          </a:p>
        </p:txBody>
      </p:sp>
    </p:spTree>
    <p:extLst>
      <p:ext uri="{BB962C8B-B14F-4D97-AF65-F5344CB8AC3E}">
        <p14:creationId xmlns:p14="http://schemas.microsoft.com/office/powerpoint/2010/main" val="80895186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5D33D-592D-9953-81CB-36FC5EFE9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CA31048-C5D0-5A4B-397C-28A3D2915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Chapter 3 - Managing Risks of Generative AI in Software Testing 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F12ACB2-7DEF-AD0B-450C-BC3AEAF015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390" y="1395961"/>
            <a:ext cx="8596668" cy="3880773"/>
          </a:xfrm>
        </p:spPr>
        <p:txBody>
          <a:bodyPr>
            <a:normAutofit/>
          </a:bodyPr>
          <a:lstStyle/>
          <a:p>
            <a:endParaRPr lang="en-IN" dirty="0">
              <a:solidFill>
                <a:srgbClr val="FF0000"/>
              </a:solidFill>
            </a:endParaRP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1ECA81-F319-6D66-FA18-6455F974F8AF}"/>
              </a:ext>
            </a:extLst>
          </p:cNvPr>
          <p:cNvSpPr txBox="1"/>
          <p:nvPr/>
        </p:nvSpPr>
        <p:spPr>
          <a:xfrm>
            <a:off x="606389" y="1201680"/>
            <a:ext cx="7772983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3.2.1 Data Privacy and Security Risks Associated with Using Generative AI</a:t>
            </a:r>
            <a:endParaRPr lang="en-US" sz="1400" dirty="0"/>
          </a:p>
          <a:p>
            <a:pPr>
              <a:buNone/>
            </a:pPr>
            <a:endParaRPr lang="en-US" sz="1400" dirty="0"/>
          </a:p>
          <a:p>
            <a:pPr>
              <a:buNone/>
            </a:pPr>
            <a:r>
              <a:rPr lang="en-US" sz="1400" b="1" dirty="0">
                <a:solidFill>
                  <a:srgbClr val="FF0000"/>
                </a:solidFill>
              </a:rPr>
              <a:t>Unintentional Data Exposure</a:t>
            </a:r>
          </a:p>
          <a:p>
            <a:pPr>
              <a:buNone/>
            </a:pPr>
            <a:endParaRPr lang="en-US" sz="14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Generative AI may accidentally reveal sensitive information in outputs.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/>
          </a:p>
          <a:p>
            <a:pPr>
              <a:buNone/>
            </a:pPr>
            <a:r>
              <a:rPr lang="en-US" sz="1400" b="1" dirty="0">
                <a:solidFill>
                  <a:srgbClr val="FF0000"/>
                </a:solidFill>
              </a:rPr>
              <a:t>For example:</a:t>
            </a:r>
          </a:p>
          <a:p>
            <a:pPr>
              <a:buNone/>
            </a:pPr>
            <a:endParaRPr lang="en-US" sz="14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Generated test case includes a real customer’s email address.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Gen AI output exposes internal API keys in a test script.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sz="1400" b="1" dirty="0">
                <a:solidFill>
                  <a:srgbClr val="FF0000"/>
                </a:solidFill>
              </a:rPr>
              <a:t>Mitigation for unintentional data exposure:</a:t>
            </a:r>
          </a:p>
          <a:p>
            <a:pPr>
              <a:buNone/>
            </a:pPr>
            <a:endParaRPr lang="en-US" sz="14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Use synthetic or anonymized test data.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Review outputs for accidental leaks before execution.</a:t>
            </a:r>
          </a:p>
        </p:txBody>
      </p:sp>
    </p:spTree>
    <p:extLst>
      <p:ext uri="{BB962C8B-B14F-4D97-AF65-F5344CB8AC3E}">
        <p14:creationId xmlns:p14="http://schemas.microsoft.com/office/powerpoint/2010/main" val="232786556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0F52F7-9B5E-66C4-1CEE-6A6C9A062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DCCEF5D-BB70-F100-7F71-A368F9437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Chapter 3 - Managing Risks of Generative AI in Software Testing 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97827A4-513C-848D-9F62-964F6F3DF1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390" y="1395961"/>
            <a:ext cx="8596668" cy="3880773"/>
          </a:xfrm>
        </p:spPr>
        <p:txBody>
          <a:bodyPr>
            <a:normAutofit/>
          </a:bodyPr>
          <a:lstStyle/>
          <a:p>
            <a:endParaRPr lang="en-IN" dirty="0">
              <a:solidFill>
                <a:srgbClr val="FF0000"/>
              </a:solidFill>
            </a:endParaRP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B7AAB7-3C8D-50D8-9DA9-2B68D0EB945E}"/>
              </a:ext>
            </a:extLst>
          </p:cNvPr>
          <p:cNvSpPr txBox="1"/>
          <p:nvPr/>
        </p:nvSpPr>
        <p:spPr>
          <a:xfrm>
            <a:off x="677334" y="1117258"/>
            <a:ext cx="7307900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3.2.1 Data Privacy and Security Risks Associated with Using Generative AI</a:t>
            </a:r>
            <a:endParaRPr lang="en-US" sz="1400" dirty="0"/>
          </a:p>
          <a:p>
            <a:pPr>
              <a:buNone/>
            </a:pPr>
            <a:endParaRPr lang="en-US" sz="1400" b="1" dirty="0"/>
          </a:p>
          <a:p>
            <a:pPr>
              <a:buNone/>
            </a:pPr>
            <a:r>
              <a:rPr lang="en-US" sz="1400" b="1" dirty="0">
                <a:solidFill>
                  <a:srgbClr val="FF0000"/>
                </a:solidFill>
              </a:rPr>
              <a:t>Lack of Control Over Data Usage</a:t>
            </a:r>
          </a:p>
          <a:p>
            <a:pPr>
              <a:buNone/>
            </a:pPr>
            <a:endParaRPr lang="en-US" sz="14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GenAI tools may store or process sensitive data without explicit consent, which causes potential for unauthorized access or misuse.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/>
          </a:p>
          <a:p>
            <a:pPr>
              <a:buNone/>
            </a:pPr>
            <a:r>
              <a:rPr lang="en-US" sz="1400" b="1" dirty="0">
                <a:solidFill>
                  <a:srgbClr val="FF0000"/>
                </a:solidFill>
              </a:rPr>
              <a:t>Example</a:t>
            </a:r>
          </a:p>
          <a:p>
            <a:pPr>
              <a:buNone/>
            </a:pPr>
            <a:endParaRPr lang="en-US" sz="14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Test data uploaded to a GenAI tool is retained in logs.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Sensitive information shared with external AI services without control.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b="1" dirty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sz="1400" b="1" dirty="0">
                <a:solidFill>
                  <a:srgbClr val="FF0000"/>
                </a:solidFill>
              </a:rPr>
              <a:t>Mitigation for Lack of Control Over Data Usage</a:t>
            </a:r>
          </a:p>
          <a:p>
            <a:pPr>
              <a:buNone/>
            </a:pPr>
            <a:endParaRPr lang="en-US" sz="14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Apply strict access controls.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Ensure data governance policies are followed.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Prefer on-premise or secure AI environments for sensitive testing.</a:t>
            </a:r>
          </a:p>
        </p:txBody>
      </p:sp>
    </p:spTree>
    <p:extLst>
      <p:ext uri="{BB962C8B-B14F-4D97-AF65-F5344CB8AC3E}">
        <p14:creationId xmlns:p14="http://schemas.microsoft.com/office/powerpoint/2010/main" val="382312724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1E1C70-C5ED-9385-7E19-309C4582F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EF7A573-FBD3-94AC-C85B-490ECCE43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Chapter 3 - Managing Risks of Generative AI in Software Testing 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9D8C2C5-BD79-6298-DFC5-C0B8797120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390" y="1395961"/>
            <a:ext cx="8596668" cy="3880773"/>
          </a:xfrm>
        </p:spPr>
        <p:txBody>
          <a:bodyPr>
            <a:normAutofit/>
          </a:bodyPr>
          <a:lstStyle/>
          <a:p>
            <a:endParaRPr lang="en-IN" dirty="0">
              <a:solidFill>
                <a:srgbClr val="FF0000"/>
              </a:solidFill>
            </a:endParaRP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827AA6-4171-46D5-7C45-5E9EB5552982}"/>
              </a:ext>
            </a:extLst>
          </p:cNvPr>
          <p:cNvSpPr txBox="1"/>
          <p:nvPr/>
        </p:nvSpPr>
        <p:spPr>
          <a:xfrm>
            <a:off x="606389" y="1152179"/>
            <a:ext cx="7654741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3.2.1 Data Privacy and Security Risks Associated with Using Generative AI</a:t>
            </a:r>
            <a:endParaRPr lang="en-US" sz="1400" b="1" dirty="0"/>
          </a:p>
          <a:p>
            <a:pPr>
              <a:buNone/>
            </a:pPr>
            <a:endParaRPr lang="en-US" sz="1400" b="1" dirty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sz="1400" b="1" dirty="0">
                <a:solidFill>
                  <a:srgbClr val="FF0000"/>
                </a:solidFill>
              </a:rPr>
              <a:t>Compliance Risks</a:t>
            </a:r>
          </a:p>
          <a:p>
            <a:pPr>
              <a:buNone/>
            </a:pPr>
            <a:endParaRPr lang="en-US" sz="14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Using Generative AI without adhering to data protection regulations (e.g., GDPR) can lead to legal disputes.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/>
          </a:p>
          <a:p>
            <a:pPr>
              <a:buNone/>
            </a:pPr>
            <a:r>
              <a:rPr lang="en-US" sz="1400" b="1" dirty="0">
                <a:solidFill>
                  <a:srgbClr val="FF0000"/>
                </a:solidFill>
              </a:rPr>
              <a:t>For Example</a:t>
            </a:r>
          </a:p>
          <a:p>
            <a:pPr>
              <a:buNone/>
            </a:pP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Sharing PII with GenAI tools without anonymization will lead to GDPR violation.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Using production data in testing without proper consent.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/>
          </a:p>
          <a:p>
            <a:pPr>
              <a:buNone/>
            </a:pPr>
            <a:r>
              <a:rPr lang="en-US" sz="1400" b="1" dirty="0">
                <a:solidFill>
                  <a:srgbClr val="FF0000"/>
                </a:solidFill>
              </a:rPr>
              <a:t>Mitigation for Compliance Risks</a:t>
            </a:r>
          </a:p>
          <a:p>
            <a:pPr>
              <a:buNone/>
            </a:pP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Ensure compliance with GDPR, HIPAA, and local regulations.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Document data handling practices in the test strategy.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Train the test team on legal and ethical responsibilities.</a:t>
            </a:r>
          </a:p>
        </p:txBody>
      </p:sp>
    </p:spTree>
    <p:extLst>
      <p:ext uri="{BB962C8B-B14F-4D97-AF65-F5344CB8AC3E}">
        <p14:creationId xmlns:p14="http://schemas.microsoft.com/office/powerpoint/2010/main" val="196940919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37C5F6-6BE5-1FA3-3C6A-B060D1390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E885786-E549-35ED-1527-D4F2DCD36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Chapter 3 - Managing Risks of Generative AI in Software Testing 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54A54A-F40F-50EC-A0D0-9369977749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390" y="1395961"/>
            <a:ext cx="8596668" cy="3880773"/>
          </a:xfrm>
        </p:spPr>
        <p:txBody>
          <a:bodyPr>
            <a:normAutofit/>
          </a:bodyPr>
          <a:lstStyle/>
          <a:p>
            <a:endParaRPr lang="en-IN" dirty="0">
              <a:solidFill>
                <a:srgbClr val="FF0000"/>
              </a:solidFill>
            </a:endParaRP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BB26AA-6ACC-45D8-D743-D801474E8D28}"/>
              </a:ext>
            </a:extLst>
          </p:cNvPr>
          <p:cNvSpPr txBox="1"/>
          <p:nvPr/>
        </p:nvSpPr>
        <p:spPr>
          <a:xfrm>
            <a:off x="677333" y="1028343"/>
            <a:ext cx="8064645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3.2.1 Data Privacy and Security Risks Associated with Using Generative AI</a:t>
            </a:r>
            <a:endParaRPr lang="en-US" sz="1400" b="1" dirty="0"/>
          </a:p>
          <a:p>
            <a:pPr>
              <a:buNone/>
            </a:pPr>
            <a:endParaRPr lang="en-IN" sz="1400" b="1" dirty="0"/>
          </a:p>
          <a:p>
            <a:pPr>
              <a:buNone/>
            </a:pPr>
            <a:endParaRPr lang="en-IN" sz="1400" b="1" dirty="0"/>
          </a:p>
          <a:p>
            <a:pPr>
              <a:buNone/>
            </a:pPr>
            <a:r>
              <a:rPr lang="en-IN" sz="1400" b="1" dirty="0">
                <a:solidFill>
                  <a:srgbClr val="FF0000"/>
                </a:solidFill>
              </a:rPr>
              <a:t>Specific Security Risks</a:t>
            </a:r>
          </a:p>
          <a:p>
            <a:pPr>
              <a:buNone/>
            </a:pPr>
            <a:endParaRPr lang="en-IN" sz="14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/>
              <a:t>Infrastructure vulnerabilities (LLM-powered test systems can be targets for data breaches or unauthorized access)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/>
              <a:t>Manipulative attacks (Prompt injection or adversarial inputs alter AI behaviour)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/>
              <a:t>Malicious input data (Attackers mislead LLMs, compromising accuracy or security)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1400" dirty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IN" sz="1400" b="1" dirty="0">
                <a:solidFill>
                  <a:srgbClr val="FF0000"/>
                </a:solidFill>
              </a:rPr>
              <a:t>For example:</a:t>
            </a:r>
          </a:p>
          <a:p>
            <a:pPr>
              <a:buNone/>
            </a:pPr>
            <a:endParaRPr lang="en-IN" sz="14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/>
              <a:t>Hacker injects malicious prompt and AI reveals hidden system data.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/>
              <a:t>Malicious API request to Gen AI generates incorrect test scripts.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1400" dirty="0"/>
          </a:p>
          <a:p>
            <a:pPr>
              <a:buNone/>
            </a:pPr>
            <a:r>
              <a:rPr lang="en-IN" sz="1400" b="1" dirty="0">
                <a:solidFill>
                  <a:srgbClr val="FF0000"/>
                </a:solidFill>
              </a:rPr>
              <a:t>Mitigation for Specific Security Risks</a:t>
            </a:r>
          </a:p>
          <a:p>
            <a:pPr>
              <a:buNone/>
            </a:pPr>
            <a:endParaRPr lang="en-IN" sz="14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/>
              <a:t>Regular security audits of GenAI infrastructure.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/>
              <a:t>Train testers to recognize prompt injection attempts.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/>
              <a:t>Apply robust monitoring &amp; anomaly detection.</a:t>
            </a:r>
          </a:p>
        </p:txBody>
      </p:sp>
    </p:spTree>
    <p:extLst>
      <p:ext uri="{BB962C8B-B14F-4D97-AF65-F5344CB8AC3E}">
        <p14:creationId xmlns:p14="http://schemas.microsoft.com/office/powerpoint/2010/main" val="81729089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3A2F37-0733-A359-8278-865AD8091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97A3BC-1F5A-6E43-5F1E-FFE8873F1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Chapter 3 - Managing Risks of Generative AI in Software Testing 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5DBC707-E458-F5AB-9F18-15674EAB7A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625" y="1159478"/>
            <a:ext cx="8596668" cy="3880773"/>
          </a:xfrm>
        </p:spPr>
        <p:txBody>
          <a:bodyPr>
            <a:normAutofit/>
          </a:bodyPr>
          <a:lstStyle/>
          <a:p>
            <a:endParaRPr lang="en-IN" dirty="0">
              <a:solidFill>
                <a:srgbClr val="FF0000"/>
              </a:solidFill>
            </a:endParaRP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F2C30C-E02C-B63C-FEFD-63A7FD7F64E5}"/>
              </a:ext>
            </a:extLst>
          </p:cNvPr>
          <p:cNvSpPr txBox="1"/>
          <p:nvPr/>
        </p:nvSpPr>
        <p:spPr>
          <a:xfrm>
            <a:off x="677334" y="1239433"/>
            <a:ext cx="813559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>
                <a:solidFill>
                  <a:srgbClr val="FF0000"/>
                </a:solidFill>
              </a:rPr>
              <a:t>3.2.2 Data Privacy and Vulnerabilities in Generative AI for Test Processes and Tools</a:t>
            </a:r>
          </a:p>
          <a:p>
            <a:pPr>
              <a:buNone/>
            </a:pP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GenAI-3.2.2 (K2)</a:t>
            </a:r>
            <a:r>
              <a:rPr lang="en-US" sz="1400" dirty="0"/>
              <a:t> Give examples of data privacy and vulnerabilities in using Generative AI in software testing.</a:t>
            </a:r>
          </a:p>
        </p:txBody>
      </p:sp>
    </p:spTree>
    <p:extLst>
      <p:ext uri="{BB962C8B-B14F-4D97-AF65-F5344CB8AC3E}">
        <p14:creationId xmlns:p14="http://schemas.microsoft.com/office/powerpoint/2010/main" val="41920681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A25107-D09F-9E0E-A392-CE1878DD1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B291C51-1A25-5239-2AC3-F7BAD0780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Chapter 3 - Managing Risks of Generative AI in Software Testing 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24B9FBB-C070-5450-E1A7-448E86A680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390" y="1395961"/>
            <a:ext cx="8596668" cy="3880773"/>
          </a:xfrm>
        </p:spPr>
        <p:txBody>
          <a:bodyPr>
            <a:normAutofit/>
          </a:bodyPr>
          <a:lstStyle/>
          <a:p>
            <a:endParaRPr lang="en-IN" dirty="0">
              <a:solidFill>
                <a:srgbClr val="FF0000"/>
              </a:solidFill>
            </a:endParaRP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3038A1-3B71-03A9-C978-074B98A0DEB5}"/>
              </a:ext>
            </a:extLst>
          </p:cNvPr>
          <p:cNvSpPr txBox="1"/>
          <p:nvPr/>
        </p:nvSpPr>
        <p:spPr>
          <a:xfrm>
            <a:off x="606390" y="1105985"/>
            <a:ext cx="9207644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3.2.2 Data Privacy and Vulnerabilities in Generative AI for Test Processes and Tools</a:t>
            </a:r>
          </a:p>
          <a:p>
            <a:pPr>
              <a:buNone/>
            </a:pPr>
            <a:endParaRPr lang="en-US" sz="1400" b="1" dirty="0"/>
          </a:p>
          <a:p>
            <a:pPr>
              <a:buNone/>
            </a:pPr>
            <a:endParaRPr lang="en-US" sz="1400" b="1" dirty="0"/>
          </a:p>
          <a:p>
            <a:pPr>
              <a:buNone/>
            </a:pPr>
            <a:r>
              <a:rPr lang="en-US" sz="1400" b="1" dirty="0">
                <a:solidFill>
                  <a:srgbClr val="FF0000"/>
                </a:solidFill>
              </a:rPr>
              <a:t>Data Exfiltration</a:t>
            </a:r>
          </a:p>
          <a:p>
            <a:pPr>
              <a:buNone/>
            </a:pP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Attackers send requests designed to extract confidential training data from LLM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Exceeding the LLM contextual window with long prompts to overload the AI’s memory could lead it to reveal random snippets of its training data and potentially expose sensitive information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0000"/>
                </a:solidFill>
              </a:rPr>
              <a:t>Impact on Testing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FF000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Risk of data leakage during test case generation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Exposure of confidential system behavior or PII.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Testers must keep prompts concise and monitor for suspiciously long inputs.</a:t>
            </a:r>
          </a:p>
        </p:txBody>
      </p:sp>
    </p:spTree>
    <p:extLst>
      <p:ext uri="{BB962C8B-B14F-4D97-AF65-F5344CB8AC3E}">
        <p14:creationId xmlns:p14="http://schemas.microsoft.com/office/powerpoint/2010/main" val="261662521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9429A7-5307-4F08-73D5-2B739DD0C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20F818E-779C-B7F3-6D7B-CA9038F51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Chapter 3 - Managing Risks of Generative AI in Software Testing 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AD84BC0-DAD8-C1AD-D1D2-7B8E3A970B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390" y="1395961"/>
            <a:ext cx="8596668" cy="3880773"/>
          </a:xfrm>
        </p:spPr>
        <p:txBody>
          <a:bodyPr>
            <a:normAutofit/>
          </a:bodyPr>
          <a:lstStyle/>
          <a:p>
            <a:endParaRPr lang="en-IN" dirty="0">
              <a:solidFill>
                <a:srgbClr val="FF0000"/>
              </a:solidFill>
            </a:endParaRP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757159-A4D7-CBFE-1E8A-2DCE750C54A0}"/>
              </a:ext>
            </a:extLst>
          </p:cNvPr>
          <p:cNvSpPr txBox="1"/>
          <p:nvPr/>
        </p:nvSpPr>
        <p:spPr>
          <a:xfrm>
            <a:off x="606390" y="1395961"/>
            <a:ext cx="9081520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b="1" dirty="0"/>
          </a:p>
          <a:p>
            <a:r>
              <a:rPr lang="en-US" b="1" dirty="0">
                <a:solidFill>
                  <a:srgbClr val="FF0000"/>
                </a:solidFill>
              </a:rPr>
              <a:t>3.2.2 Data Privacy and Vulnerabilities in Generative AI for Test Processes and Tools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sz="1400" b="1" dirty="0">
                <a:solidFill>
                  <a:srgbClr val="FF0000"/>
                </a:solidFill>
              </a:rPr>
              <a:t>Request Manipulation</a:t>
            </a:r>
          </a:p>
          <a:p>
            <a:pPr>
              <a:buNone/>
            </a:pP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Introducing malicious or misleading data to disrupt AI’s output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It can include images or crafted inputs that lure AI to different context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0000"/>
                </a:solidFill>
              </a:rPr>
              <a:t>Impact on Testing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Incorrect or irrelevant test cases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Reduced confidence in GenAI outputs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Testers should validate outputs against requirements and use structured prompts to reduce ambiguity.</a:t>
            </a:r>
          </a:p>
        </p:txBody>
      </p:sp>
    </p:spTree>
    <p:extLst>
      <p:ext uri="{BB962C8B-B14F-4D97-AF65-F5344CB8AC3E}">
        <p14:creationId xmlns:p14="http://schemas.microsoft.com/office/powerpoint/2010/main" val="139790284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23C9D6-AE87-A9B8-4A5B-168528D34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BEAA9FF-70DA-8494-A1E2-6712A9EBA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Chapter 3 - Managing Risks of Generative AI in Software Testing 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9310BBD-C6E8-9E7E-350B-96B0B62C69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390" y="1395961"/>
            <a:ext cx="8596668" cy="3880773"/>
          </a:xfrm>
        </p:spPr>
        <p:txBody>
          <a:bodyPr>
            <a:normAutofit/>
          </a:bodyPr>
          <a:lstStyle/>
          <a:p>
            <a:endParaRPr lang="en-IN" dirty="0">
              <a:solidFill>
                <a:srgbClr val="FF0000"/>
              </a:solidFill>
            </a:endParaRP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6B6C9B-3E82-B1A2-86F6-5586C1421C62}"/>
              </a:ext>
            </a:extLst>
          </p:cNvPr>
          <p:cNvSpPr txBox="1"/>
          <p:nvPr/>
        </p:nvSpPr>
        <p:spPr>
          <a:xfrm>
            <a:off x="677333" y="1026054"/>
            <a:ext cx="8395722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sz="1400" b="1" dirty="0"/>
          </a:p>
          <a:p>
            <a:r>
              <a:rPr lang="en-US" sz="1400" b="1" dirty="0">
                <a:solidFill>
                  <a:srgbClr val="FF0000"/>
                </a:solidFill>
              </a:rPr>
              <a:t>3.2.2 Data Privacy and Vulnerabilities in Generative AI for Test Processes and Tools</a:t>
            </a:r>
          </a:p>
          <a:p>
            <a:pPr>
              <a:buNone/>
            </a:pPr>
            <a:endParaRPr lang="en-US" sz="1400" b="1" dirty="0"/>
          </a:p>
          <a:p>
            <a:pPr>
              <a:buNone/>
            </a:pPr>
            <a:endParaRPr lang="en-US" sz="1400" b="1" dirty="0"/>
          </a:p>
          <a:p>
            <a:pPr>
              <a:buNone/>
            </a:pPr>
            <a:r>
              <a:rPr lang="en-US" sz="1400" b="1" dirty="0">
                <a:solidFill>
                  <a:srgbClr val="FF0000"/>
                </a:solidFill>
              </a:rPr>
              <a:t>Data Poisoning</a:t>
            </a:r>
          </a:p>
          <a:p>
            <a:pPr>
              <a:buNone/>
            </a:pP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Manipulating training data to corrupt AI </a:t>
            </a:r>
            <a:r>
              <a:rPr lang="en-US" sz="1400" dirty="0" err="1"/>
              <a:t>behaviour</a:t>
            </a: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Attackers inject fake or misleading evaluations during fine-tuning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0000"/>
                </a:solidFill>
              </a:rPr>
              <a:t>Example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Providing false ratings for AI-generated test reports due to which AI learns incorrect prioritization (e.g., cosmetic UI tests over payment tests)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0000"/>
                </a:solidFill>
              </a:rPr>
              <a:t>Impact on Testing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Long-term degradation of output quality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Biased or incorrect test cases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Testing team should use trusted datasets, apply data validation, and involve domain experts in evaluation.</a:t>
            </a:r>
          </a:p>
        </p:txBody>
      </p:sp>
    </p:spTree>
    <p:extLst>
      <p:ext uri="{BB962C8B-B14F-4D97-AF65-F5344CB8AC3E}">
        <p14:creationId xmlns:p14="http://schemas.microsoft.com/office/powerpoint/2010/main" val="226532726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55F8D7-F9AF-0D05-C0C9-16A7105FC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A72D1F7-BB0F-74AD-C80B-ACE37696D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Chapter 3 - Managing Risks of Generative AI in Software Testing 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1EE5E93-D34C-2F0B-923F-85523C2F99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390" y="1395961"/>
            <a:ext cx="8596668" cy="3880773"/>
          </a:xfrm>
        </p:spPr>
        <p:txBody>
          <a:bodyPr>
            <a:normAutofit/>
          </a:bodyPr>
          <a:lstStyle/>
          <a:p>
            <a:endParaRPr lang="en-IN" dirty="0">
              <a:solidFill>
                <a:srgbClr val="FF0000"/>
              </a:solidFill>
            </a:endParaRP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1AB358-4404-4443-1F52-96AB2CF67E7F}"/>
              </a:ext>
            </a:extLst>
          </p:cNvPr>
          <p:cNvSpPr txBox="1"/>
          <p:nvPr/>
        </p:nvSpPr>
        <p:spPr>
          <a:xfrm>
            <a:off x="677333" y="1129633"/>
            <a:ext cx="8758329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3.2.2 Data Privacy and Vulnerabilities in Generative AI for Test Processes and Tools</a:t>
            </a:r>
            <a:endParaRPr lang="en-IN" sz="1400" b="1" dirty="0">
              <a:solidFill>
                <a:srgbClr val="FF0000"/>
              </a:solidFill>
            </a:endParaRPr>
          </a:p>
          <a:p>
            <a:pPr>
              <a:buNone/>
            </a:pPr>
            <a:endParaRPr lang="en-IN" sz="1400" b="1" dirty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IN" sz="1400" b="1" dirty="0">
                <a:solidFill>
                  <a:srgbClr val="FF0000"/>
                </a:solidFill>
              </a:rPr>
              <a:t>Malicious Code Generation</a:t>
            </a:r>
          </a:p>
          <a:p>
            <a:pPr>
              <a:buNone/>
            </a:pPr>
            <a:endParaRPr lang="en-IN" sz="14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/>
              <a:t>Manipulating LLMs to generate harmful code (e.g., backdoors)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/>
              <a:t>Exploits AI’s ability to produce functional scripts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rgbClr val="FF0000"/>
                </a:solidFill>
              </a:rPr>
              <a:t>Example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/>
              <a:t>AI generates code that opens a communication channel with a malicious IP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rgbClr val="FF0000"/>
                </a:solidFill>
              </a:rPr>
              <a:t>Impact on Testing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/>
              <a:t>Compromised test environments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/>
              <a:t>Unauthorized system access or malware spread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/>
              <a:t>Restrict unsafe commands, apply static code analysis, and run generated code in isolated environments.</a:t>
            </a:r>
          </a:p>
        </p:txBody>
      </p:sp>
    </p:spTree>
    <p:extLst>
      <p:ext uri="{BB962C8B-B14F-4D97-AF65-F5344CB8AC3E}">
        <p14:creationId xmlns:p14="http://schemas.microsoft.com/office/powerpoint/2010/main" val="415177659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297AC2-A788-C4E3-698C-93F06EAFB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F920A6A-541E-0EC6-7990-D4DF2BC8B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Chapter 3 - Managing Risks of Generative AI in Software Testing 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DAFB2AA-B6F7-99A9-9C80-2B6EEB5E78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390" y="1395961"/>
            <a:ext cx="8596668" cy="3880773"/>
          </a:xfrm>
        </p:spPr>
        <p:txBody>
          <a:bodyPr>
            <a:normAutofit/>
          </a:bodyPr>
          <a:lstStyle/>
          <a:p>
            <a:endParaRPr lang="en-IN" dirty="0">
              <a:solidFill>
                <a:srgbClr val="FF0000"/>
              </a:solidFill>
            </a:endParaRP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6046C1-2EA9-5578-3AFE-4650A1B2C250}"/>
              </a:ext>
            </a:extLst>
          </p:cNvPr>
          <p:cNvSpPr txBox="1"/>
          <p:nvPr/>
        </p:nvSpPr>
        <p:spPr>
          <a:xfrm>
            <a:off x="740397" y="1395961"/>
            <a:ext cx="873855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400" b="1" dirty="0">
                <a:solidFill>
                  <a:srgbClr val="FF0000"/>
                </a:solidFill>
              </a:rPr>
              <a:t>3.2.3 Mitigation Strategies to Protect Data Privacy and Enhance Security in Testing with Generative AI</a:t>
            </a:r>
          </a:p>
          <a:p>
            <a:pPr>
              <a:buNone/>
            </a:pPr>
            <a:endParaRPr lang="en-IN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400" b="1" dirty="0"/>
              <a:t>GenAI-3.2.3 (K2)</a:t>
            </a:r>
            <a:r>
              <a:rPr lang="en-IN" sz="1400" dirty="0"/>
              <a:t> Summarize mitigation strategies to protect data privacy and enhance security in Generative AI for software testing.</a:t>
            </a:r>
          </a:p>
        </p:txBody>
      </p:sp>
    </p:spTree>
    <p:extLst>
      <p:ext uri="{BB962C8B-B14F-4D97-AF65-F5344CB8AC3E}">
        <p14:creationId xmlns:p14="http://schemas.microsoft.com/office/powerpoint/2010/main" val="263317262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5973B7-B1EB-B698-A39B-E6180FEF9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DF5E601-AC9C-1521-EB4B-C8836C88F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Chapter 3 - Managing Risks of Generative AI in Software Testing 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4AE361C-8682-13A6-44FA-2925F2E05C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390" y="1395961"/>
            <a:ext cx="8596668" cy="3880773"/>
          </a:xfrm>
        </p:spPr>
        <p:txBody>
          <a:bodyPr>
            <a:normAutofit/>
          </a:bodyPr>
          <a:lstStyle/>
          <a:p>
            <a:endParaRPr lang="en-IN" dirty="0">
              <a:solidFill>
                <a:srgbClr val="FF0000"/>
              </a:solidFill>
            </a:endParaRP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21BB04-9083-1015-FDFF-C09039A50E1F}"/>
              </a:ext>
            </a:extLst>
          </p:cNvPr>
          <p:cNvSpPr txBox="1"/>
          <p:nvPr/>
        </p:nvSpPr>
        <p:spPr>
          <a:xfrm>
            <a:off x="606390" y="982849"/>
            <a:ext cx="8971162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>
                <a:solidFill>
                  <a:srgbClr val="FF0000"/>
                </a:solidFill>
              </a:rPr>
              <a:t>3.2.3 Mitigation Strategies to Protect Data Privacy and Enhance Security in Testing with Generative AI</a:t>
            </a:r>
          </a:p>
          <a:p>
            <a:pPr>
              <a:buNone/>
            </a:pPr>
            <a:endParaRPr lang="en-US" sz="1400" b="1" dirty="0"/>
          </a:p>
          <a:p>
            <a:pPr>
              <a:buNone/>
            </a:pPr>
            <a:endParaRPr lang="en-US" sz="1400" b="1" dirty="0"/>
          </a:p>
          <a:p>
            <a:pPr>
              <a:buNone/>
            </a:pPr>
            <a:r>
              <a:rPr lang="en-US" sz="1400" b="1" dirty="0">
                <a:solidFill>
                  <a:srgbClr val="FF0000"/>
                </a:solidFill>
              </a:rPr>
              <a:t>Mitigation Strategies to Protect Data Privacy and Enhance Security in Testing with Generative AI</a:t>
            </a:r>
          </a:p>
          <a:p>
            <a:pPr>
              <a:buNone/>
            </a:pP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As GenAI becomes mainstream, and with the inherent risks involved, regulations and standards emerge to mitigate them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Regulations like GDPR provide safeguards for lawful data use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To mitigate these risks, organizations should implement robust data privacy measures, including: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Data minimization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Data anonymization and pseudonymization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Secure data storage and transmission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Resources training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Additional mitigation strategies can be considered when implementing GenAI for testing: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Systematic review of the generated output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Evaluation by comparison with another LLM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Choice of a secure, operational environment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Regular security audits and vulnerability assessments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Staying updated with security best practices.</a:t>
            </a:r>
          </a:p>
        </p:txBody>
      </p:sp>
    </p:spTree>
    <p:extLst>
      <p:ext uri="{BB962C8B-B14F-4D97-AF65-F5344CB8AC3E}">
        <p14:creationId xmlns:p14="http://schemas.microsoft.com/office/powerpoint/2010/main" val="308368745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05EE2-1A34-BDE2-3C78-912652B65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E929AF1-FFC3-1EC4-622D-1F3A98C4D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Chapter 3 - Managing Risks of Generative AI in Software Testing 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86DBBB3-D184-8D02-F9D4-9C09313D13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390" y="1395961"/>
            <a:ext cx="8596668" cy="3880773"/>
          </a:xfrm>
        </p:spPr>
        <p:txBody>
          <a:bodyPr>
            <a:normAutofit/>
          </a:bodyPr>
          <a:lstStyle/>
          <a:p>
            <a:endParaRPr lang="en-IN" dirty="0">
              <a:solidFill>
                <a:srgbClr val="FF0000"/>
              </a:solidFill>
            </a:endParaRP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6A93FD-CC28-21B4-8E54-B274E0FE7D52}"/>
              </a:ext>
            </a:extLst>
          </p:cNvPr>
          <p:cNvSpPr txBox="1"/>
          <p:nvPr/>
        </p:nvSpPr>
        <p:spPr>
          <a:xfrm>
            <a:off x="677333" y="1145397"/>
            <a:ext cx="9120935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>
                <a:solidFill>
                  <a:srgbClr val="FF0000"/>
                </a:solidFill>
              </a:rPr>
              <a:t>3.2.3 Mitigation Strategies to Protect Data Privacy and Enhance Security in Testing with Generative AI</a:t>
            </a:r>
          </a:p>
          <a:p>
            <a:pPr>
              <a:buNone/>
            </a:pPr>
            <a:endParaRPr lang="en-IN" sz="1400" b="1" dirty="0">
              <a:solidFill>
                <a:srgbClr val="FF0000"/>
              </a:solidFill>
            </a:endParaRPr>
          </a:p>
          <a:p>
            <a:pPr>
              <a:buNone/>
            </a:pPr>
            <a:endParaRPr lang="en-IN" sz="1400" b="1" dirty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IN" sz="1400" dirty="0">
                <a:solidFill>
                  <a:srgbClr val="FF0000"/>
                </a:solidFill>
              </a:rPr>
              <a:t>Data Minimization and Data Anonymization &amp; Pseudonymization</a:t>
            </a:r>
          </a:p>
          <a:p>
            <a:pPr>
              <a:buNone/>
            </a:pPr>
            <a:endParaRPr lang="en-IN" sz="1400" dirty="0">
              <a:solidFill>
                <a:srgbClr val="FF000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/>
              <a:t>Data Minimization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/>
              <a:t>Process only the necessary data for testing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/>
              <a:t>Avoid sensitive data unless legally permitted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/>
              <a:t>Data Anonymization &amp; Pseudonymization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/>
              <a:t>Mask or replace sensitive info with non-identifiable data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/>
              <a:t>Maintains realism without exposing PII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/>
              <a:t>Example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/>
              <a:t>Replace “John Smith, 123456789” to “User A, XXXXXXXX” in test datasets.</a:t>
            </a:r>
          </a:p>
        </p:txBody>
      </p:sp>
    </p:spTree>
    <p:extLst>
      <p:ext uri="{BB962C8B-B14F-4D97-AF65-F5344CB8AC3E}">
        <p14:creationId xmlns:p14="http://schemas.microsoft.com/office/powerpoint/2010/main" val="343190652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E4B7D1-D4A6-88C9-DA19-E2C04B0F1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39DE9D8-3945-427A-ADB8-26B0BB9D8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Chapter 3 - Managing Risks of Generative AI in Software Testing 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08E74FA-154E-A0C4-6967-9C0145994B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390" y="1395961"/>
            <a:ext cx="8596668" cy="3880773"/>
          </a:xfrm>
        </p:spPr>
        <p:txBody>
          <a:bodyPr>
            <a:normAutofit/>
          </a:bodyPr>
          <a:lstStyle/>
          <a:p>
            <a:endParaRPr lang="en-IN" dirty="0">
              <a:solidFill>
                <a:srgbClr val="FF0000"/>
              </a:solidFill>
            </a:endParaRP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0717D1-B48E-1FEC-CBD1-1079BA613B3D}"/>
              </a:ext>
            </a:extLst>
          </p:cNvPr>
          <p:cNvSpPr txBox="1"/>
          <p:nvPr/>
        </p:nvSpPr>
        <p:spPr>
          <a:xfrm>
            <a:off x="677333" y="1347789"/>
            <a:ext cx="7520735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>
                <a:solidFill>
                  <a:srgbClr val="FF0000"/>
                </a:solidFill>
              </a:rPr>
              <a:t>3.2.3 Mitigation Strategies to Protect Data Privacy and Enhance Security in Testing with Generative AI</a:t>
            </a:r>
          </a:p>
          <a:p>
            <a:pPr>
              <a:buNone/>
            </a:pPr>
            <a:endParaRPr lang="en-US" sz="1400" b="1" dirty="0"/>
          </a:p>
          <a:p>
            <a:pPr>
              <a:buNone/>
            </a:pPr>
            <a:r>
              <a:rPr lang="en-US" sz="1400" b="1" dirty="0">
                <a:solidFill>
                  <a:srgbClr val="FF0000"/>
                </a:solidFill>
              </a:rPr>
              <a:t>Secure Data Storage and Transmission &amp; Resources Training</a:t>
            </a:r>
          </a:p>
          <a:p>
            <a:pPr>
              <a:buNone/>
            </a:pP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Secure Data Storage &amp; Transmission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Use encryption &amp; access controls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Protect data across environments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Resources Training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Train teams on responsible use of Gen AI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Promote ethical practices &amp; awareness of risks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Example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Encrypt test logs before sharing; train testers to avoid prompt injection attacks.</a:t>
            </a:r>
          </a:p>
        </p:txBody>
      </p:sp>
    </p:spTree>
    <p:extLst>
      <p:ext uri="{BB962C8B-B14F-4D97-AF65-F5344CB8AC3E}">
        <p14:creationId xmlns:p14="http://schemas.microsoft.com/office/powerpoint/2010/main" val="147549077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D52284-E843-A9D9-7196-9DB56B81C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497CE76-1DCC-BE43-322B-FBD11DC49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Chapter 3 - Managing Risks of Generative AI in Software Testing 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62BA048-A8BD-6A43-2481-0CF611FD17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390" y="1395961"/>
            <a:ext cx="8596668" cy="3880773"/>
          </a:xfrm>
        </p:spPr>
        <p:txBody>
          <a:bodyPr>
            <a:normAutofit/>
          </a:bodyPr>
          <a:lstStyle/>
          <a:p>
            <a:endParaRPr lang="en-IN" dirty="0">
              <a:solidFill>
                <a:srgbClr val="FF0000"/>
              </a:solidFill>
            </a:endParaRP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542DD8-6DF7-9D2D-FEF6-E1881152B3DC}"/>
              </a:ext>
            </a:extLst>
          </p:cNvPr>
          <p:cNvSpPr txBox="1"/>
          <p:nvPr/>
        </p:nvSpPr>
        <p:spPr>
          <a:xfrm>
            <a:off x="606390" y="1270000"/>
            <a:ext cx="895539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>
                <a:solidFill>
                  <a:srgbClr val="FF0000"/>
                </a:solidFill>
              </a:rPr>
              <a:t>3.2.3 Mitigation Strategies to Protect Data Privacy and Enhance Security in Testing with Generative AI</a:t>
            </a:r>
          </a:p>
          <a:p>
            <a:pPr>
              <a:buNone/>
            </a:pPr>
            <a:endParaRPr lang="en-US" sz="1400" b="1" dirty="0"/>
          </a:p>
          <a:p>
            <a:pPr>
              <a:buNone/>
            </a:pPr>
            <a:endParaRPr lang="en-US" sz="1400" b="1" dirty="0"/>
          </a:p>
          <a:p>
            <a:pPr>
              <a:buNone/>
            </a:pPr>
            <a:r>
              <a:rPr lang="en-US" sz="1400" b="1" dirty="0">
                <a:solidFill>
                  <a:srgbClr val="FF0000"/>
                </a:solidFill>
              </a:rPr>
              <a:t>Systematic Review &amp; Model Comparison</a:t>
            </a:r>
          </a:p>
          <a:p>
            <a:pPr>
              <a:buNone/>
            </a:pP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Systematic review of the generated output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Human evaluation ensures accuracy &amp; quality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It detects hallucinations, reasoning errors and biases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Evaluation by comparison with another LLM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Use multiple LLMs for the same task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Compare outputs to detect inconsistencies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Example</a:t>
            </a:r>
            <a:endParaRPr lang="en-US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Model A generates 10 login test cases, Model B generates 12, manually review and pick best or merged tests.</a:t>
            </a:r>
          </a:p>
        </p:txBody>
      </p:sp>
    </p:spTree>
    <p:extLst>
      <p:ext uri="{BB962C8B-B14F-4D97-AF65-F5344CB8AC3E}">
        <p14:creationId xmlns:p14="http://schemas.microsoft.com/office/powerpoint/2010/main" val="188203207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546DC6-1C4A-7709-9AD8-101C8A2B4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9F98922-7094-046E-B4B7-D1581C970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Chapter 3 - Managing Risks of Generative AI in Software Testing 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FDB19D9-C8F3-100E-3EED-992674742D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390" y="1395961"/>
            <a:ext cx="8596668" cy="3880773"/>
          </a:xfrm>
        </p:spPr>
        <p:txBody>
          <a:bodyPr>
            <a:normAutofit/>
          </a:bodyPr>
          <a:lstStyle/>
          <a:p>
            <a:endParaRPr lang="en-IN" dirty="0">
              <a:solidFill>
                <a:srgbClr val="FF0000"/>
              </a:solidFill>
            </a:endParaRP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EFC7C8-50F4-CEE9-38A4-60D6B6774E49}"/>
              </a:ext>
            </a:extLst>
          </p:cNvPr>
          <p:cNvSpPr txBox="1"/>
          <p:nvPr/>
        </p:nvSpPr>
        <p:spPr>
          <a:xfrm>
            <a:off x="677334" y="1108273"/>
            <a:ext cx="7970052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>
                <a:solidFill>
                  <a:srgbClr val="FF0000"/>
                </a:solidFill>
              </a:rPr>
              <a:t>3.2.3 Mitigation Strategies to Protect Data Privacy and Enhance Security in Testing with Generative AI</a:t>
            </a:r>
          </a:p>
          <a:p>
            <a:pPr>
              <a:buNone/>
            </a:pPr>
            <a:endParaRPr lang="en-US" sz="1400" b="1" dirty="0"/>
          </a:p>
          <a:p>
            <a:pPr>
              <a:buNone/>
            </a:pPr>
            <a:r>
              <a:rPr lang="en-US" sz="1400" b="1" dirty="0">
                <a:solidFill>
                  <a:srgbClr val="FF0000"/>
                </a:solidFill>
              </a:rPr>
              <a:t>Secure Environments &amp; Audits</a:t>
            </a:r>
          </a:p>
          <a:p>
            <a:pPr>
              <a:buNone/>
            </a:pPr>
            <a:endParaRPr lang="en-US" sz="1400" dirty="0">
              <a:solidFill>
                <a:srgbClr val="FF000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Choice of a secure, operational environment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Depending on the level of confidentiality required, organizations can opt for different secure solutions: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sz="1400" dirty="0"/>
              <a:t>Using a commercial, secure offering from an LLM provider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sz="1400" dirty="0"/>
              <a:t>Operating the LLM in a secure cloud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sz="1400" dirty="0"/>
              <a:t>On-premise installation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Regular security audits and vulnerability assessments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Identify and fix weaknesses in GenAI systems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Continuous monitoring is essential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Example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For banking app testing (prefer on-premise LLM and perform quarterly penetration tests).</a:t>
            </a:r>
          </a:p>
        </p:txBody>
      </p:sp>
    </p:spTree>
    <p:extLst>
      <p:ext uri="{BB962C8B-B14F-4D97-AF65-F5344CB8AC3E}">
        <p14:creationId xmlns:p14="http://schemas.microsoft.com/office/powerpoint/2010/main" val="30589809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0A886E-442F-3F4E-29A9-C5F41FD0E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7B95D24-2A20-90A5-FC83-B1E384867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Chapter 3 - Managing Risks of Generative AI in Software Testing 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822277F-42B9-8221-F2B6-D15EEB4050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390" y="1395961"/>
            <a:ext cx="8596668" cy="3880773"/>
          </a:xfrm>
        </p:spPr>
        <p:txBody>
          <a:bodyPr>
            <a:normAutofit/>
          </a:bodyPr>
          <a:lstStyle/>
          <a:p>
            <a:endParaRPr lang="en-IN" dirty="0">
              <a:solidFill>
                <a:srgbClr val="FF0000"/>
              </a:solidFill>
            </a:endParaRP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66E937-F9EB-0A9F-20E0-142166740945}"/>
              </a:ext>
            </a:extLst>
          </p:cNvPr>
          <p:cNvSpPr txBox="1"/>
          <p:nvPr/>
        </p:nvSpPr>
        <p:spPr>
          <a:xfrm>
            <a:off x="764627" y="1270000"/>
            <a:ext cx="7283669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sz="1400" b="1" dirty="0"/>
          </a:p>
          <a:p>
            <a:pPr>
              <a:buNone/>
            </a:pPr>
            <a:endParaRPr lang="en-US" sz="1400" b="1" dirty="0"/>
          </a:p>
          <a:p>
            <a:r>
              <a:rPr lang="en-IN" sz="1400" b="1" dirty="0">
                <a:solidFill>
                  <a:srgbClr val="FF0000"/>
                </a:solidFill>
              </a:rPr>
              <a:t>3.2.3 Mitigation Strategies to Protect Data Privacy and Enhance Security in Testing with Generative AI</a:t>
            </a:r>
          </a:p>
          <a:p>
            <a:pPr>
              <a:buNone/>
            </a:pPr>
            <a:endParaRPr lang="en-US" sz="1400" b="1" dirty="0"/>
          </a:p>
          <a:p>
            <a:pPr>
              <a:buNone/>
            </a:pPr>
            <a:endParaRPr lang="en-US" sz="1400" b="1" dirty="0"/>
          </a:p>
          <a:p>
            <a:pPr>
              <a:buNone/>
            </a:pPr>
            <a:r>
              <a:rPr lang="en-US" sz="1400" b="1" dirty="0">
                <a:solidFill>
                  <a:srgbClr val="FF0000"/>
                </a:solidFill>
              </a:rPr>
              <a:t>Staying updated with security best practices</a:t>
            </a:r>
          </a:p>
          <a:p>
            <a:pPr>
              <a:buNone/>
            </a:pP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Follow latest security guidelines &amp; technologies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Adapt to new threats and vulnerabilities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The combination of these strategies is required to ensure data security while using GenAI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Involve senior Security Engineers, Legal counsel, the Chief Technology Officer (CTO), or the Chief Information Security Officer (CISO), if present in the organization.</a:t>
            </a:r>
          </a:p>
        </p:txBody>
      </p:sp>
    </p:spTree>
    <p:extLst>
      <p:ext uri="{BB962C8B-B14F-4D97-AF65-F5344CB8AC3E}">
        <p14:creationId xmlns:p14="http://schemas.microsoft.com/office/powerpoint/2010/main" val="169264631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6C37E-14DB-3BB2-279A-7F8662468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E273D7C-58DD-7A6B-D479-D1784023D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Chapter 3 - Managing Risks of Generative AI in Software Testing 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A32BB93-E55A-A05D-5E8B-C4EBC6C1FF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390" y="1395961"/>
            <a:ext cx="8596668" cy="3880773"/>
          </a:xfrm>
        </p:spPr>
        <p:txBody>
          <a:bodyPr>
            <a:normAutofit/>
          </a:bodyPr>
          <a:lstStyle/>
          <a:p>
            <a:endParaRPr lang="en-IN" dirty="0">
              <a:solidFill>
                <a:srgbClr val="FF0000"/>
              </a:solidFill>
            </a:endParaRPr>
          </a:p>
          <a:p>
            <a:endParaRPr lang="en-IN" dirty="0">
              <a:solidFill>
                <a:srgbClr val="FF0000"/>
              </a:solidFill>
            </a:endParaRP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3FF2C7-0F02-AD8C-49D6-6AEC34D35AF6}"/>
              </a:ext>
            </a:extLst>
          </p:cNvPr>
          <p:cNvSpPr txBox="1"/>
          <p:nvPr/>
        </p:nvSpPr>
        <p:spPr>
          <a:xfrm>
            <a:off x="733097" y="1332298"/>
            <a:ext cx="792217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>
                <a:solidFill>
                  <a:srgbClr val="FF0000"/>
                </a:solidFill>
              </a:rPr>
              <a:t>3.3 Energy Consumption and Environmental Impact of Generative AI in Software Testing</a:t>
            </a:r>
          </a:p>
          <a:p>
            <a:pPr>
              <a:buNone/>
            </a:pPr>
            <a:endParaRPr lang="en-US" sz="1400" dirty="0">
              <a:solidFill>
                <a:srgbClr val="FF000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GenAI-3.3.1 (K2)</a:t>
            </a:r>
            <a:r>
              <a:rPr lang="en-US" sz="1400" dirty="0"/>
              <a:t> Explain the impact of task characteristics and model usage on the energy consumption of Generative AI in software testing.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HO-3.3.1 (H1)</a:t>
            </a:r>
            <a:r>
              <a:rPr lang="en-US" sz="1400" dirty="0"/>
              <a:t> Use a simulator to calculate the energy and CO₂ emissions for given test tasks with Generative AI.</a:t>
            </a:r>
          </a:p>
        </p:txBody>
      </p:sp>
    </p:spTree>
    <p:extLst>
      <p:ext uri="{BB962C8B-B14F-4D97-AF65-F5344CB8AC3E}">
        <p14:creationId xmlns:p14="http://schemas.microsoft.com/office/powerpoint/2010/main" val="247608430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BB8EEF-C65A-FEE7-9CDB-58B1AEDC47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96B2CF7-36B5-BBB8-7401-6CAC7FCD3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Chapter 3 - Managing Risks of Generative AI in Software Testing 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DE26FD8-22FA-9B41-2BE5-598DCEA252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390" y="1395961"/>
            <a:ext cx="8596668" cy="3880773"/>
          </a:xfrm>
        </p:spPr>
        <p:txBody>
          <a:bodyPr>
            <a:normAutofit/>
          </a:bodyPr>
          <a:lstStyle/>
          <a:p>
            <a:endParaRPr lang="en-IN" dirty="0">
              <a:solidFill>
                <a:srgbClr val="FF0000"/>
              </a:solidFill>
            </a:endParaRP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F60E25-E044-8CB2-A55A-7D753FD24C22}"/>
              </a:ext>
            </a:extLst>
          </p:cNvPr>
          <p:cNvSpPr txBox="1"/>
          <p:nvPr/>
        </p:nvSpPr>
        <p:spPr>
          <a:xfrm>
            <a:off x="677334" y="1351188"/>
            <a:ext cx="8111942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3.3 Energy Consumption and Environmental Impact of Generative AI in Software Testing</a:t>
            </a:r>
          </a:p>
          <a:p>
            <a:pPr>
              <a:buNone/>
            </a:pPr>
            <a:endParaRPr lang="en-US" sz="1400" b="1" dirty="0"/>
          </a:p>
          <a:p>
            <a:pPr>
              <a:buNone/>
            </a:pPr>
            <a:endParaRPr lang="en-US" sz="1400" b="1" dirty="0"/>
          </a:p>
          <a:p>
            <a:pPr>
              <a:buNone/>
            </a:pP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High computational demand:</a:t>
            </a:r>
            <a:r>
              <a:rPr lang="en-US" sz="1400" dirty="0"/>
              <a:t> Training and processing large language models (LLMs) require extensive specialized hardware resources.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Service delivery model:</a:t>
            </a:r>
            <a:r>
              <a:rPr lang="en-US" sz="1400" dirty="0"/>
              <a:t> LLMs are typically offered as web-based services, which adds continuous operational overhead.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System load increase:</a:t>
            </a:r>
            <a:r>
              <a:rPr lang="en-US" sz="1400" dirty="0"/>
              <a:t> Usage of LLMs raises the demand on end-user devices, communication networks, and large-scale data centers.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Environmental impact:</a:t>
            </a:r>
            <a:r>
              <a:rPr lang="en-US" sz="1400" dirty="0"/>
              <a:t> The resulting higher energy consumption contributes to increased carbon footprint and sustainability concerns.</a:t>
            </a:r>
          </a:p>
        </p:txBody>
      </p:sp>
    </p:spTree>
    <p:extLst>
      <p:ext uri="{BB962C8B-B14F-4D97-AF65-F5344CB8AC3E}">
        <p14:creationId xmlns:p14="http://schemas.microsoft.com/office/powerpoint/2010/main" val="65563545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4B8AF-3EBF-FE8B-D47E-D8132537D0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63AF525-7DF1-A879-E2C9-059278711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Chapter 3 - Managing Risks of Generative AI in Software Testing 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AC3F0E4-72A3-1C00-6677-168D9D1905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390" y="1395961"/>
            <a:ext cx="8596668" cy="3880773"/>
          </a:xfrm>
        </p:spPr>
        <p:txBody>
          <a:bodyPr>
            <a:normAutofit/>
          </a:bodyPr>
          <a:lstStyle/>
          <a:p>
            <a:endParaRPr lang="en-IN" dirty="0">
              <a:solidFill>
                <a:srgbClr val="FF0000"/>
              </a:solidFill>
            </a:endParaRP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5F20B1-0B18-CF65-D6FB-ADABA3A15951}"/>
              </a:ext>
            </a:extLst>
          </p:cNvPr>
          <p:cNvSpPr txBox="1"/>
          <p:nvPr/>
        </p:nvSpPr>
        <p:spPr>
          <a:xfrm>
            <a:off x="606390" y="1270000"/>
            <a:ext cx="770203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>
                <a:solidFill>
                  <a:srgbClr val="FF0000"/>
                </a:solidFill>
              </a:rPr>
              <a:t>3.3.1 The Impact of Using GenAI on Energy Consumption and CO₂ Emissions</a:t>
            </a:r>
          </a:p>
          <a:p>
            <a:pPr>
              <a:buNone/>
            </a:pPr>
            <a:endParaRPr lang="en-US" sz="1400" dirty="0">
              <a:solidFill>
                <a:srgbClr val="FF000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GenAI-3.3.1 (K2)</a:t>
            </a:r>
            <a:r>
              <a:rPr lang="en-US" sz="1400" dirty="0"/>
              <a:t> Explain the impact of task characteristics and model usage on the energy consumption of Generative AI in software testing.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HO-3.3.1 (H1)</a:t>
            </a:r>
            <a:r>
              <a:rPr lang="en-US" sz="1400" dirty="0"/>
              <a:t> Use a simulator to calculate the energy and CO₂ emissions for given test tasks with Generative AI.</a:t>
            </a:r>
          </a:p>
        </p:txBody>
      </p:sp>
    </p:spTree>
    <p:extLst>
      <p:ext uri="{BB962C8B-B14F-4D97-AF65-F5344CB8AC3E}">
        <p14:creationId xmlns:p14="http://schemas.microsoft.com/office/powerpoint/2010/main" val="219316440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E74B94-70C7-93D5-EFF5-49EFBC820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116AE17-E09F-8882-E07E-705C5E0D9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Chapter 3 - Managing Risks of Generative AI in Software Testing 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321708C-698C-0623-2BCA-081DB5769E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390" y="1395961"/>
            <a:ext cx="8596668" cy="3880773"/>
          </a:xfrm>
        </p:spPr>
        <p:txBody>
          <a:bodyPr>
            <a:normAutofit/>
          </a:bodyPr>
          <a:lstStyle/>
          <a:p>
            <a:endParaRPr lang="en-IN" dirty="0">
              <a:solidFill>
                <a:srgbClr val="FF0000"/>
              </a:solidFill>
            </a:endParaRP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894EDE-676E-8BE0-E29E-0F9E46C97FAE}"/>
              </a:ext>
            </a:extLst>
          </p:cNvPr>
          <p:cNvSpPr txBox="1"/>
          <p:nvPr/>
        </p:nvSpPr>
        <p:spPr>
          <a:xfrm>
            <a:off x="677333" y="1212688"/>
            <a:ext cx="8435135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3.3.1 The Impact of Using GenAI on Energy Consumption and CO₂ Emissions</a:t>
            </a:r>
          </a:p>
          <a:p>
            <a:pPr>
              <a:buNone/>
            </a:pPr>
            <a:endParaRPr lang="en-US" sz="1400" b="1" dirty="0"/>
          </a:p>
          <a:p>
            <a:pPr>
              <a:buNone/>
            </a:pPr>
            <a:endParaRPr lang="en-US" sz="1400" b="1" dirty="0"/>
          </a:p>
          <a:p>
            <a:pPr>
              <a:buNone/>
            </a:pPr>
            <a:r>
              <a:rPr lang="en-US" sz="1400" b="1" dirty="0">
                <a:solidFill>
                  <a:srgbClr val="FF0000"/>
                </a:solidFill>
              </a:rPr>
              <a:t>Environmental Impact of Generative AI</a:t>
            </a:r>
          </a:p>
          <a:p>
            <a:pPr>
              <a:buNone/>
            </a:pP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The environmental impact of GenAI should not be underestimated, as energy consumption rises sharply as usage increases.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b="1" dirty="0"/>
              <a:t>Rising energy consumption:</a:t>
            </a:r>
            <a:r>
              <a:rPr lang="en-US" sz="1400" dirty="0"/>
              <a:t> Usage increases sharply with task complexity and computational demand.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lvl="1"/>
            <a:r>
              <a:rPr lang="en-US" sz="1400" b="1" dirty="0"/>
              <a:t>For example:</a:t>
            </a:r>
          </a:p>
          <a:p>
            <a:pPr lvl="1"/>
            <a:endParaRPr lang="en-US" sz="1400" dirty="0"/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sz="1400" dirty="0"/>
              <a:t>Generating a single image ≈ fully charging a smartphone (Heikkilä 2023).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sz="1400" dirty="0"/>
              <a:t>Generating text ≈ only a small fraction of a smartphone’s charge.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Millions of small tasks worldwide compute to substantial CO₂ emissions (Berthelot 2024) resulting in substantial environmental strain.</a:t>
            </a:r>
          </a:p>
        </p:txBody>
      </p:sp>
    </p:spTree>
    <p:extLst>
      <p:ext uri="{BB962C8B-B14F-4D97-AF65-F5344CB8AC3E}">
        <p14:creationId xmlns:p14="http://schemas.microsoft.com/office/powerpoint/2010/main" val="409446561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88750-4B2B-56A3-87B2-8CC287B4B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0D7DC81-F872-3228-4A6A-3278764AD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Chapter 3 - Managing Risks of Generative AI in Software Testing 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862DC3A-1A9B-1394-87FA-FE0C6B832F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390" y="1395961"/>
            <a:ext cx="8596668" cy="3880773"/>
          </a:xfrm>
        </p:spPr>
        <p:txBody>
          <a:bodyPr>
            <a:normAutofit/>
          </a:bodyPr>
          <a:lstStyle/>
          <a:p>
            <a:endParaRPr lang="en-IN" dirty="0">
              <a:solidFill>
                <a:srgbClr val="FF0000"/>
              </a:solidFill>
            </a:endParaRP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7B6AD9-52CA-186B-47F8-AFC410A2C8CE}"/>
              </a:ext>
            </a:extLst>
          </p:cNvPr>
          <p:cNvSpPr txBox="1"/>
          <p:nvPr/>
        </p:nvSpPr>
        <p:spPr>
          <a:xfrm>
            <a:off x="677333" y="1234282"/>
            <a:ext cx="9057873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3.3.1 The Impact of Using GenAI on Energy Consumption and CO₂ Emissions</a:t>
            </a:r>
          </a:p>
          <a:p>
            <a:pPr>
              <a:buNone/>
            </a:pPr>
            <a:endParaRPr lang="en-US" sz="1400" b="1" dirty="0"/>
          </a:p>
          <a:p>
            <a:pPr>
              <a:buNone/>
            </a:pPr>
            <a:r>
              <a:rPr lang="en-US" sz="1400" b="1" dirty="0"/>
              <a:t>Implications for Software Testing &amp; Best Practices</a:t>
            </a:r>
          </a:p>
          <a:p>
            <a:pPr>
              <a:buNone/>
            </a:pP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Sustainability and ecological footprint must be considered alongside functionality and performance.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Tester must evaluate energy efficiency of AI-driven testing solutions.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Tester should raise awareness of environmental risks in project teams.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Limit unnecessary model interactions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Best practices: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Optimize test design to reduce computational overhead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Encourage responsible use of generative AI services.</a:t>
            </a:r>
          </a:p>
        </p:txBody>
      </p:sp>
    </p:spTree>
    <p:extLst>
      <p:ext uri="{BB962C8B-B14F-4D97-AF65-F5344CB8AC3E}">
        <p14:creationId xmlns:p14="http://schemas.microsoft.com/office/powerpoint/2010/main" val="281782655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45F06-D9A6-80C1-427F-26C17AA9C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6FB3A05-CCDF-E61E-61BB-CB51BF618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Chapter 3 - Managing Risks of Generative AI in Software Testing 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DAC9FBF-03E7-ECB1-407C-D9082CD56A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390" y="1395961"/>
            <a:ext cx="8596668" cy="3880773"/>
          </a:xfrm>
        </p:spPr>
        <p:txBody>
          <a:bodyPr>
            <a:normAutofit/>
          </a:bodyPr>
          <a:lstStyle/>
          <a:p>
            <a:endParaRPr lang="en-IN" dirty="0">
              <a:solidFill>
                <a:srgbClr val="FF0000"/>
              </a:solidFill>
            </a:endParaRP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BC2788-DDF7-5853-4020-211B0DD3C2CE}"/>
              </a:ext>
            </a:extLst>
          </p:cNvPr>
          <p:cNvSpPr txBox="1"/>
          <p:nvPr/>
        </p:nvSpPr>
        <p:spPr>
          <a:xfrm>
            <a:off x="606389" y="1270000"/>
            <a:ext cx="765474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>
                <a:solidFill>
                  <a:srgbClr val="FF0000"/>
                </a:solidFill>
              </a:rPr>
              <a:t>3.4 AI Regulations, Standards, and Best Practice Frameworks</a:t>
            </a:r>
          </a:p>
          <a:p>
            <a:pPr>
              <a:buNone/>
            </a:pP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GenAI-3.4.1 (K1)</a:t>
            </a:r>
            <a:r>
              <a:rPr lang="en-US" sz="1400" dirty="0"/>
              <a:t> Recall examples of AI regulations, standards and best practice frameworks relevant to Generative AI in software testing.</a:t>
            </a:r>
          </a:p>
        </p:txBody>
      </p:sp>
    </p:spTree>
    <p:extLst>
      <p:ext uri="{BB962C8B-B14F-4D97-AF65-F5344CB8AC3E}">
        <p14:creationId xmlns:p14="http://schemas.microsoft.com/office/powerpoint/2010/main" val="31372121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562317-FA87-B86B-F55F-1EB328B4E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7A06DD1-02DA-C41B-1904-A555EE22A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Chapter 3 - Managing Risks of Generative AI in Software Testing 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3419815-B30E-DF23-1675-23DC7BC95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390" y="1395961"/>
            <a:ext cx="8596668" cy="3880773"/>
          </a:xfrm>
        </p:spPr>
        <p:txBody>
          <a:bodyPr>
            <a:normAutofit/>
          </a:bodyPr>
          <a:lstStyle/>
          <a:p>
            <a:endParaRPr lang="en-IN" dirty="0">
              <a:solidFill>
                <a:srgbClr val="FF0000"/>
              </a:solidFill>
            </a:endParaRP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7E89C4-7930-E8FB-1D20-287C31A802BD}"/>
              </a:ext>
            </a:extLst>
          </p:cNvPr>
          <p:cNvSpPr txBox="1"/>
          <p:nvPr/>
        </p:nvSpPr>
        <p:spPr>
          <a:xfrm>
            <a:off x="677334" y="1196058"/>
            <a:ext cx="10011103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3.4 AI Regulations, Standards, and Best Practice Frameworks</a:t>
            </a:r>
          </a:p>
          <a:p>
            <a:pPr>
              <a:buNone/>
            </a:pPr>
            <a:endParaRPr lang="en-US" sz="1400" b="1" dirty="0"/>
          </a:p>
          <a:p>
            <a:pPr>
              <a:buNone/>
            </a:pPr>
            <a:endParaRPr lang="en-US" sz="1400" b="1" dirty="0"/>
          </a:p>
          <a:p>
            <a:pPr>
              <a:buNone/>
            </a:pPr>
            <a:r>
              <a:rPr lang="en-US" sz="1400" b="1" dirty="0"/>
              <a:t>AI Regulations, Standards, and Best Practice Frameworks</a:t>
            </a:r>
          </a:p>
          <a:p>
            <a:pPr>
              <a:buNone/>
            </a:pP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GenAI is transforming software testing by assisting testers in a variety of test tasks like: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Assists testers in designing, generating, and analyzing test cases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Automates repetitive tasks, accelerates execution, and improves coverage and much more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Few risks in Generative AI</a:t>
            </a:r>
            <a:endParaRPr lang="en-US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Reasoning errors in generated outputs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Data privacy concerns with sensitive information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Security vulnerabilities introduced by AI tools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Environmental impacts from energy-intensive operations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Governance &amp; Best Practices</a:t>
            </a:r>
            <a:endParaRPr lang="en-US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Apply regulations, standards, and AI frameworks to manage risks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Incorporate sustainability, ethics, and compliance into test strategy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Ensure testers evaluate both functional and non-functional quality attributes.</a:t>
            </a:r>
          </a:p>
        </p:txBody>
      </p:sp>
    </p:spTree>
    <p:extLst>
      <p:ext uri="{BB962C8B-B14F-4D97-AF65-F5344CB8AC3E}">
        <p14:creationId xmlns:p14="http://schemas.microsoft.com/office/powerpoint/2010/main" val="126877086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278A44-92FD-1FD9-FFD0-000B1CEA8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066D51D-FF77-0758-0CA3-1E62B71EF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Chapter 3 - Managing Risks of Generative AI in Software Testing 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81DBBF0-A795-8DEE-21CE-771DE14097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390" y="1395961"/>
            <a:ext cx="8596668" cy="3880773"/>
          </a:xfrm>
        </p:spPr>
        <p:txBody>
          <a:bodyPr>
            <a:normAutofit/>
          </a:bodyPr>
          <a:lstStyle/>
          <a:p>
            <a:endParaRPr lang="en-IN" dirty="0">
              <a:solidFill>
                <a:srgbClr val="FF0000"/>
              </a:solidFill>
            </a:endParaRP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14AD26-4179-1218-80A6-B856853356D8}"/>
              </a:ext>
            </a:extLst>
          </p:cNvPr>
          <p:cNvSpPr txBox="1"/>
          <p:nvPr/>
        </p:nvSpPr>
        <p:spPr>
          <a:xfrm>
            <a:off x="677334" y="1581266"/>
            <a:ext cx="852572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>
                <a:solidFill>
                  <a:srgbClr val="FF0000"/>
                </a:solidFill>
              </a:rPr>
              <a:t>3.4.1 AI Regulations, Standards and Frameworks Relevant to GenAI in Software Testing</a:t>
            </a:r>
          </a:p>
          <a:p>
            <a:pPr>
              <a:buNone/>
            </a:pPr>
            <a:endParaRPr lang="en-US" sz="1400" dirty="0">
              <a:solidFill>
                <a:srgbClr val="FF000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GenAI-3.4.1 (K1)</a:t>
            </a:r>
            <a:r>
              <a:rPr lang="en-US" sz="1400" dirty="0"/>
              <a:t> Recall examples of AI regulations, standards and best practice frameworks relevant to Generative AI in software testing.</a:t>
            </a:r>
          </a:p>
        </p:txBody>
      </p:sp>
    </p:spTree>
    <p:extLst>
      <p:ext uri="{BB962C8B-B14F-4D97-AF65-F5344CB8AC3E}">
        <p14:creationId xmlns:p14="http://schemas.microsoft.com/office/powerpoint/2010/main" val="334314326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630B6C-8C20-4F53-9067-2721CC546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CC354A2-ED6D-42E4-7CFD-322CC58AB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Chapter 3 - Managing Risks of Generative AI in Software Testing 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74233EB-B714-CFD5-7A8A-98EB5B5A25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390" y="1395961"/>
            <a:ext cx="8596668" cy="3880773"/>
          </a:xfrm>
        </p:spPr>
        <p:txBody>
          <a:bodyPr>
            <a:normAutofit/>
          </a:bodyPr>
          <a:lstStyle/>
          <a:p>
            <a:endParaRPr lang="en-IN" dirty="0">
              <a:solidFill>
                <a:srgbClr val="FF0000"/>
              </a:solidFill>
            </a:endParaRP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83C541-B34B-D9DE-0179-F7FFD8FAE6B6}"/>
              </a:ext>
            </a:extLst>
          </p:cNvPr>
          <p:cNvSpPr txBox="1"/>
          <p:nvPr/>
        </p:nvSpPr>
        <p:spPr>
          <a:xfrm>
            <a:off x="677334" y="1306416"/>
            <a:ext cx="919188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3.4.1 AI Regulations, Standards and Frameworks Relevant to GenAI in Software Testing</a:t>
            </a:r>
          </a:p>
          <a:p>
            <a:pPr>
              <a:buNone/>
            </a:pPr>
            <a:endParaRPr lang="en-US" sz="1400" b="1" dirty="0"/>
          </a:p>
          <a:p>
            <a:pPr>
              <a:buNone/>
            </a:pPr>
            <a:endParaRPr lang="en-US" sz="1400" b="1" dirty="0"/>
          </a:p>
          <a:p>
            <a:pPr>
              <a:buNone/>
            </a:pPr>
            <a:r>
              <a:rPr lang="en-US" sz="1400" b="1" dirty="0"/>
              <a:t>AI Regulations, Standards and Frameworks Relevant to GenAI in Software Testing</a:t>
            </a:r>
          </a:p>
          <a:p>
            <a:pPr>
              <a:buNone/>
            </a:pP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GenAI adoption is growing rapidly in software testing, offering efficiency and innovation.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Alongside opportunities, risks such as bias, privacy, security, and environmental impact must be addressed.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Regulations, standards, and frameworks provide structured guidance to ensure responsible and sustainable use of GenAI.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Key guidelines relevant to the use of GenAI in software testing are: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ISO/IEC 42001:2023 Information technology – Artificial intelligence Management system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ISO/IEC 23053:2022 Framework for Artificial Intelligence (AI) Systems Using Machine Learning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EU AI Act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NIST AI Risk Management Framework (US).</a:t>
            </a:r>
          </a:p>
        </p:txBody>
      </p:sp>
    </p:spTree>
    <p:extLst>
      <p:ext uri="{BB962C8B-B14F-4D97-AF65-F5344CB8AC3E}">
        <p14:creationId xmlns:p14="http://schemas.microsoft.com/office/powerpoint/2010/main" val="299331789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B9B0F8-DB6C-8F19-2608-DDFE55EEC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FC1B30B-C9DF-D3B7-C1B0-16ED1B79A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Chapter 3 - Managing Risks of Generative AI in Software Testing 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E137779-3EDD-790A-9B02-7A900A5F37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390" y="1395961"/>
            <a:ext cx="8596668" cy="3880773"/>
          </a:xfrm>
        </p:spPr>
        <p:txBody>
          <a:bodyPr>
            <a:normAutofit/>
          </a:bodyPr>
          <a:lstStyle/>
          <a:p>
            <a:endParaRPr lang="en-IN" dirty="0">
              <a:solidFill>
                <a:srgbClr val="FF0000"/>
              </a:solidFill>
            </a:endParaRPr>
          </a:p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29BA88C-FDA1-8A39-1134-EAFEDFD11A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562" y="1395961"/>
            <a:ext cx="7777238" cy="5099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55019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1D6FE2-A69A-379F-6E85-511DA0797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ECE3108-2079-5859-6CB6-75F61196A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2775" y="2675947"/>
            <a:ext cx="8596668" cy="1320800"/>
          </a:xfrm>
        </p:spPr>
        <p:txBody>
          <a:bodyPr>
            <a:normAutofit/>
          </a:bodyPr>
          <a:lstStyle/>
          <a:p>
            <a:r>
              <a:rPr lang="en-IN" sz="2000">
                <a:solidFill>
                  <a:srgbClr val="FF0000"/>
                </a:solidFill>
              </a:rPr>
              <a:t>			Thank </a:t>
            </a:r>
            <a:r>
              <a:rPr lang="en-IN" sz="2000" dirty="0">
                <a:solidFill>
                  <a:srgbClr val="FF0000"/>
                </a:solidFill>
              </a:rPr>
              <a:t>You </a:t>
            </a:r>
            <a:r>
              <a:rPr lang="en-IN" sz="2000">
                <a:solidFill>
                  <a:srgbClr val="FF0000"/>
                </a:solidFill>
              </a:rPr>
              <a:t>- We </a:t>
            </a:r>
            <a:r>
              <a:rPr lang="en-IN" sz="2000" dirty="0">
                <a:solidFill>
                  <a:srgbClr val="FF0000"/>
                </a:solidFill>
              </a:rPr>
              <a:t>are done </a:t>
            </a:r>
            <a:r>
              <a:rPr lang="en-IN" sz="2000">
                <a:solidFill>
                  <a:srgbClr val="FF0000"/>
                </a:solidFill>
              </a:rPr>
              <a:t>with Chapter3</a:t>
            </a:r>
            <a:endParaRPr lang="en-IN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911496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1358</TotalTime>
  <Words>5013</Words>
  <Application>Microsoft Office PowerPoint</Application>
  <PresentationFormat>Widescreen</PresentationFormat>
  <Paragraphs>819</Paragraphs>
  <Slides>57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1" baseType="lpstr">
      <vt:lpstr>Arial</vt:lpstr>
      <vt:lpstr>Trebuchet MS</vt:lpstr>
      <vt:lpstr>Wingdings 3</vt:lpstr>
      <vt:lpstr>Facet</vt:lpstr>
      <vt:lpstr>ISTQB® Certified Tester – Testing with Generative AI (CT-GenAI) Chapter 3 </vt:lpstr>
      <vt:lpstr>Chapter 3 - Managing Risks of Generative AI in Software Testing </vt:lpstr>
      <vt:lpstr>Chapter 3 - Managing Risks of Generative AI in Software Testing </vt:lpstr>
      <vt:lpstr>Chapter 3 - Managing Risks of Generative AI in Software Testing </vt:lpstr>
      <vt:lpstr>Chapter 3 - Managing Risks of Generative AI in Software Testing </vt:lpstr>
      <vt:lpstr>Chapter 3 - Managing Risks of Generative AI in Software Testing </vt:lpstr>
      <vt:lpstr>Chapter 3 - Managing Risks of Generative AI in Software Testing </vt:lpstr>
      <vt:lpstr>Chapter 3 - Managing Risks of Generative AI in Software Testing </vt:lpstr>
      <vt:lpstr>Chapter 3 - Managing Risks of Generative AI in Software Testing </vt:lpstr>
      <vt:lpstr>Chapter 3 - Managing Risks of Generative AI in Software Testing </vt:lpstr>
      <vt:lpstr>Chapter 3 - Managing Risks of Generative AI in Software Testing </vt:lpstr>
      <vt:lpstr>Chapter 3 - Managing Risks of Generative AI in Software Testing </vt:lpstr>
      <vt:lpstr>Chapter 3 - Managing Risks of Generative AI in Software Testing </vt:lpstr>
      <vt:lpstr>Chapter 3 - Managing Risks of Generative AI in Software Testing </vt:lpstr>
      <vt:lpstr>Chapter 3 - Managing Risks of Generative AI in Software Testing </vt:lpstr>
      <vt:lpstr>Chapter 3 - Managing Risks of Generative AI in Software Testing </vt:lpstr>
      <vt:lpstr>Chapter 3 - Managing Risks of Generative AI in Software Testing </vt:lpstr>
      <vt:lpstr>Chapter 3 - Managing Risks of Generative AI in Software Testing </vt:lpstr>
      <vt:lpstr>Chapter 3 - Managing Risks of Generative AI in Software Testing </vt:lpstr>
      <vt:lpstr>Chapter 3 - Managing Risks of Generative AI in Software Testing </vt:lpstr>
      <vt:lpstr>Chapter 3 - Managing Risks of Generative AI in Software Testing </vt:lpstr>
      <vt:lpstr>Chapter 3 - Managing Risks of Generative AI in Software Testing </vt:lpstr>
      <vt:lpstr>Chapter 3 - Managing Risks of Generative AI in Software Testing </vt:lpstr>
      <vt:lpstr>Chapter 3 - Managing Risks of Generative AI in Software Testing </vt:lpstr>
      <vt:lpstr>Chapter 3 - Managing Risks of Generative AI in Software Testing </vt:lpstr>
      <vt:lpstr>Chapter 3 - Managing Risks of Generative AI in Software Testing </vt:lpstr>
      <vt:lpstr>Chapter 3 - Managing Risks of Generative AI in Software Testing </vt:lpstr>
      <vt:lpstr>Chapter 3 - Managing Risks of Generative AI in Software Testing </vt:lpstr>
      <vt:lpstr>Chapter 3 - Managing Risks of Generative AI in Software Testing </vt:lpstr>
      <vt:lpstr>Chapter 3 - Managing Risks of Generative AI in Software Testing </vt:lpstr>
      <vt:lpstr>Chapter 3 - Managing Risks of Generative AI in Software Testing </vt:lpstr>
      <vt:lpstr>Chapter 3 - Managing Risks of Generative AI in Software Testing </vt:lpstr>
      <vt:lpstr>Chapter 3 - Managing Risks of Generative AI in Software Testing </vt:lpstr>
      <vt:lpstr>Chapter 3 - Managing Risks of Generative AI in Software Testing </vt:lpstr>
      <vt:lpstr>Chapter 3 - Managing Risks of Generative AI in Software Testing </vt:lpstr>
      <vt:lpstr>Chapter 3 - Managing Risks of Generative AI in Software Testing </vt:lpstr>
      <vt:lpstr>Chapter 3 - Managing Risks of Generative AI in Software Testing </vt:lpstr>
      <vt:lpstr>Chapter 3 - Managing Risks of Generative AI in Software Testing </vt:lpstr>
      <vt:lpstr>Chapter 3 - Managing Risks of Generative AI in Software Testing </vt:lpstr>
      <vt:lpstr>Chapter 3 - Managing Risks of Generative AI in Software Testing </vt:lpstr>
      <vt:lpstr>Chapter 3 - Managing Risks of Generative AI in Software Testing </vt:lpstr>
      <vt:lpstr>Chapter 3 - Managing Risks of Generative AI in Software Testing </vt:lpstr>
      <vt:lpstr>Chapter 3 - Managing Risks of Generative AI in Software Testing </vt:lpstr>
      <vt:lpstr>Chapter 3 - Managing Risks of Generative AI in Software Testing </vt:lpstr>
      <vt:lpstr>Chapter 3 - Managing Risks of Generative AI in Software Testing </vt:lpstr>
      <vt:lpstr>Chapter 3 - Managing Risks of Generative AI in Software Testing </vt:lpstr>
      <vt:lpstr>Chapter 3 - Managing Risks of Generative AI in Software Testing </vt:lpstr>
      <vt:lpstr>Chapter 3 - Managing Risks of Generative AI in Software Testing </vt:lpstr>
      <vt:lpstr>Chapter 3 - Managing Risks of Generative AI in Software Testing </vt:lpstr>
      <vt:lpstr>Chapter 3 - Managing Risks of Generative AI in Software Testing </vt:lpstr>
      <vt:lpstr>Chapter 3 - Managing Risks of Generative AI in Software Testing </vt:lpstr>
      <vt:lpstr>Chapter 3 - Managing Risks of Generative AI in Software Testing </vt:lpstr>
      <vt:lpstr>Chapter 3 - Managing Risks of Generative AI in Software Testing </vt:lpstr>
      <vt:lpstr>Chapter 3 - Managing Risks of Generative AI in Software Testing </vt:lpstr>
      <vt:lpstr>Chapter 3 - Managing Risks of Generative AI in Software Testing </vt:lpstr>
      <vt:lpstr>Chapter 3 - Managing Risks of Generative AI in Software Testing </vt:lpstr>
      <vt:lpstr>   Thank You - We are done with Chapter3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Anurag Patil</dc:creator>
  <cp:lastModifiedBy>Anurag Patil</cp:lastModifiedBy>
  <cp:revision>334</cp:revision>
  <dcterms:created xsi:type="dcterms:W3CDTF">2026-03-12T15:31:59Z</dcterms:created>
  <dcterms:modified xsi:type="dcterms:W3CDTF">2026-03-26T15:08:58Z</dcterms:modified>
</cp:coreProperties>
</file>